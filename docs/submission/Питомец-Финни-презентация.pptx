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4.xml" ContentType="application/vnd.openxmlformats-officedocument.presentationml.slide+xml"/>
  <Override PartName="/ppt/slides/slide29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365" r:id="rId8"/>
    <p:sldId id="366" r:id="rId9"/>
    <p:sldId id="374" r:id="rId18"/>
    <p:sldId id="373" r:id="rId15"/>
    <p:sldId id="260" r:id="rId19"/>
    <p:sldId id="262" r:id="rId21"/>
    <p:sldId id="272" r:id="rId30"/>
    <p:sldId id="268" r:id="rId25"/>
    <p:sldId id="371" r:id="rId17"/>
    <p:sldId id="364" r:id="rId11"/>
    <p:sldId id="261" r:id="rId20"/>
    <p:sldId id="369" r:id="rId13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>
            <p14:sldId id="333"/>
            <p14:sldId id="326"/>
            <p14:sldId id="327"/>
            <p14:sldId id="367"/>
            <p14:sldId id="325"/>
            <p14:sldId id="355"/>
          </p14:sldIdLst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69"/>
            <p14:sldId id="372"/>
            <p14:sldId id="373"/>
            <p14:sldId id="370"/>
            <p14:sldId id="371"/>
            <p14:sldId id="374"/>
            <p14:sldId id="260"/>
            <p14:sldId id="261"/>
            <p14:sldId id="262"/>
            <p14:sldId id="263"/>
            <p14:sldId id="266"/>
            <p14:sldId id="264"/>
            <p14:sldId id="268"/>
            <p14:sldId id="267"/>
            <p14:sldId id="269"/>
            <p14:sldId id="270"/>
            <p14:sldId id="271"/>
            <p14:sldId id="272"/>
          </p14:sldIdLst>
        </p14:section>
        <p14:section name="Материалы" id="{0F84D0DE-CEB1-417E-B269-8B3EB04B5FA6}">
          <p14:sldIdLst>
            <p14:sldId id="338"/>
            <p14:sldId id="368"/>
            <p14:sldId id="341"/>
            <p14:sldId id="342"/>
            <p14:sldId id="343"/>
            <p14:sldId id="344"/>
            <p14:sldId id="346"/>
            <p14:sldId id="357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 autoAdjust="0"/>
    <p:restoredTop sz="95839"/>
  </p:normalViewPr>
  <p:slideViewPr>
    <p:cSldViewPr snapToGrid="0" showGuides="1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1" Type="http://schemas.openxmlformats.org/officeDocument/2006/relationships/slide" Target="slides/slide10.xml"/><Relationship Id="rId13" Type="http://schemas.openxmlformats.org/officeDocument/2006/relationships/slide" Target="slides/slide12.xml"/><Relationship Id="rId15" Type="http://schemas.openxmlformats.org/officeDocument/2006/relationships/slide" Target="slides/slide14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5" Type="http://schemas.openxmlformats.org/officeDocument/2006/relationships/slide" Target="slides/slide24.xml"/><Relationship Id="rId30" Type="http://schemas.openxmlformats.org/officeDocument/2006/relationships/slide" Target="slides/slide29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847920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14.09.2026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14.09.2026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14.09.2026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14.09.2026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82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1.png"/><Relationship Id="rId3" Type="http://schemas.openxmlformats.org/officeDocument/2006/relationships/image" Target="../media/image33.png"/><Relationship Id="rId4" Type="http://schemas.openxmlformats.org/officeDocument/2006/relationships/image" Target="../media/image827.jpg"/><Relationship Id="rId5" Type="http://schemas.openxmlformats.org/officeDocument/2006/relationships/image" Target="../media/image828.jpg"/><Relationship Id="rId6" Type="http://schemas.openxmlformats.org/officeDocument/2006/relationships/image" Target="../media/image826.jpg"/><Relationship Id="rId7" Type="http://schemas.openxmlformats.org/officeDocument/2006/relationships/image" Target="../media/image829.jpg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endParaRPr lang="ru-RU" sz="4800" dirty="0"/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F88AFFF3-DF8C-2AA0-1E6F-AEE5FC354BA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5186" y="329801"/>
            <a:ext cx="5193299" cy="1082589"/>
          </a:xfrm>
        </p:spPr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/>
          <a:lstStyle/>
          <a:p>
            <a:pPr indent="268288"/>
            <a:endParaRPr lang="ru-RU" dirty="0"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ontserrat"/>
              </a:rPr>
              <a:t>ПИТОМЕЦ ФИННИ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ontserrat"/>
              </a:rPr>
              <a:t>Android-игра по финансовой грамотности для детей 7–11 лет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ontserrat"/>
              </a:rPr>
              <a:t>Задача Департамента финансов города Москвы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ontserrat"/>
              </a:rPr>
              <a:t>Конкурс «Лидеры цифровой трансформации 2026»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ontserrat"/>
              </a:rPr>
              <a:t>Версия 1.0.0 · 29.09.2026</a:t>
            </a: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Бюджет — не урок, а забота о питомце: каждый мешочек связан со своим показателем, ошибка — сюжет, а не проигрыш. Работает без интернета, денег и персональных данных.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Капитан: [ФИО, специальность]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Кол-во участников: [N] человек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Разработка с AI-агентами (Claude Code, Codex)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Город и регион: [город]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r>
              <a:rPr sz="3200" b="1">
                <a:solidFill>
                  <a:srgbClr val="310F53"/>
                </a:solidFill>
              </a:rPr>
              <a:t>Питомец Финни</a:t>
            </a:r>
            <a:endParaRPr lang="ru-RU" sz="2400" dirty="0">
              <a:solidFill>
                <a:schemeClr val="accent5"/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Ребёнок каждую неделю раскладывает 300 дзынек по трём мешочкам — «Нужное», «Хочу», «Копилка» — и видит, как его решения меняют состояние и рост питомца Дзыня.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8</a:t>
            </a:fld>
            <a:endParaRPr lang="ru-RU" sz="1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512064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r>
              <a:t>Ограничения и план развития</a:t>
            </a:r>
            <a:endParaRPr lang="ru-RU" dirty="0">
              <a:latin typeface="+mn-lt"/>
            </a:endParaRP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Цели идут по порядку; покупки хранятся суммами по мешочкам; вместо иллюстраций товаров — значок мешочка; нет звуков.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Ограничения версии 1.0.0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Режим 12–17 лет, больше заданий про мошенников, планшеты, публикация в RuStore.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Развитие</a:t>
            </a:r>
            <a:br>
              <a:rPr lang="ru-RU" b="1" dirty="0">
                <a:solidFill>
                  <a:schemeClr val="accent5"/>
                </a:solidFill>
              </a:rPr>
            </a:b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Выбор своей цели, иллюстрации товаров, анимации и звуки, «Книга тёплых дел», стикеры-достижения.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Ближайший план</a:t>
            </a:r>
            <a:br>
              <a:rPr lang="ru-RU" b="1" dirty="0">
                <a:solidFill>
                  <a:schemeClr val="accent5"/>
                </a:solidFill>
              </a:rPr>
            </a:b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1B6129-4E5A-20E2-763B-F5010C611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8974761F-D4F8-560C-B069-01DF6B0C0103}"/>
              </a:ext>
            </a:extLst>
          </p:cNvPr>
          <p:cNvSpPr/>
          <p:nvPr/>
        </p:nvSpPr>
        <p:spPr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9" name="Объект 28">
            <a:extLst>
              <a:ext uri="{FF2B5EF4-FFF2-40B4-BE49-F238E27FC236}">
                <a16:creationId xmlns:a16="http://schemas.microsoft.com/office/drawing/2014/main" id="{02AA36D4-0DFA-1A2E-6B29-8BA1BF5F9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133" y="1263123"/>
            <a:ext cx="5574868" cy="4937652"/>
          </a:xfrm>
        </p:spPr>
        <p:txBody>
          <a:bodyPr/>
          <a:lstStyle/>
          <a:p>
            <a:r>
              <a:rPr sz="1800">
                <a:solidFill>
                  <a:srgbClr val="1C1D22"/>
                </a:solidFill>
              </a:rPr>
              <a:t>Питомец Финни — деньги без занудства и без стыда.</a:t>
            </a:r>
            <a:endParaRPr lang="ru-RU" dirty="0">
              <a:solidFill>
                <a:schemeClr val="tx1"/>
              </a:solidFill>
            </a:endParaRPr>
          </a:p>
          <a:p>
            <a:r>
              <a:rPr sz="1800">
                <a:solidFill>
                  <a:srgbClr val="1C1D22"/>
                </a:solidFill>
              </a:rPr>
              <a:t>Каждая неделя — план, решения, итоги и рост питомца.</a:t>
            </a:r>
            <a:endParaRPr lang="ru-RU" dirty="0">
              <a:solidFill>
                <a:schemeClr val="tx1"/>
              </a:solidFill>
            </a:endParaRPr>
          </a:p>
          <a:p>
            <a:r>
              <a:rPr sz="1800">
                <a:solidFill>
                  <a:srgbClr val="1C1D22"/>
                </a:solidFill>
              </a:rPr>
              <a:t>[ФИО, контакты]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4CAD271A-25D6-5986-96AF-8705ED30C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28" name="Заголовок 27">
            <a:extLst>
              <a:ext uri="{FF2B5EF4-FFF2-40B4-BE49-F238E27FC236}">
                <a16:creationId xmlns:a16="http://schemas.microsoft.com/office/drawing/2014/main" id="{EA3A5BFD-C872-ACEC-AC6D-6D57CA434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44" y="395288"/>
            <a:ext cx="5574868" cy="425729"/>
          </a:xfrm>
        </p:spPr>
        <p:txBody>
          <a:bodyPr/>
          <a:lstStyle/>
          <a:p>
            <a:r>
              <a:rPr>
                <a:solidFill>
                  <a:srgbClr val="310F53"/>
                </a:solidFill>
              </a:rPr>
              <a:t>Спасибо!</a:t>
            </a:r>
            <a:endParaRPr lang="ru-RU" sz="20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0715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D181C43B-81A7-CE1F-8FD8-59408853402A}"/>
              </a:ext>
            </a:extLst>
          </p:cNvPr>
          <p:cNvSpPr/>
          <p:nvPr/>
        </p:nvSpPr>
        <p:spPr>
          <a:xfrm>
            <a:off x="346075" y="266006"/>
            <a:ext cx="5354638" cy="6331643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1A398F8-7100-0AC0-7CC3-53622EA34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14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8E8540A-FBD5-3747-09FA-CD79C4EC2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040" y="496888"/>
            <a:ext cx="4781233" cy="415925"/>
          </a:xfrm>
        </p:spPr>
        <p:txBody>
          <a:bodyPr/>
          <a:lstStyle/>
          <a:p>
            <a:r>
              <a:rPr>
                <a:solidFill>
                  <a:srgbClr val="310F53"/>
                </a:solidFill>
              </a:rPr>
              <a:t>Почему механика питомца учит</a:t>
            </a:r>
            <a:endParaRPr lang="ru-RU" sz="2000" dirty="0">
              <a:solidFill>
                <a:schemeClr val="accent5"/>
              </a:solidFill>
            </a:endParaRPr>
          </a:p>
        </p:txBody>
      </p:sp>
      <p:pic>
        <p:nvPicPr>
          <p:cNvPr id="4" name="Рисунок 3" descr="11_feedback.png.jp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24934" b="24934"/>
          <a:stretch>
            <a:fillRect/>
          </a:stretch>
        </p:blipFill>
        <p:spPr/>
      </p:pic>
      <p:sp>
        <p:nvSpPr>
          <p:cNvPr id="7" name="Текст 6">
            <a:extLst>
              <a:ext uri="{FF2B5EF4-FFF2-40B4-BE49-F238E27FC236}">
                <a16:creationId xmlns:a16="http://schemas.microsoft.com/office/drawing/2014/main" id="{953FFDF6-D432-8336-B879-D98A3341FC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5433" y="1143695"/>
            <a:ext cx="4807840" cy="4717356"/>
          </a:xfrm>
        </p:spPr>
        <p:txBody>
          <a:bodyPr/>
          <a:lstStyle/>
          <a:p>
            <a:r>
              <a:rPr sz="1500">
                <a:solidFill>
                  <a:srgbClr val="1C1D22"/>
                </a:solidFill>
              </a:rPr>
              <a:t>Три мешочка = три показателя: Нужное → Заряд, Хочу → Вайб, Копилка → Спокойствие. Связь решения и состояния видна сразу.</a:t>
            </a:r>
            <a:endParaRPr lang="ru-RU" dirty="0">
              <a:solidFill>
                <a:schemeClr val="tx1"/>
              </a:solidFill>
            </a:endParaRPr>
          </a:p>
          <a:p>
            <a:r>
              <a:rPr sz="1500">
                <a:solidFill>
                  <a:srgbClr val="1C1D22"/>
                </a:solidFill>
              </a:rPr>
              <a:t>Рост зависит от недели решений: план, закрытое Нужное, отложенное, задание. Опыт не отнимается.</a:t>
            </a:r>
            <a:endParaRPr lang="ru-RU" dirty="0">
              <a:solidFill>
                <a:schemeClr val="tx1"/>
              </a:solidFill>
            </a:endParaRPr>
          </a:p>
          <a:p>
            <a:r>
              <a:rPr sz="1500">
                <a:solidFill>
                  <a:srgbClr val="1C1D22"/>
                </a:solidFill>
              </a:rPr>
              <a:t>Накопленное становится вещами в уголке питомца — цель ощутима.</a:t>
            </a:r>
            <a:endParaRPr lang="ru-RU" dirty="0">
              <a:solidFill>
                <a:schemeClr val="tx1"/>
              </a:solidFill>
            </a:endParaRPr>
          </a:p>
          <a:p>
            <a:r>
              <a:rPr sz="1500">
                <a:solidFill>
                  <a:srgbClr val="1C1D22"/>
                </a:solidFill>
              </a:rPr>
              <a:t>Ошибка — сюжет: «Не хватает 40 дзынек» и три выхода вместо «нельзя».</a:t>
            </a:r>
            <a:endParaRPr lang="ru-RU" dirty="0">
              <a:solidFill>
                <a:schemeClr val="tx1"/>
              </a:solidFill>
            </a:endParaRPr>
          </a:p>
          <a:p>
            <a:r>
              <a:rPr sz="1500">
                <a:solidFill>
                  <a:srgbClr val="1C1D22"/>
                </a:solidFill>
              </a:rPr>
              <a:t>Два голоса: питомец говорит о чувствах, приложение объясняет одной фразой.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17167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10896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8EE648F1-70BD-354A-6DAE-07E6E3044DC8}"/>
              </a:ext>
            </a:extLst>
          </p:cNvPr>
          <p:cNvSpPr/>
          <p:nvPr/>
        </p:nvSpPr>
        <p:spPr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5" name="Скругленный прямоугольник 24">
            <a:extLst>
              <a:ext uri="{FF2B5EF4-FFF2-40B4-BE49-F238E27FC236}">
                <a16:creationId xmlns:a16="http://schemas.microsoft.com/office/drawing/2014/main" id="{9B320FD4-0F75-8FB9-F799-AFA2CA575375}"/>
              </a:ext>
            </a:extLst>
          </p:cNvPr>
          <p:cNvSpPr/>
          <p:nvPr/>
        </p:nvSpPr>
        <p:spPr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0B115FEC-D79C-233C-419E-0B0BE3EB4A0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20913" y="2339783"/>
            <a:ext cx="2284071" cy="423628"/>
          </a:xfrm>
        </p:spPr>
        <p:txBody>
          <a:bodyPr/>
          <a:lstStyle/>
          <a:p>
            <a:r>
              <a:rPr sz="1600" b="1">
                <a:solidFill>
                  <a:srgbClr val="310F53"/>
                </a:solidFill>
              </a:rPr>
              <a:t>Шаги сценария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20913" y="3128740"/>
            <a:ext cx="2284071" cy="2797928"/>
          </a:xfrm>
        </p:spPr>
        <p:txBody>
          <a:bodyPr/>
          <a:lstStyle/>
          <a:p>
            <a:r>
              <a:rPr sz="1300">
                <a:solidFill>
                  <a:srgbClr val="1C1D22"/>
                </a:solidFill>
              </a:rPr>
              <a:t>Приложение А пройдено e2e-тестом и вручную на эмуляторе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670742-0112-ABA9-7C47-FE6D64A30A9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457903" y="2373557"/>
            <a:ext cx="2337416" cy="403756"/>
          </a:xfrm>
        </p:spPr>
        <p:txBody>
          <a:bodyPr/>
          <a:lstStyle/>
          <a:p>
            <a:r>
              <a:rPr sz="1600" b="1">
                <a:solidFill>
                  <a:srgbClr val="310F53"/>
                </a:solidFill>
              </a:rPr>
              <a:t>Покрытие логики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A5C658C-1FD4-CD12-D517-15F6F46CFE3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457903" y="3134070"/>
            <a:ext cx="2337416" cy="2797928"/>
          </a:xfrm>
        </p:spPr>
        <p:txBody>
          <a:bodyPr/>
          <a:lstStyle/>
          <a:p>
            <a:r>
              <a:rPr sz="1300">
                <a:solidFill>
                  <a:srgbClr val="1C1D22"/>
                </a:solidFill>
              </a:rPr>
              <a:t>ViewModel 97%, игровая экономика и данные — почти полностью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FAFE374-953E-0336-76DE-D143BB9C64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456363" y="2379657"/>
            <a:ext cx="2268537" cy="403913"/>
          </a:xfrm>
        </p:spPr>
        <p:txBody>
          <a:bodyPr/>
          <a:lstStyle/>
          <a:p>
            <a:r>
              <a:rPr sz="1600" b="1">
                <a:solidFill>
                  <a:srgbClr val="310F53"/>
                </a:solidFill>
              </a:rPr>
              <a:t>Холодный старт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456363" y="3136604"/>
            <a:ext cx="2268537" cy="2797928"/>
          </a:xfrm>
        </p:spPr>
        <p:txBody>
          <a:bodyPr/>
          <a:lstStyle/>
          <a:p>
            <a:r>
              <a:rPr sz="1300">
                <a:solidFill>
                  <a:srgbClr val="1C1D22"/>
                </a:solidFill>
              </a:rPr>
              <a:t>Релизная сборка; требование ТЗ — до 5 секунд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8E32729-5FCC-21EA-16FD-CEF0C8FAABA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407534" y="2339783"/>
            <a:ext cx="2263553" cy="423628"/>
          </a:xfrm>
        </p:spPr>
        <p:txBody>
          <a:bodyPr/>
          <a:lstStyle/>
          <a:p>
            <a:r>
              <a:rPr sz="1600" b="1">
                <a:solidFill>
                  <a:srgbClr val="310F53"/>
                </a:solidFill>
              </a:rPr>
              <a:t>Доступность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6A6BF68-6470-CE0D-3E5F-0B15EDDCA14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407534" y="3128739"/>
            <a:ext cx="2263553" cy="2797928"/>
          </a:xfrm>
        </p:spPr>
        <p:txBody>
          <a:bodyPr/>
          <a:lstStyle/>
          <a:p>
            <a:r>
              <a:rPr sz="1300">
                <a:solidFill>
                  <a:srgbClr val="1C1D22"/>
                </a:solidFill>
              </a:rPr>
              <a:t>Узкий экран, шрифт ×1,3, крупный шрифт, спокойный режим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Тестирование</a:t>
            </a:r>
            <a:endParaRPr lang="ru-RU" dirty="0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20913" y="1772416"/>
            <a:ext cx="2194560" cy="423628"/>
          </a:xfrm>
        </p:spPr>
        <p:txBody>
          <a:bodyPr/>
          <a:lstStyle/>
          <a:p>
            <a:r>
              <a:rPr sz="2600" b="1">
                <a:solidFill>
                  <a:srgbClr val="FF0053"/>
                </a:solidFill>
              </a:rPr>
              <a:t>12/12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DE8FDF14-E7C8-6EE3-EBD8-B5DDE4F7F60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449944" y="1766200"/>
            <a:ext cx="2194560" cy="403756"/>
          </a:xfrm>
        </p:spPr>
        <p:txBody>
          <a:bodyPr/>
          <a:lstStyle/>
          <a:p>
            <a:r>
              <a:rPr sz="2600" b="1">
                <a:solidFill>
                  <a:srgbClr val="FF0053"/>
                </a:solidFill>
              </a:rPr>
              <a:t>97%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456363" y="1766043"/>
            <a:ext cx="2194560" cy="403913"/>
          </a:xfrm>
        </p:spPr>
        <p:txBody>
          <a:bodyPr/>
          <a:lstStyle/>
          <a:p>
            <a:r>
              <a:rPr sz="2600" b="1">
                <a:solidFill>
                  <a:srgbClr val="FF0053"/>
                </a:solidFill>
              </a:rPr>
              <a:t>0,6 с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59F6129C-95BA-0836-7395-00F4830237D5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9407534" y="1772416"/>
            <a:ext cx="2194560" cy="423628"/>
          </a:xfrm>
        </p:spPr>
        <p:txBody>
          <a:bodyPr/>
          <a:lstStyle/>
          <a:p>
            <a:r>
              <a:rPr sz="2600" b="1">
                <a:solidFill>
                  <a:srgbClr val="FF0053"/>
                </a:solidFill>
              </a:rPr>
              <a:t>360dp</a:t>
            </a:r>
            <a:endParaRPr lang="ru-RU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9114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62BB59-6E27-43D2-BF3A-1879F75EA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8587F3BD-E802-93BD-3D32-FDF202FEA64D}"/>
              </a:ext>
            </a:extLst>
          </p:cNvPr>
          <p:cNvSpPr/>
          <p:nvPr/>
        </p:nvSpPr>
        <p:spPr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B6016C66-2F45-3093-7675-966377141ADD}"/>
              </a:ext>
            </a:extLst>
          </p:cNvPr>
          <p:cNvSpPr/>
          <p:nvPr/>
        </p:nvSpPr>
        <p:spPr>
          <a:xfrm>
            <a:off x="836595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A68CA47-326C-A498-C456-623193EF0FFA}"/>
              </a:ext>
            </a:extLst>
          </p:cNvPr>
          <p:cNvSpPr/>
          <p:nvPr/>
        </p:nvSpPr>
        <p:spPr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E769D24B-D4D8-3322-BCAB-77138E0270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17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5DF4935E-10E9-5CA8-85EF-08A77383EBE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80565" y="2493074"/>
            <a:ext cx="2965634" cy="423628"/>
          </a:xfrm>
        </p:spPr>
        <p:txBody>
          <a:bodyPr/>
          <a:lstStyle/>
          <a:p>
            <a:r>
              <a:rPr sz="1800" b="1">
                <a:solidFill>
                  <a:srgbClr val="310F53"/>
                </a:solidFill>
              </a:rPr>
              <a:t>Проблема</a:t>
            </a:r>
            <a:endParaRPr lang="ru-RU" sz="1800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63156EE-B99A-3E1C-1DFF-C779A3E1B5D8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80565" y="3128740"/>
            <a:ext cx="2965633" cy="2797928"/>
          </a:xfrm>
        </p:spPr>
        <p:txBody>
          <a:bodyPr/>
          <a:lstStyle/>
          <a:p>
            <a:r>
              <a:rPr sz="1400">
                <a:solidFill>
                  <a:srgbClr val="1C1D22"/>
                </a:solidFill>
              </a:rPr>
              <a:t>Карманные деньги есть, навыка нет: всё уходит на «хочу», копить скучно, реклама и мошенники давят срочностью. Уроки о деньгах не дают практики.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5C5649E-E208-17C2-F091-5482CC2FD51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623178" y="2493074"/>
            <a:ext cx="3034896" cy="403756"/>
          </a:xfrm>
        </p:spPr>
        <p:txBody>
          <a:bodyPr/>
          <a:lstStyle/>
          <a:p>
            <a:r>
              <a:rPr sz="1800" b="1">
                <a:solidFill>
                  <a:srgbClr val="310F53"/>
                </a:solidFill>
              </a:rPr>
              <a:t>Аудитория</a:t>
            </a:r>
            <a:endParaRPr lang="ru-RU" sz="1800" dirty="0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B6AED36-1714-5896-5E97-ECA75EAA24C5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623178" y="3128740"/>
            <a:ext cx="3034896" cy="2797928"/>
          </a:xfrm>
        </p:spPr>
        <p:txBody>
          <a:bodyPr/>
          <a:lstStyle/>
          <a:p>
            <a:r>
              <a:rPr sz="1400">
                <a:solidFill>
                  <a:srgbClr val="1C1D22"/>
                </a:solidFill>
              </a:rPr>
              <a:t>Дети 7–11 лет — играют сами, без регистрации. Родители — видят прогресс и темы для разговора в разделе для взрослого.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B578740-7F02-5606-0701-43CBE42E617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547959" y="2493074"/>
            <a:ext cx="2945464" cy="403913"/>
          </a:xfrm>
        </p:spPr>
        <p:txBody>
          <a:bodyPr/>
          <a:lstStyle/>
          <a:p>
            <a:r>
              <a:rPr sz="1800" b="1">
                <a:solidFill>
                  <a:srgbClr val="310F53"/>
                </a:solidFill>
              </a:rPr>
              <a:t>Результаты по рамке</a:t>
            </a:r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143A847-7B5C-EA94-880E-65D8582653E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47959" y="3128740"/>
            <a:ext cx="2945464" cy="2797928"/>
          </a:xfrm>
        </p:spPr>
        <p:txBody>
          <a:bodyPr/>
          <a:lstStyle/>
          <a:p>
            <a:r>
              <a:rPr sz="1400">
                <a:solidFill>
                  <a:srgbClr val="1C1D22"/>
                </a:solidFill>
              </a:rPr>
              <a:t>Различать обязательные и желаемые расходы, планировать бюджет, ставить цель и считать срок, распознавать рекламу и мошенников, оценивать свои решения.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3842A3B-9EE0-965C-0EFA-22F6D78D2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6" y="335426"/>
            <a:ext cx="11331221" cy="376138"/>
          </a:xfrm>
        </p:spPr>
        <p:txBody>
          <a:bodyPr/>
          <a:lstStyle/>
          <a:p>
            <a:r>
              <a:rPr>
                <a:solidFill>
                  <a:srgbClr val="310F53"/>
                </a:solidFill>
              </a:rPr>
              <a:t>Проблема, аудитория, результаты</a:t>
            </a: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AEBED94-4F5F-339A-0CCE-082BCC33E92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80565" y="1772415"/>
            <a:ext cx="1311031" cy="601141"/>
          </a:xfrm>
        </p:spPr>
        <p:txBody>
          <a:bodyPr/>
          <a:lstStyle/>
          <a:p>
            <a:r>
              <a:rPr sz="2800" b="1">
                <a:solidFill>
                  <a:srgbClr val="FF0053"/>
                </a:solidFill>
              </a:rPr>
              <a:t>01</a:t>
            </a:r>
            <a:endParaRPr lang="ru-RU" sz="4400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01B288C6-447F-2720-CB9D-6F216BD0C554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615219" y="1766200"/>
            <a:ext cx="1311031" cy="572942"/>
          </a:xfrm>
        </p:spPr>
        <p:txBody>
          <a:bodyPr/>
          <a:lstStyle/>
          <a:p>
            <a:r>
              <a:rPr sz="2800" b="1">
                <a:solidFill>
                  <a:srgbClr val="FF0053"/>
                </a:solidFill>
              </a:rPr>
              <a:t>02</a:t>
            </a:r>
            <a:endParaRPr lang="ru-RU" sz="4400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78DB70E8-1110-C23C-1E37-53138E3F8F02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8547959" y="1766043"/>
            <a:ext cx="1311031" cy="573165"/>
          </a:xfrm>
        </p:spPr>
        <p:txBody>
          <a:bodyPr/>
          <a:lstStyle/>
          <a:p>
            <a:r>
              <a:rPr sz="2800" b="1">
                <a:solidFill>
                  <a:srgbClr val="FF0053"/>
                </a:solidFill>
              </a:rPr>
              <a:t>03</a:t>
            </a:r>
            <a:endParaRPr lang="ru-RU" sz="44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2164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5" y="324562"/>
            <a:ext cx="64008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18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Путь пользователя и игровая экономика</a:t>
            </a:r>
            <a:endParaRPr lang="ru-RU" dirty="0"/>
          </a:p>
        </p:txBody>
      </p:sp>
      <p:sp>
        <p:nvSpPr>
          <p:cNvPr id="24" name="Rounded Rectangle 23"/>
          <p:cNvSpPr/>
          <p:nvPr/>
        </p:nvSpPr>
        <p:spPr>
          <a:xfrm>
            <a:off x="457200" y="1828800"/>
            <a:ext cx="210312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F0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1965960"/>
            <a:ext cx="182879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0053"/>
                </a:solidFill>
                <a:latin typeface="Montserrat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2697480"/>
            <a:ext cx="18287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10F53"/>
                </a:solidFill>
                <a:latin typeface="Montserrat"/>
              </a:rPr>
              <a:t>Доход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3474720"/>
            <a:ext cx="182879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D22"/>
                </a:solidFill>
                <a:latin typeface="Montserrat"/>
              </a:rPr>
              <a:t>300 дзынек в неделю, награды за задания, бонус взрослого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2578608" y="3154680"/>
            <a:ext cx="146304" cy="274320"/>
          </a:xfrm>
          <a:prstGeom prst="rightArrow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743200" y="1828800"/>
            <a:ext cx="210312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F0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80360" y="1965960"/>
            <a:ext cx="182879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0053"/>
                </a:solidFill>
                <a:latin typeface="Montserrat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80360" y="2697480"/>
            <a:ext cx="18287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10F53"/>
                </a:solidFill>
                <a:latin typeface="Montserrat"/>
              </a:rPr>
              <a:t>План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80360" y="3474720"/>
            <a:ext cx="182879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D22"/>
                </a:solidFill>
                <a:latin typeface="Montserrat"/>
              </a:rPr>
              <a:t>Разложить доход по трём мешочкам строго до нуля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4864607" y="3154680"/>
            <a:ext cx="146304" cy="274320"/>
          </a:xfrm>
          <a:prstGeom prst="rightArrow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29200" y="1828800"/>
            <a:ext cx="210312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F0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66360" y="1965960"/>
            <a:ext cx="182879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0053"/>
                </a:solidFill>
                <a:latin typeface="Montserrat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66360" y="2697480"/>
            <a:ext cx="18287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10F53"/>
                </a:solidFill>
                <a:latin typeface="Montserrat"/>
              </a:rPr>
              <a:t>Решения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3474720"/>
            <a:ext cx="182879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D22"/>
                </a:solidFill>
                <a:latin typeface="Montserrat"/>
              </a:rPr>
              <a:t>Покупки, «Подожду», копилка и цели, задания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7150607" y="3154680"/>
            <a:ext cx="146304" cy="274320"/>
          </a:xfrm>
          <a:prstGeom prst="rightArrow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15200" y="1828800"/>
            <a:ext cx="210312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F0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52360" y="1965960"/>
            <a:ext cx="182879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0053"/>
                </a:solidFill>
                <a:latin typeface="Montserrat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52360" y="2697480"/>
            <a:ext cx="18287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10F53"/>
                </a:solidFill>
                <a:latin typeface="Montserrat"/>
              </a:rPr>
              <a:t>Обратная связь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52360" y="3474720"/>
            <a:ext cx="182879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D22"/>
                </a:solidFill>
                <a:latin typeface="Montserrat"/>
              </a:rPr>
              <a:t>Что изменилось → почему → что дальше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9436608" y="3154680"/>
            <a:ext cx="146304" cy="274320"/>
          </a:xfrm>
          <a:prstGeom prst="rightArrow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601200" y="1828800"/>
            <a:ext cx="210312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F0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38360" y="1965960"/>
            <a:ext cx="182879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0053"/>
                </a:solidFill>
                <a:latin typeface="Montserrat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38360" y="2697480"/>
            <a:ext cx="18287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10F53"/>
                </a:solidFill>
                <a:latin typeface="Montserrat"/>
              </a:rPr>
              <a:t>Итоги недели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38360" y="3474720"/>
            <a:ext cx="182879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D22"/>
                </a:solidFill>
                <a:latin typeface="Montserrat"/>
              </a:rPr>
              <a:t>План против факта, опыт, звёздочка, рост стадии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5029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10F53"/>
                </a:solidFill>
                <a:latin typeface="Montserrat"/>
              </a:rPr>
              <a:t>Цикл повторяется 5 недель сюжета; в демо-режиме неделя закрывается сразу. Остатки уходят в копилку — ничего не пропадает, опыт и вещи в уголке не отнимаются.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FF9BE287-CC84-BD90-E298-4EEA93BE9A7E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2EAAB83-DF67-4A10-A863-77C294117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19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849BF57-EB33-4692-98F6-8A1B9293CD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prstGeom prst="roundRect">
            <a:avLst>
              <a:gd name="adj" fmla="val 10128"/>
            </a:avLst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/>
          <a:lstStyle/>
          <a:p>
            <a:r>
              <a:rPr sz="1600">
                <a:solidFill>
                  <a:srgbClr val="1C1D22"/>
                </a:solidFill>
              </a:rPr>
              <a:t>Репозиторий: [ссылка], тег v1.0.0</a:t>
            </a:r>
            <a:endParaRPr lang="ru-RU" dirty="0">
              <a:solidFill>
                <a:schemeClr val="tx1"/>
              </a:solidFill>
            </a:endParaRPr>
          </a:p>
          <a:p>
            <a:r>
              <a:rPr sz="1600">
                <a:solidFill>
                  <a:srgbClr val="1C1D22"/>
                </a:solidFill>
              </a:rPr>
              <a:t>Сборка APK: [ссылка на app-release.apk]</a:t>
            </a:r>
            <a:endParaRPr lang="ru-RU" dirty="0">
              <a:solidFill>
                <a:schemeClr val="tx1"/>
              </a:solidFill>
            </a:endParaRPr>
          </a:p>
          <a:p>
            <a:r>
              <a:rPr sz="1600">
                <a:solidFill>
                  <a:srgbClr val="1C1D22"/>
                </a:solidFill>
              </a:rPr>
              <a:t>Документация: README и docs/submission (DOCX, PDF)</a:t>
            </a:r>
            <a:endParaRPr lang="ru-RU" dirty="0">
              <a:solidFill>
                <a:schemeClr val="tx1"/>
              </a:solidFill>
            </a:endParaRPr>
          </a:p>
          <a:p>
            <a:r>
              <a:rPr sz="1600">
                <a:solidFill>
                  <a:srgbClr val="1C1D22"/>
                </a:solidFill>
              </a:rPr>
              <a:t>Видео демонстрации: [ссылка на demo-backup.mp4]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Заголовок 13">
            <a:extLst>
              <a:ext uri="{FF2B5EF4-FFF2-40B4-BE49-F238E27FC236}">
                <a16:creationId xmlns:a16="http://schemas.microsoft.com/office/drawing/2014/main" id="{641DFED5-BDC7-0680-A1A0-F6CEB622B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2775523" cy="376138"/>
          </a:xfrm>
        </p:spPr>
        <p:txBody>
          <a:bodyPr/>
          <a:lstStyle/>
          <a:p>
            <a:r>
              <a:t>Ссылки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842681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E0C4469B-8AAE-7B13-015A-FD424E4F9A97}"/>
              </a:ext>
            </a:extLst>
          </p:cNvPr>
          <p:cNvSpPr/>
          <p:nvPr/>
        </p:nvSpPr>
        <p:spPr>
          <a:xfrm>
            <a:off x="346075" y="324562"/>
            <a:ext cx="585216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294820D9-0FE7-A2CD-6EC6-B191A0CD90DC}"/>
              </a:ext>
            </a:extLst>
          </p:cNvPr>
          <p:cNvSpPr/>
          <p:nvPr/>
        </p:nvSpPr>
        <p:spPr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7AE51F4F-C2FB-09FC-6139-35E790E33BDF}"/>
              </a:ext>
            </a:extLst>
          </p:cNvPr>
          <p:cNvSpPr/>
          <p:nvPr/>
        </p:nvSpPr>
        <p:spPr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34B52819-C376-FDAF-2B5B-09C492119CCF}"/>
              </a:ext>
            </a:extLst>
          </p:cNvPr>
          <p:cNvSpPr/>
          <p:nvPr/>
        </p:nvSpPr>
        <p:spPr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6CDADF58-3FDE-0896-F558-2E50261FFD44}"/>
              </a:ext>
            </a:extLst>
          </p:cNvPr>
          <p:cNvSpPr/>
          <p:nvPr/>
        </p:nvSpPr>
        <p:spPr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CD942BE0-7170-CE73-83AB-4505964EB89D}"/>
              </a:ext>
            </a:extLst>
          </p:cNvPr>
          <p:cNvSpPr/>
          <p:nvPr/>
        </p:nvSpPr>
        <p:spPr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BF0860DA-9B9B-19E2-49DF-A8EDAA7C2B5F}"/>
              </a:ext>
            </a:extLst>
          </p:cNvPr>
          <p:cNvSpPr/>
          <p:nvPr/>
        </p:nvSpPr>
        <p:spPr>
          <a:xfrm>
            <a:off x="346076" y="1366423"/>
            <a:ext cx="5389562" cy="4834352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3F7DC2-0D9C-407C-98AC-5F3AD231C5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887" y="1732103"/>
            <a:ext cx="4734175" cy="4139307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/>
            <a:r>
              <a:rPr sz="1400">
                <a:solidFill>
                  <a:srgbClr val="1C1D22"/>
                </a:solidFill>
              </a:rPr>
              <a:t>Знакомство и локальный профиль, питомец 3 × 3</a:t>
            </a:r>
            <a:endParaRPr lang="ru-RU" sz="3600" b="1">
              <a:solidFill>
                <a:schemeClr val="tx1"/>
              </a:solidFill>
            </a:endParaRPr>
          </a:p>
          <a:p>
            <a:pPr algn="l"/>
            <a:r>
              <a:rPr sz="1400">
                <a:solidFill>
                  <a:srgbClr val="1C1D22"/>
                </a:solidFill>
              </a:rPr>
              <a:t>Главный: баланс, копилка, цель, показатели, задание</a:t>
            </a:r>
            <a:endParaRPr lang="ru-RU" sz="3600" b="1">
              <a:solidFill>
                <a:schemeClr val="tx1"/>
              </a:solidFill>
            </a:endParaRPr>
          </a:p>
          <a:p>
            <a:pPr algn="l"/>
            <a:r>
              <a:rPr sz="1400">
                <a:solidFill>
                  <a:srgbClr val="1C1D22"/>
                </a:solidFill>
              </a:rPr>
              <a:t>План недели по трём мешочкам, план против факта</a:t>
            </a:r>
            <a:endParaRPr lang="ru-RU" sz="3600" b="1">
              <a:solidFill>
                <a:schemeClr val="tx1"/>
              </a:solidFill>
            </a:endParaRPr>
          </a:p>
          <a:p>
            <a:pPr algn="l"/>
            <a:r>
              <a:rPr sz="1400">
                <a:solidFill>
                  <a:srgbClr val="1C1D22"/>
                </a:solidFill>
              </a:rPr>
              <a:t>Магазин: 16 товаров двух типов, нехватка без минуса</a:t>
            </a:r>
            <a:endParaRPr lang="ru-RU" sz="3600" b="1">
              <a:solidFill>
                <a:schemeClr val="tx1"/>
              </a:solidFill>
            </a:endParaRPr>
          </a:p>
          <a:p>
            <a:pPr algn="l"/>
            <a:r>
              <a:rPr sz="1400">
                <a:solidFill>
                  <a:srgbClr val="1C1D22"/>
                </a:solidFill>
              </a:rPr>
              <a:t>Копилка: 4 цели, срок, снятие с превью</a:t>
            </a:r>
            <a:endParaRPr lang="ru-RU" sz="3600" b="1">
              <a:solidFill>
                <a:schemeClr val="tx1"/>
              </a:solidFill>
            </a:endParaRPr>
          </a:p>
          <a:p>
            <a:pPr algn="l"/>
            <a:r>
              <a:rPr sz="1400">
                <a:solidFill>
                  <a:srgbClr val="1C1D22"/>
                </a:solidFill>
              </a:rPr>
              <a:t>6 заданий по 3 темам, «Это развод?» про мошенников</a:t>
            </a:r>
            <a:endParaRPr lang="ru-RU" sz="3600" b="1">
              <a:solidFill>
                <a:schemeClr val="tx1"/>
              </a:solidFill>
            </a:endParaRPr>
          </a:p>
          <a:p>
            <a:pPr algn="l"/>
            <a:r>
              <a:rPr sz="1400">
                <a:solidFill>
                  <a:srgbClr val="1C1D22"/>
                </a:solidFill>
              </a:rPr>
              <a:t>Итоги недели, 3 стадии роста, словарик</a:t>
            </a:r>
            <a:endParaRPr lang="ru-RU" sz="3600" b="1">
              <a:solidFill>
                <a:schemeClr val="tx1"/>
              </a:solidFill>
            </a:endParaRPr>
          </a:p>
          <a:p>
            <a:pPr algn="l"/>
            <a:r>
              <a:rPr sz="1400">
                <a:solidFill>
                  <a:srgbClr val="1C1D22"/>
                </a:solidFill>
              </a:rPr>
              <a:t>Раздел для взрослого, сброс, демо-режим 5 недель</a:t>
            </a:r>
            <a:endParaRPr lang="ru-RU" sz="3600" b="1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A2E8600-6DC7-42A4-BAB0-32ECA492CE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72730" y="1445505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 sz="1400" b="1">
                <a:solidFill>
                  <a:srgbClr val="310F53"/>
                </a:solidFill>
              </a:rPr>
              <a:t>Нет реальных денег, платежей и внутриигровых покупок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517FCEF-DEC9-4794-B46E-21961558A7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72730" y="2472872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 sz="1400" b="1">
                <a:solidFill>
                  <a:srgbClr val="310F53"/>
                </a:solidFill>
              </a:rPr>
              <a:t>Нет рекламы, чатов и рейтингов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36B8339-2490-447D-B543-1CC15487D82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72730" y="3485922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 sz="1400" b="1">
                <a:solidFill>
                  <a:srgbClr val="310F53"/>
                </a:solidFill>
              </a:rPr>
              <a:t>Нет персональных данных и разрешений Android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240FC05B-8F07-40FA-BE0D-2235F9DDDAB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2730" y="4496593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 sz="1400" b="1">
                <a:solidFill>
                  <a:srgbClr val="310F53"/>
                </a:solidFill>
              </a:rPr>
              <a:t>Работает полностью без интернета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D049C016-4655-4C58-B392-FD255E0A76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72730" y="5516924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 sz="1400" b="1">
                <a:solidFill>
                  <a:srgbClr val="310F53"/>
                </a:solidFill>
              </a:rPr>
              <a:t>Нет проигрыша: питомец не болеет и не умирает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366E9534-A66A-4DF6-B8DA-1E6D8E4438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33200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B16985B0-3ABD-CE1B-A2A5-B042F5A01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Обязательные функции и границы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98951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1DEBD50A-B557-2D80-C143-F7BE92E03371}"/>
              </a:ext>
            </a:extLst>
          </p:cNvPr>
          <p:cNvSpPr/>
          <p:nvPr/>
        </p:nvSpPr>
        <p:spPr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557A70F9-C0E6-46AE-6A65-5343A45A5968}"/>
              </a:ext>
            </a:extLst>
          </p:cNvPr>
          <p:cNvSpPr/>
          <p:nvPr/>
        </p:nvSpPr>
        <p:spPr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81CF4124-313D-FA73-2EF6-2D9FE2D71D5D}"/>
              </a:ext>
            </a:extLst>
          </p:cNvPr>
          <p:cNvSpPr/>
          <p:nvPr/>
        </p:nvSpPr>
        <p:spPr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836BC072-4CEB-1CD2-52FE-02A6094518FB}"/>
              </a:ext>
            </a:extLst>
          </p:cNvPr>
          <p:cNvSpPr/>
          <p:nvPr/>
        </p:nvSpPr>
        <p:spPr>
          <a:xfrm>
            <a:off x="346075" y="324562"/>
            <a:ext cx="585216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10651A50-CFFD-C440-F1DF-F703C14C9202}"/>
              </a:ext>
            </a:extLst>
          </p:cNvPr>
          <p:cNvSpPr/>
          <p:nvPr/>
        </p:nvSpPr>
        <p:spPr>
          <a:xfrm>
            <a:off x="5340262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2E5EC51C-6A42-A386-6730-F35F8E0CF56A}"/>
              </a:ext>
            </a:extLst>
          </p:cNvPr>
          <p:cNvSpPr/>
          <p:nvPr/>
        </p:nvSpPr>
        <p:spPr>
          <a:xfrm>
            <a:off x="1541018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C532ED-B059-4872-93FE-25291054D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24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8DB357-2788-42D4-93E8-1AB12DB2EE4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6304" y="328681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sz="1800" b="1">
                <a:solidFill>
                  <a:srgbClr val="310F53"/>
                </a:solidFill>
              </a:rPr>
              <a:t>Архитектура</a:t>
            </a:r>
            <a:endParaRPr lang="ru-RU" dirty="0">
              <a:solidFill>
                <a:schemeClr val="tx1"/>
              </a:solidFill>
            </a:endParaRPr>
          </a:p>
          <a:p>
            <a:r>
              <a:rPr sz="1400">
                <a:solidFill>
                  <a:srgbClr val="1C1D22"/>
                </a:solidFill>
              </a:rPr>
              <a:t>Kotlin, Jetpack Compose, Hilt, Navigation. 10 фич × domain / data / ui; игровые правила — чистый Kotlin, готов к Kotlin Multiplatform.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869BDE-34CE-47D5-B162-82211244B7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9890" y="326454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sz="1800" b="1">
                <a:solidFill>
                  <a:srgbClr val="310F53"/>
                </a:solidFill>
              </a:rPr>
              <a:t>Данные</a:t>
            </a:r>
            <a:endParaRPr lang="ru-RU" dirty="0">
              <a:solidFill>
                <a:schemeClr val="tx1"/>
              </a:solidFill>
            </a:endParaRPr>
          </a:p>
          <a:p>
            <a:r>
              <a:rPr sz="1400">
                <a:solidFill>
                  <a:srgbClr val="1C1D22"/>
                </a:solidFill>
              </a:rPr>
              <a:t>Профиль — один JSON в DataStore на устройстве. Сервера и интернета нет, повреждённый файл не ломает игру.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BF91A14-DF82-4BD9-95C1-96973CFF3F6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05081" y="3277471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sz="1800" b="1">
                <a:solidFill>
                  <a:srgbClr val="310F53"/>
                </a:solidFill>
              </a:rPr>
              <a:t>Контент</a:t>
            </a:r>
            <a:endParaRPr lang="ru-RU">
              <a:solidFill>
                <a:schemeClr val="tx1"/>
              </a:solidFill>
            </a:endParaRPr>
          </a:p>
          <a:p>
            <a:r>
              <a:rPr sz="1400">
                <a:solidFill>
                  <a:srgbClr val="1C1D22"/>
                </a:solidFill>
              </a:rPr>
              <a:t>Товары, цели, задания, сюжет, словарик, статьи — JSON в assets. Новое задание — новая запись без правки кода.</a:t>
            </a:r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58" name="Google Shape;2799;p94">
            <a:extLst>
              <a:ext uri="{FF2B5EF4-FFF2-40B4-BE49-F238E27FC236}">
                <a16:creationId xmlns:a16="http://schemas.microsoft.com/office/drawing/2014/main" id="{567FA9A9-3099-4088-80A0-9601CEE4D42E}"/>
              </a:ext>
            </a:extLst>
          </p:cNvPr>
          <p:cNvCxnSpPr>
            <a:cxnSpLocks/>
          </p:cNvCxnSpPr>
          <p:nvPr/>
        </p:nvCxnSpPr>
        <p:spPr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oogle Shape;2829;p94">
            <a:extLst>
              <a:ext uri="{FF2B5EF4-FFF2-40B4-BE49-F238E27FC236}">
                <a16:creationId xmlns:a16="http://schemas.microsoft.com/office/drawing/2014/main" id="{4C77747E-B18D-4A2B-BA4F-6DC51DACDF20}"/>
              </a:ext>
            </a:extLst>
          </p:cNvPr>
          <p:cNvGrpSpPr/>
          <p:nvPr/>
        </p:nvGrpSpPr>
        <p:grpSpPr>
          <a:xfrm>
            <a:off x="1899087" y="1753233"/>
            <a:ext cx="738531" cy="687909"/>
            <a:chOff x="3385734" y="2233242"/>
            <a:chExt cx="340504" cy="319542"/>
          </a:xfrm>
        </p:grpSpPr>
        <p:sp>
          <p:nvSpPr>
            <p:cNvPr id="63" name="Google Shape;2830;p94">
              <a:extLst>
                <a:ext uri="{FF2B5EF4-FFF2-40B4-BE49-F238E27FC236}">
                  <a16:creationId xmlns:a16="http://schemas.microsoft.com/office/drawing/2014/main" id="{F538E3A9-5C7B-406B-80D1-B9EEBFF33FF0}"/>
                </a:ext>
              </a:extLst>
            </p:cNvPr>
            <p:cNvSpPr/>
            <p:nvPr/>
          </p:nvSpPr>
          <p:spPr>
            <a:xfrm>
              <a:off x="3385734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" name="Google Shape;2831;p94">
              <a:extLst>
                <a:ext uri="{FF2B5EF4-FFF2-40B4-BE49-F238E27FC236}">
                  <a16:creationId xmlns:a16="http://schemas.microsoft.com/office/drawing/2014/main" id="{6A25AEAC-89F0-49CB-B7BE-42F11987AD9D}"/>
                </a:ext>
              </a:extLst>
            </p:cNvPr>
            <p:cNvSpPr/>
            <p:nvPr/>
          </p:nvSpPr>
          <p:spPr>
            <a:xfrm>
              <a:off x="3420989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" name="Google Shape;2832;p94">
              <a:extLst>
                <a:ext uri="{FF2B5EF4-FFF2-40B4-BE49-F238E27FC236}">
                  <a16:creationId xmlns:a16="http://schemas.microsoft.com/office/drawing/2014/main" id="{3504136F-174E-465D-95D8-13EE2C34474F}"/>
                </a:ext>
              </a:extLst>
            </p:cNvPr>
            <p:cNvSpPr/>
            <p:nvPr/>
          </p:nvSpPr>
          <p:spPr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2833;p94">
              <a:extLst>
                <a:ext uri="{FF2B5EF4-FFF2-40B4-BE49-F238E27FC236}">
                  <a16:creationId xmlns:a16="http://schemas.microsoft.com/office/drawing/2014/main" id="{1A03FD0C-7738-4A35-B44B-4D9C0E75CBAB}"/>
                </a:ext>
              </a:extLst>
            </p:cNvPr>
            <p:cNvSpPr/>
            <p:nvPr/>
          </p:nvSpPr>
          <p:spPr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2834;p94">
              <a:extLst>
                <a:ext uri="{FF2B5EF4-FFF2-40B4-BE49-F238E27FC236}">
                  <a16:creationId xmlns:a16="http://schemas.microsoft.com/office/drawing/2014/main" id="{66009B1B-C6FD-49B8-8022-7BA95FBA9273}"/>
                </a:ext>
              </a:extLst>
            </p:cNvPr>
            <p:cNvSpPr/>
            <p:nvPr/>
          </p:nvSpPr>
          <p:spPr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2835;p94">
              <a:extLst>
                <a:ext uri="{FF2B5EF4-FFF2-40B4-BE49-F238E27FC236}">
                  <a16:creationId xmlns:a16="http://schemas.microsoft.com/office/drawing/2014/main" id="{842A40FB-E85F-45B5-A562-0F31875BC8DD}"/>
                </a:ext>
              </a:extLst>
            </p:cNvPr>
            <p:cNvSpPr/>
            <p:nvPr/>
          </p:nvSpPr>
          <p:spPr>
            <a:xfrm>
              <a:off x="3420989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2836;p94">
              <a:extLst>
                <a:ext uri="{FF2B5EF4-FFF2-40B4-BE49-F238E27FC236}">
                  <a16:creationId xmlns:a16="http://schemas.microsoft.com/office/drawing/2014/main" id="{543973E7-B229-4280-95BA-F224FDE6583D}"/>
                </a:ext>
              </a:extLst>
            </p:cNvPr>
            <p:cNvSpPr/>
            <p:nvPr/>
          </p:nvSpPr>
          <p:spPr>
            <a:xfrm>
              <a:off x="3420989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2837;p94">
              <a:extLst>
                <a:ext uri="{FF2B5EF4-FFF2-40B4-BE49-F238E27FC236}">
                  <a16:creationId xmlns:a16="http://schemas.microsoft.com/office/drawing/2014/main" id="{41575783-12EF-40FC-B478-EC50906BBB87}"/>
                </a:ext>
              </a:extLst>
            </p:cNvPr>
            <p:cNvSpPr/>
            <p:nvPr/>
          </p:nvSpPr>
          <p:spPr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2838;p94">
              <a:extLst>
                <a:ext uri="{FF2B5EF4-FFF2-40B4-BE49-F238E27FC236}">
                  <a16:creationId xmlns:a16="http://schemas.microsoft.com/office/drawing/2014/main" id="{6F0CCC03-3E72-49CA-80F0-A626E2390658}"/>
                </a:ext>
              </a:extLst>
            </p:cNvPr>
            <p:cNvSpPr/>
            <p:nvPr/>
          </p:nvSpPr>
          <p:spPr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2839;p94">
              <a:extLst>
                <a:ext uri="{FF2B5EF4-FFF2-40B4-BE49-F238E27FC236}">
                  <a16:creationId xmlns:a16="http://schemas.microsoft.com/office/drawing/2014/main" id="{18635451-A733-4CC9-B50F-300CE78CFF2E}"/>
                </a:ext>
              </a:extLst>
            </p:cNvPr>
            <p:cNvSpPr/>
            <p:nvPr/>
          </p:nvSpPr>
          <p:spPr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2840;p94">
              <a:extLst>
                <a:ext uri="{FF2B5EF4-FFF2-40B4-BE49-F238E27FC236}">
                  <a16:creationId xmlns:a16="http://schemas.microsoft.com/office/drawing/2014/main" id="{26780036-310A-4D31-A416-A5EB695F5FF5}"/>
                </a:ext>
              </a:extLst>
            </p:cNvPr>
            <p:cNvSpPr/>
            <p:nvPr/>
          </p:nvSpPr>
          <p:spPr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2841;p94">
              <a:extLst>
                <a:ext uri="{FF2B5EF4-FFF2-40B4-BE49-F238E27FC236}">
                  <a16:creationId xmlns:a16="http://schemas.microsoft.com/office/drawing/2014/main" id="{76A8C9FE-70F9-46C6-890D-45DD60BFE8B2}"/>
                </a:ext>
              </a:extLst>
            </p:cNvPr>
            <p:cNvSpPr/>
            <p:nvPr/>
          </p:nvSpPr>
          <p:spPr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2842;p94">
              <a:extLst>
                <a:ext uri="{FF2B5EF4-FFF2-40B4-BE49-F238E27FC236}">
                  <a16:creationId xmlns:a16="http://schemas.microsoft.com/office/drawing/2014/main" id="{97FED165-3DBA-426F-92BB-B0C3DB516285}"/>
                </a:ext>
              </a:extLst>
            </p:cNvPr>
            <p:cNvSpPr/>
            <p:nvPr/>
          </p:nvSpPr>
          <p:spPr>
            <a:xfrm>
              <a:off x="3646108" y="2379063"/>
              <a:ext cx="19276" cy="9873"/>
            </a:xfrm>
            <a:custGeom>
              <a:avLst/>
              <a:gdLst/>
              <a:ahLst/>
              <a:cxnLst/>
              <a:rect l="l" t="t" r="r" b="b"/>
              <a:pathLst>
                <a:path w="573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2843;p94">
              <a:extLst>
                <a:ext uri="{FF2B5EF4-FFF2-40B4-BE49-F238E27FC236}">
                  <a16:creationId xmlns:a16="http://schemas.microsoft.com/office/drawing/2014/main" id="{386E4A42-856C-4795-ABCB-63A7928B33C3}"/>
                </a:ext>
              </a:extLst>
            </p:cNvPr>
            <p:cNvSpPr/>
            <p:nvPr/>
          </p:nvSpPr>
          <p:spPr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0" name="Google Shape;2818;p94">
            <a:extLst>
              <a:ext uri="{FF2B5EF4-FFF2-40B4-BE49-F238E27FC236}">
                <a16:creationId xmlns:a16="http://schemas.microsoft.com/office/drawing/2014/main" id="{C0241749-B161-4D51-AE4A-9F151E800A9E}"/>
              </a:ext>
            </a:extLst>
          </p:cNvPr>
          <p:cNvGrpSpPr/>
          <p:nvPr/>
        </p:nvGrpSpPr>
        <p:grpSpPr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>
              <a:extLst>
                <a:ext uri="{FF2B5EF4-FFF2-40B4-BE49-F238E27FC236}">
                  <a16:creationId xmlns:a16="http://schemas.microsoft.com/office/drawing/2014/main" id="{148574C2-EBD4-4199-9829-8DFDEA9C78B4}"/>
                </a:ext>
              </a:extLst>
            </p:cNvPr>
            <p:cNvSpPr/>
            <p:nvPr/>
          </p:nvSpPr>
          <p:spPr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2820;p94">
              <a:extLst>
                <a:ext uri="{FF2B5EF4-FFF2-40B4-BE49-F238E27FC236}">
                  <a16:creationId xmlns:a16="http://schemas.microsoft.com/office/drawing/2014/main" id="{57E0AF51-B6FC-41BD-911C-FDDBED10DCD6}"/>
                </a:ext>
              </a:extLst>
            </p:cNvPr>
            <p:cNvSpPr/>
            <p:nvPr/>
          </p:nvSpPr>
          <p:spPr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2821;p94">
              <a:extLst>
                <a:ext uri="{FF2B5EF4-FFF2-40B4-BE49-F238E27FC236}">
                  <a16:creationId xmlns:a16="http://schemas.microsoft.com/office/drawing/2014/main" id="{57B8954A-C826-4A9B-B657-89922358B024}"/>
                </a:ext>
              </a:extLst>
            </p:cNvPr>
            <p:cNvSpPr/>
            <p:nvPr/>
          </p:nvSpPr>
          <p:spPr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2822;p94">
              <a:extLst>
                <a:ext uri="{FF2B5EF4-FFF2-40B4-BE49-F238E27FC236}">
                  <a16:creationId xmlns:a16="http://schemas.microsoft.com/office/drawing/2014/main" id="{0E034DD0-4B55-4B91-A037-3246A0A29407}"/>
                </a:ext>
              </a:extLst>
            </p:cNvPr>
            <p:cNvSpPr/>
            <p:nvPr/>
          </p:nvSpPr>
          <p:spPr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2823;p94">
              <a:extLst>
                <a:ext uri="{FF2B5EF4-FFF2-40B4-BE49-F238E27FC236}">
                  <a16:creationId xmlns:a16="http://schemas.microsoft.com/office/drawing/2014/main" id="{06B94662-6FE6-4CF5-B934-EE5CBA83D325}"/>
                </a:ext>
              </a:extLst>
            </p:cNvPr>
            <p:cNvSpPr/>
            <p:nvPr/>
          </p:nvSpPr>
          <p:spPr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2824;p94">
              <a:extLst>
                <a:ext uri="{FF2B5EF4-FFF2-40B4-BE49-F238E27FC236}">
                  <a16:creationId xmlns:a16="http://schemas.microsoft.com/office/drawing/2014/main" id="{02B037F2-DC45-4341-8A79-CB3209AED39D}"/>
                </a:ext>
              </a:extLst>
            </p:cNvPr>
            <p:cNvSpPr/>
            <p:nvPr/>
          </p:nvSpPr>
          <p:spPr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2825;p94">
              <a:extLst>
                <a:ext uri="{FF2B5EF4-FFF2-40B4-BE49-F238E27FC236}">
                  <a16:creationId xmlns:a16="http://schemas.microsoft.com/office/drawing/2014/main" id="{C50B4741-907E-42DE-BA0B-3176B42ED322}"/>
                </a:ext>
              </a:extLst>
            </p:cNvPr>
            <p:cNvSpPr/>
            <p:nvPr/>
          </p:nvSpPr>
          <p:spPr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2826;p94">
              <a:extLst>
                <a:ext uri="{FF2B5EF4-FFF2-40B4-BE49-F238E27FC236}">
                  <a16:creationId xmlns:a16="http://schemas.microsoft.com/office/drawing/2014/main" id="{36AB534A-DCD7-4445-B575-A5862273CEB8}"/>
                </a:ext>
              </a:extLst>
            </p:cNvPr>
            <p:cNvSpPr/>
            <p:nvPr/>
          </p:nvSpPr>
          <p:spPr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2827;p94">
              <a:extLst>
                <a:ext uri="{FF2B5EF4-FFF2-40B4-BE49-F238E27FC236}">
                  <a16:creationId xmlns:a16="http://schemas.microsoft.com/office/drawing/2014/main" id="{B5DD2815-B50D-4491-A04C-6F99AB0237E5}"/>
                </a:ext>
              </a:extLst>
            </p:cNvPr>
            <p:cNvSpPr/>
            <p:nvPr/>
          </p:nvSpPr>
          <p:spPr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4" name="Google Shape;2805;p94">
            <a:extLst>
              <a:ext uri="{FF2B5EF4-FFF2-40B4-BE49-F238E27FC236}">
                <a16:creationId xmlns:a16="http://schemas.microsoft.com/office/drawing/2014/main" id="{5E434E9D-30AC-45F0-A79E-53D93704F0BF}"/>
              </a:ext>
            </a:extLst>
          </p:cNvPr>
          <p:cNvGrpSpPr/>
          <p:nvPr/>
        </p:nvGrpSpPr>
        <p:grpSpPr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>
              <a:extLst>
                <a:ext uri="{FF2B5EF4-FFF2-40B4-BE49-F238E27FC236}">
                  <a16:creationId xmlns:a16="http://schemas.microsoft.com/office/drawing/2014/main" id="{DF5EB72A-9714-47B1-AA38-FD4B1CF31477}"/>
                </a:ext>
              </a:extLst>
            </p:cNvPr>
            <p:cNvSpPr/>
            <p:nvPr/>
          </p:nvSpPr>
          <p:spPr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2807;p94">
              <a:extLst>
                <a:ext uri="{FF2B5EF4-FFF2-40B4-BE49-F238E27FC236}">
                  <a16:creationId xmlns:a16="http://schemas.microsoft.com/office/drawing/2014/main" id="{03D26D72-6983-4EF2-8819-908F4C3C60E4}"/>
                </a:ext>
              </a:extLst>
            </p:cNvPr>
            <p:cNvSpPr/>
            <p:nvPr/>
          </p:nvSpPr>
          <p:spPr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2808;p94">
              <a:extLst>
                <a:ext uri="{FF2B5EF4-FFF2-40B4-BE49-F238E27FC236}">
                  <a16:creationId xmlns:a16="http://schemas.microsoft.com/office/drawing/2014/main" id="{F73A84BD-EA2A-4D95-A6B3-BA2F7CC3FA17}"/>
                </a:ext>
              </a:extLst>
            </p:cNvPr>
            <p:cNvSpPr/>
            <p:nvPr/>
          </p:nvSpPr>
          <p:spPr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2809;p94">
              <a:extLst>
                <a:ext uri="{FF2B5EF4-FFF2-40B4-BE49-F238E27FC236}">
                  <a16:creationId xmlns:a16="http://schemas.microsoft.com/office/drawing/2014/main" id="{790C7646-D6B3-419D-BDF3-09F1AA2B3135}"/>
                </a:ext>
              </a:extLst>
            </p:cNvPr>
            <p:cNvSpPr/>
            <p:nvPr/>
          </p:nvSpPr>
          <p:spPr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2810;p94">
              <a:extLst>
                <a:ext uri="{FF2B5EF4-FFF2-40B4-BE49-F238E27FC236}">
                  <a16:creationId xmlns:a16="http://schemas.microsoft.com/office/drawing/2014/main" id="{8FB3E07A-5D5E-4301-807A-B5A2E27785E1}"/>
                </a:ext>
              </a:extLst>
            </p:cNvPr>
            <p:cNvSpPr/>
            <p:nvPr/>
          </p:nvSpPr>
          <p:spPr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2811;p94">
              <a:extLst>
                <a:ext uri="{FF2B5EF4-FFF2-40B4-BE49-F238E27FC236}">
                  <a16:creationId xmlns:a16="http://schemas.microsoft.com/office/drawing/2014/main" id="{EC9E0779-D157-4AE3-A4AE-1572197E3A61}"/>
                </a:ext>
              </a:extLst>
            </p:cNvPr>
            <p:cNvSpPr/>
            <p:nvPr/>
          </p:nvSpPr>
          <p:spPr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2812;p94">
              <a:extLst>
                <a:ext uri="{FF2B5EF4-FFF2-40B4-BE49-F238E27FC236}">
                  <a16:creationId xmlns:a16="http://schemas.microsoft.com/office/drawing/2014/main" id="{BCFE82E2-ACAF-448C-87DF-5498486058B1}"/>
                </a:ext>
              </a:extLst>
            </p:cNvPr>
            <p:cNvSpPr/>
            <p:nvPr/>
          </p:nvSpPr>
          <p:spPr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2813;p94">
              <a:extLst>
                <a:ext uri="{FF2B5EF4-FFF2-40B4-BE49-F238E27FC236}">
                  <a16:creationId xmlns:a16="http://schemas.microsoft.com/office/drawing/2014/main" id="{FC69A224-7204-4F13-827A-8F6CFF13CA93}"/>
                </a:ext>
              </a:extLst>
            </p:cNvPr>
            <p:cNvSpPr/>
            <p:nvPr/>
          </p:nvSpPr>
          <p:spPr>
            <a:xfrm>
              <a:off x="4789296" y="2294680"/>
              <a:ext cx="168267" cy="172069"/>
            </a:xfrm>
            <a:custGeom>
              <a:avLst/>
              <a:gdLst/>
              <a:ahLst/>
              <a:cxnLst/>
              <a:rect l="l" t="t" r="r" b="b"/>
              <a:pathLst>
                <a:path w="5002" h="5002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2814;p94">
              <a:extLst>
                <a:ext uri="{FF2B5EF4-FFF2-40B4-BE49-F238E27FC236}">
                  <a16:creationId xmlns:a16="http://schemas.microsoft.com/office/drawing/2014/main" id="{CC942708-1EED-4719-A7AB-15E25B610BA4}"/>
                </a:ext>
              </a:extLst>
            </p:cNvPr>
            <p:cNvSpPr/>
            <p:nvPr/>
          </p:nvSpPr>
          <p:spPr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2815;p94">
              <a:extLst>
                <a:ext uri="{FF2B5EF4-FFF2-40B4-BE49-F238E27FC236}">
                  <a16:creationId xmlns:a16="http://schemas.microsoft.com/office/drawing/2014/main" id="{75757593-004B-4B1D-8138-0CAB416ECD5D}"/>
                </a:ext>
              </a:extLst>
            </p:cNvPr>
            <p:cNvSpPr/>
            <p:nvPr/>
          </p:nvSpPr>
          <p:spPr>
            <a:xfrm>
              <a:off x="4883051" y="2382744"/>
              <a:ext cx="24053" cy="16856"/>
            </a:xfrm>
            <a:custGeom>
              <a:avLst/>
              <a:gdLst/>
              <a:ahLst/>
              <a:cxnLst/>
              <a:rect l="l" t="t" r="r" b="b"/>
              <a:pathLst>
                <a:path w="715" h="490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2816;p94">
              <a:extLst>
                <a:ext uri="{FF2B5EF4-FFF2-40B4-BE49-F238E27FC236}">
                  <a16:creationId xmlns:a16="http://schemas.microsoft.com/office/drawing/2014/main" id="{E064EA9E-2DFD-4EA3-B711-1609C3E46F7B}"/>
                </a:ext>
              </a:extLst>
            </p:cNvPr>
            <p:cNvSpPr/>
            <p:nvPr/>
          </p:nvSpPr>
          <p:spPr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4E66C5A3-A3C5-30B4-C393-E9B38DD05805}"/>
              </a:ext>
            </a:extLst>
          </p:cNvPr>
          <p:cNvSpPr/>
          <p:nvPr/>
        </p:nvSpPr>
        <p:spPr>
          <a:xfrm>
            <a:off x="9337010" y="1396603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Заголовок 13">
            <a:extLst>
              <a:ext uri="{FF2B5EF4-FFF2-40B4-BE49-F238E27FC236}">
                <a16:creationId xmlns:a16="http://schemas.microsoft.com/office/drawing/2014/main" id="{32DE2C53-BA9C-FC6C-F0C8-C020E4D2E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Архитектура, стек, данные и контент</a:t>
            </a:r>
            <a:endParaRPr lang="ru-RU" dirty="0"/>
          </a:p>
        </p:txBody>
      </p:sp>
      <p:cxnSp>
        <p:nvCxnSpPr>
          <p:cNvPr id="14" name="Google Shape;2799;p94">
            <a:extLst>
              <a:ext uri="{FF2B5EF4-FFF2-40B4-BE49-F238E27FC236}">
                <a16:creationId xmlns:a16="http://schemas.microsoft.com/office/drawing/2014/main" id="{0372E42A-E229-C83D-8A7D-7D33518B16A2}"/>
              </a:ext>
            </a:extLst>
          </p:cNvPr>
          <p:cNvCxnSpPr>
            <a:cxnSpLocks/>
          </p:cNvCxnSpPr>
          <p:nvPr/>
        </p:nvCxnSpPr>
        <p:spPr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3451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372E3068-986E-9BBB-5D18-64091C039ECC}"/>
              </a:ext>
            </a:extLst>
          </p:cNvPr>
          <p:cNvSpPr/>
          <p:nvPr/>
        </p:nvSpPr>
        <p:spPr>
          <a:xfrm>
            <a:off x="401057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5B8BFB44-8926-1FDF-4E57-C5ADDA0407C0}"/>
              </a:ext>
            </a:extLst>
          </p:cNvPr>
          <p:cNvSpPr/>
          <p:nvPr/>
        </p:nvSpPr>
        <p:spPr>
          <a:xfrm>
            <a:off x="3302625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87E602FF-7E26-F668-96F3-CBB1BFAE5C17}"/>
              </a:ext>
            </a:extLst>
          </p:cNvPr>
          <p:cNvSpPr/>
          <p:nvPr/>
        </p:nvSpPr>
        <p:spPr>
          <a:xfrm>
            <a:off x="6204193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DB4A97A4-D44E-1F60-1759-1E959FA4D289}"/>
              </a:ext>
            </a:extLst>
          </p:cNvPr>
          <p:cNvSpPr/>
          <p:nvPr/>
        </p:nvSpPr>
        <p:spPr>
          <a:xfrm>
            <a:off x="9105761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F7C252A-35BF-DB93-9627-7E3B7BBEB1F9}"/>
              </a:ext>
            </a:extLst>
          </p:cNvPr>
          <p:cNvSpPr/>
          <p:nvPr/>
        </p:nvSpPr>
        <p:spPr>
          <a:xfrm>
            <a:off x="346075" y="324562"/>
            <a:ext cx="402336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2" name="Рисунок 1" descr="05_plan.png.jpg"/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 t="2789" b="2789"/>
          <a:stretch>
            <a:fillRect/>
          </a:stretch>
        </p:blipFill>
        <p:spPr/>
      </p:pic>
      <p:pic>
        <p:nvPicPr>
          <p:cNvPr id="3" name="Рисунок 2" descr="12_shortage.png.jpg"/>
          <p:cNvPicPr>
            <a:picLocks noGrp="1" noChangeAspect="1"/>
          </p:cNvPicPr>
          <p:nvPr>
            <p:ph type="pic" sz="quarter" idx="15"/>
          </p:nvPr>
        </p:nvPicPr>
        <p:blipFill>
          <a:blip r:embed="rId5"/>
          <a:srcRect t="2789" b="2789"/>
          <a:stretch>
            <a:fillRect/>
          </a:stretch>
        </p:blipFill>
        <p:spPr/>
      </p:pic>
      <p:pic>
        <p:nvPicPr>
          <p:cNvPr id="4" name="Рисунок 3" descr="11_feedback.png.jpg"/>
          <p:cNvPicPr>
            <a:picLocks noGrp="1" noChangeAspect="1"/>
          </p:cNvPicPr>
          <p:nvPr>
            <p:ph type="pic" sz="quarter" idx="16"/>
          </p:nvPr>
        </p:nvPicPr>
        <p:blipFill>
          <a:blip r:embed="rId6"/>
          <a:srcRect t="2789" b="2789"/>
          <a:stretch>
            <a:fillRect/>
          </a:stretch>
        </p:blipFill>
        <p:spPr/>
      </p:pic>
      <p:pic>
        <p:nvPicPr>
          <p:cNvPr id="5" name="Рисунок 4" descr="09_scam_review.png.jpg"/>
          <p:cNvPicPr>
            <a:picLocks noGrp="1" noChangeAspect="1"/>
          </p:cNvPicPr>
          <p:nvPr>
            <p:ph type="pic" sz="quarter" idx="17"/>
          </p:nvPr>
        </p:nvPicPr>
        <p:blipFill>
          <a:blip r:embed="rId7"/>
          <a:srcRect t="2789" b="2789"/>
          <a:stretch>
            <a:fillRect/>
          </a:stretch>
        </p:blipFill>
        <p:spPr/>
      </p:pic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A7D045A-A8EF-4758-822A-D4C79AEC50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29</a:t>
            </a:fld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E888D882-21EA-4859-AD0B-F83535D5711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9155" y="5035451"/>
            <a:ext cx="2658088" cy="1271340"/>
          </a:xfrm>
        </p:spPr>
        <p:txBody>
          <a:bodyPr/>
          <a:lstStyle/>
          <a:p>
            <a:r>
              <a:rPr sz="1200">
                <a:solidFill>
                  <a:srgbClr val="1C1D22"/>
                </a:solidFill>
              </a:rPr>
              <a:t>План до нуля: кнопка оживает, когда всё разложено</a:t>
            </a:r>
            <a:endParaRPr lang="ru-RU" dirty="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4512A82-0FB0-43DF-93BA-4AAE010B0E7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02624" y="5035451"/>
            <a:ext cx="2706185" cy="1271340"/>
          </a:xfrm>
        </p:spPr>
        <p:txBody>
          <a:bodyPr/>
          <a:lstStyle/>
          <a:p>
            <a:r>
              <a:rPr sz="1200">
                <a:solidFill>
                  <a:srgbClr val="1C1D22"/>
                </a:solidFill>
              </a:rPr>
              <a:t>Нехватка — три равных выхода, без «нельзя»</a:t>
            </a:r>
            <a:endParaRPr lang="ru-RU" dirty="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F3FD380F-869A-4817-B010-68C40DCD76C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04192" y="5035451"/>
            <a:ext cx="2728103" cy="1271340"/>
          </a:xfrm>
        </p:spPr>
        <p:txBody>
          <a:bodyPr/>
          <a:lstStyle/>
          <a:p>
            <a:r>
              <a:rPr sz="1200">
                <a:solidFill>
                  <a:srgbClr val="1C1D22"/>
                </a:solidFill>
              </a:rPr>
              <a:t>Одна шторка: что изменилось, почему, что дальше</a:t>
            </a:r>
            <a:endParaRPr lang="ru-RU" dirty="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B78F308C-1886-4E54-A21C-8947C5BAC39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5035451"/>
            <a:ext cx="2739248" cy="1271340"/>
          </a:xfrm>
        </p:spPr>
        <p:txBody>
          <a:bodyPr/>
          <a:lstStyle/>
          <a:p>
            <a:r>
              <a:rPr sz="1200">
                <a:solidFill>
                  <a:srgbClr val="1C1D22"/>
                </a:solidFill>
              </a:rPr>
              <a:t>Разбор признаков мошенничества после любого ответа</a:t>
            </a:r>
            <a:endParaRPr lang="ru-RU">
              <a:solidFill>
                <a:schemeClr val="accent5"/>
              </a:solidFill>
              <a:latin typeface="+mj-lt"/>
            </a:endParaRPr>
          </a:p>
        </p:txBody>
      </p:sp>
      <p:grpSp>
        <p:nvGrpSpPr>
          <p:cNvPr id="122" name="Группа 121">
            <a:extLst>
              <a:ext uri="{FF2B5EF4-FFF2-40B4-BE49-F238E27FC236}">
                <a16:creationId xmlns:a16="http://schemas.microsoft.com/office/drawing/2014/main" id="{31250022-45D9-F12D-3C47-EF28765F4C31}"/>
              </a:ext>
            </a:extLst>
          </p:cNvPr>
          <p:cNvGrpSpPr/>
          <p:nvPr/>
        </p:nvGrpSpPr>
        <p:grpSpPr>
          <a:xfrm>
            <a:off x="997191" y="1096813"/>
            <a:ext cx="1821822" cy="3745203"/>
            <a:chOff x="5193506" y="1574006"/>
            <a:chExt cx="1802607" cy="3705701"/>
          </a:xfrm>
        </p:grpSpPr>
        <p:sp>
          <p:nvSpPr>
            <p:cNvPr id="123" name="Полилиния: фигура 13">
              <a:extLst>
                <a:ext uri="{FF2B5EF4-FFF2-40B4-BE49-F238E27FC236}">
                  <a16:creationId xmlns:a16="http://schemas.microsoft.com/office/drawing/2014/main" id="{24AEA150-DD4F-B078-FF83-FEE03143696E}"/>
                </a:ext>
              </a:extLst>
            </p:cNvPr>
            <p:cNvSpPr/>
            <p:nvPr/>
          </p:nvSpPr>
          <p:spPr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24" name="Полилиния: фигура 14">
              <a:extLst>
                <a:ext uri="{FF2B5EF4-FFF2-40B4-BE49-F238E27FC236}">
                  <a16:creationId xmlns:a16="http://schemas.microsoft.com/office/drawing/2014/main" id="{99E94FA1-5BB5-0D58-4BBD-DE5C76358423}"/>
                </a:ext>
              </a:extLst>
            </p:cNvPr>
            <p:cNvSpPr/>
            <p:nvPr/>
          </p:nvSpPr>
          <p:spPr>
            <a:xfrm>
              <a:off x="5274850" y="1574276"/>
              <a:ext cx="1704975" cy="295275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25" name="Полилиния: фигура 15">
              <a:extLst>
                <a:ext uri="{FF2B5EF4-FFF2-40B4-BE49-F238E27FC236}">
                  <a16:creationId xmlns:a16="http://schemas.microsoft.com/office/drawing/2014/main" id="{EC571396-05D0-35C1-5295-C7D257F4D92F}"/>
                </a:ext>
              </a:extLst>
            </p:cNvPr>
            <p:cNvSpPr/>
            <p:nvPr/>
          </p:nvSpPr>
          <p:spPr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6" name="Полилиния: фигура 16">
              <a:extLst>
                <a:ext uri="{FF2B5EF4-FFF2-40B4-BE49-F238E27FC236}">
                  <a16:creationId xmlns:a16="http://schemas.microsoft.com/office/drawing/2014/main" id="{9B732ADF-E9DA-13D4-42DD-BC54854010DA}"/>
                </a:ext>
              </a:extLst>
            </p:cNvPr>
            <p:cNvSpPr/>
            <p:nvPr/>
          </p:nvSpPr>
          <p:spPr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7" name="Полилиния: фигура 17">
              <a:extLst>
                <a:ext uri="{FF2B5EF4-FFF2-40B4-BE49-F238E27FC236}">
                  <a16:creationId xmlns:a16="http://schemas.microsoft.com/office/drawing/2014/main" id="{0678F81A-528D-A550-D258-6BBE42EEC68D}"/>
                </a:ext>
              </a:extLst>
            </p:cNvPr>
            <p:cNvSpPr/>
            <p:nvPr/>
          </p:nvSpPr>
          <p:spPr>
            <a:xfrm>
              <a:off x="5274850" y="4979578"/>
              <a:ext cx="1704975" cy="295275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8" name="Полилиния: фигура 18">
              <a:extLst>
                <a:ext uri="{FF2B5EF4-FFF2-40B4-BE49-F238E27FC236}">
                  <a16:creationId xmlns:a16="http://schemas.microsoft.com/office/drawing/2014/main" id="{25414295-E7C9-1A32-CA87-C03CF520D7C8}"/>
                </a:ext>
              </a:extLst>
            </p:cNvPr>
            <p:cNvSpPr/>
            <p:nvPr/>
          </p:nvSpPr>
          <p:spPr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9" name="Полилиния: фигура 19">
              <a:extLst>
                <a:ext uri="{FF2B5EF4-FFF2-40B4-BE49-F238E27FC236}">
                  <a16:creationId xmlns:a16="http://schemas.microsoft.com/office/drawing/2014/main" id="{E8A820F9-852B-9D6F-4958-7115D82B7838}"/>
                </a:ext>
              </a:extLst>
            </p:cNvPr>
            <p:cNvSpPr/>
            <p:nvPr/>
          </p:nvSpPr>
          <p:spPr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0" name="Полилиния: фигура 20">
              <a:extLst>
                <a:ext uri="{FF2B5EF4-FFF2-40B4-BE49-F238E27FC236}">
                  <a16:creationId xmlns:a16="http://schemas.microsoft.com/office/drawing/2014/main" id="{A1CF9CF3-386D-EAF7-4826-6711831475A0}"/>
                </a:ext>
              </a:extLst>
            </p:cNvPr>
            <p:cNvSpPr/>
            <p:nvPr/>
          </p:nvSpPr>
          <p:spPr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1" name="Полилиния: фигура 21">
              <a:extLst>
                <a:ext uri="{FF2B5EF4-FFF2-40B4-BE49-F238E27FC236}">
                  <a16:creationId xmlns:a16="http://schemas.microsoft.com/office/drawing/2014/main" id="{96508A4E-34F4-C72C-8A4A-3D35D6C3DB38}"/>
                </a:ext>
              </a:extLst>
            </p:cNvPr>
            <p:cNvSpPr/>
            <p:nvPr/>
          </p:nvSpPr>
          <p:spPr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2" name="Полилиния: фигура 22">
              <a:extLst>
                <a:ext uri="{FF2B5EF4-FFF2-40B4-BE49-F238E27FC236}">
                  <a16:creationId xmlns:a16="http://schemas.microsoft.com/office/drawing/2014/main" id="{51EB21C3-71D0-415B-6856-697384359B8F}"/>
                </a:ext>
              </a:extLst>
            </p:cNvPr>
            <p:cNvSpPr/>
            <p:nvPr/>
          </p:nvSpPr>
          <p:spPr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3" name="Полилиния: фигура 23">
              <a:extLst>
                <a:ext uri="{FF2B5EF4-FFF2-40B4-BE49-F238E27FC236}">
                  <a16:creationId xmlns:a16="http://schemas.microsoft.com/office/drawing/2014/main" id="{0466A1BA-47FF-C618-565D-0CBFDCEEC700}"/>
                </a:ext>
              </a:extLst>
            </p:cNvPr>
            <p:cNvSpPr/>
            <p:nvPr/>
          </p:nvSpPr>
          <p:spPr>
            <a:xfrm>
              <a:off x="519636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4" name="Полилиния: фигура 24">
              <a:extLst>
                <a:ext uri="{FF2B5EF4-FFF2-40B4-BE49-F238E27FC236}">
                  <a16:creationId xmlns:a16="http://schemas.microsoft.com/office/drawing/2014/main" id="{75E55049-DE9B-98AC-BB13-FCA1570B68F3}"/>
                </a:ext>
              </a:extLst>
            </p:cNvPr>
            <p:cNvSpPr/>
            <p:nvPr/>
          </p:nvSpPr>
          <p:spPr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5" name="Полилиния: фигура 25">
              <a:extLst>
                <a:ext uri="{FF2B5EF4-FFF2-40B4-BE49-F238E27FC236}">
                  <a16:creationId xmlns:a16="http://schemas.microsoft.com/office/drawing/2014/main" id="{CF905F48-77CA-03E7-97ED-1F92F9A828BD}"/>
                </a:ext>
              </a:extLst>
            </p:cNvPr>
            <p:cNvSpPr/>
            <p:nvPr/>
          </p:nvSpPr>
          <p:spPr>
            <a:xfrm>
              <a:off x="520198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6" name="Полилиния: фигура 26">
              <a:extLst>
                <a:ext uri="{FF2B5EF4-FFF2-40B4-BE49-F238E27FC236}">
                  <a16:creationId xmlns:a16="http://schemas.microsoft.com/office/drawing/2014/main" id="{CEBF0B75-055D-4965-772F-47AD1E433B65}"/>
                </a:ext>
              </a:extLst>
            </p:cNvPr>
            <p:cNvSpPr/>
            <p:nvPr/>
          </p:nvSpPr>
          <p:spPr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7" name="Полилиния: фигура 27">
              <a:extLst>
                <a:ext uri="{FF2B5EF4-FFF2-40B4-BE49-F238E27FC236}">
                  <a16:creationId xmlns:a16="http://schemas.microsoft.com/office/drawing/2014/main" id="{F00C9732-1E60-E852-DA70-EE392525EF29}"/>
                </a:ext>
              </a:extLst>
            </p:cNvPr>
            <p:cNvSpPr/>
            <p:nvPr/>
          </p:nvSpPr>
          <p:spPr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8" name="Полилиния: фигура 28">
              <a:extLst>
                <a:ext uri="{FF2B5EF4-FFF2-40B4-BE49-F238E27FC236}">
                  <a16:creationId xmlns:a16="http://schemas.microsoft.com/office/drawing/2014/main" id="{5AFC5E81-BD49-8854-AE72-7FFF0DE9D257}"/>
                </a:ext>
              </a:extLst>
            </p:cNvPr>
            <p:cNvSpPr/>
            <p:nvPr/>
          </p:nvSpPr>
          <p:spPr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9" name="Полилиния: фигура 29">
              <a:extLst>
                <a:ext uri="{FF2B5EF4-FFF2-40B4-BE49-F238E27FC236}">
                  <a16:creationId xmlns:a16="http://schemas.microsoft.com/office/drawing/2014/main" id="{476EA956-DA6E-38F4-E41E-39CD4275DD9C}"/>
                </a:ext>
              </a:extLst>
            </p:cNvPr>
            <p:cNvSpPr/>
            <p:nvPr/>
          </p:nvSpPr>
          <p:spPr>
            <a:xfrm>
              <a:off x="5989398" y="5260657"/>
              <a:ext cx="219075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0" name="Полилиния: фигура 30">
              <a:extLst>
                <a:ext uri="{FF2B5EF4-FFF2-40B4-BE49-F238E27FC236}">
                  <a16:creationId xmlns:a16="http://schemas.microsoft.com/office/drawing/2014/main" id="{38BA4330-968A-CD08-C32A-1AB62BA4060E}"/>
                </a:ext>
              </a:extLst>
            </p:cNvPr>
            <p:cNvSpPr/>
            <p:nvPr/>
          </p:nvSpPr>
          <p:spPr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1" name="Полилиния: фигура 31">
              <a:extLst>
                <a:ext uri="{FF2B5EF4-FFF2-40B4-BE49-F238E27FC236}">
                  <a16:creationId xmlns:a16="http://schemas.microsoft.com/office/drawing/2014/main" id="{139C8CA0-F4D9-106C-2539-EAC9FFE03A98}"/>
                </a:ext>
              </a:extLst>
            </p:cNvPr>
            <p:cNvSpPr/>
            <p:nvPr/>
          </p:nvSpPr>
          <p:spPr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pic>
          <p:nvPicPr>
            <p:cNvPr id="142" name="Рисунок 141">
              <a:extLst>
                <a:ext uri="{FF2B5EF4-FFF2-40B4-BE49-F238E27FC236}">
                  <a16:creationId xmlns:a16="http://schemas.microsoft.com/office/drawing/2014/main" id="{B710F069-E351-BE87-1018-2661A76A8F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143" name="Полилиния: фигура 33">
              <a:extLst>
                <a:ext uri="{FF2B5EF4-FFF2-40B4-BE49-F238E27FC236}">
                  <a16:creationId xmlns:a16="http://schemas.microsoft.com/office/drawing/2014/main" id="{71E4939B-0E00-8909-8012-C8043D8DCAD7}"/>
                </a:ext>
              </a:extLst>
            </p:cNvPr>
            <p:cNvSpPr/>
            <p:nvPr/>
          </p:nvSpPr>
          <p:spPr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4" name="Полилиния: фигура 34">
              <a:extLst>
                <a:ext uri="{FF2B5EF4-FFF2-40B4-BE49-F238E27FC236}">
                  <a16:creationId xmlns:a16="http://schemas.microsoft.com/office/drawing/2014/main" id="{5C4DB02A-9E60-644A-BD04-122262EA9CF5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5" name="Полилиния: фигура 35">
              <a:extLst>
                <a:ext uri="{FF2B5EF4-FFF2-40B4-BE49-F238E27FC236}">
                  <a16:creationId xmlns:a16="http://schemas.microsoft.com/office/drawing/2014/main" id="{A8C103F3-04F0-28A6-D985-85A41641334F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6" name="Полилиния: фигура 36">
              <a:extLst>
                <a:ext uri="{FF2B5EF4-FFF2-40B4-BE49-F238E27FC236}">
                  <a16:creationId xmlns:a16="http://schemas.microsoft.com/office/drawing/2014/main" id="{672B7A39-41AC-BB07-5409-21F650DF0E89}"/>
                </a:ext>
              </a:extLst>
            </p:cNvPr>
            <p:cNvSpPr/>
            <p:nvPr/>
          </p:nvSpPr>
          <p:spPr>
            <a:xfrm>
              <a:off x="6233636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47" name="Группа 146">
            <a:extLst>
              <a:ext uri="{FF2B5EF4-FFF2-40B4-BE49-F238E27FC236}">
                <a16:creationId xmlns:a16="http://schemas.microsoft.com/office/drawing/2014/main" id="{6F6876AF-B1D2-D1B1-91CC-C9E4B6B41445}"/>
              </a:ext>
            </a:extLst>
          </p:cNvPr>
          <p:cNvGrpSpPr/>
          <p:nvPr/>
        </p:nvGrpSpPr>
        <p:grpSpPr>
          <a:xfrm>
            <a:off x="3730724" y="1096813"/>
            <a:ext cx="1821822" cy="3745203"/>
            <a:chOff x="5193506" y="1574006"/>
            <a:chExt cx="1802607" cy="3705701"/>
          </a:xfrm>
        </p:grpSpPr>
        <p:sp>
          <p:nvSpPr>
            <p:cNvPr id="148" name="Полилиния: фигура 13">
              <a:extLst>
                <a:ext uri="{FF2B5EF4-FFF2-40B4-BE49-F238E27FC236}">
                  <a16:creationId xmlns:a16="http://schemas.microsoft.com/office/drawing/2014/main" id="{E8AC8241-89F5-74DB-F469-C2BA9BE0C024}"/>
                </a:ext>
              </a:extLst>
            </p:cNvPr>
            <p:cNvSpPr/>
            <p:nvPr/>
          </p:nvSpPr>
          <p:spPr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49" name="Полилиния: фигура 14">
              <a:extLst>
                <a:ext uri="{FF2B5EF4-FFF2-40B4-BE49-F238E27FC236}">
                  <a16:creationId xmlns:a16="http://schemas.microsoft.com/office/drawing/2014/main" id="{84434B8C-47C7-6BE9-D4B7-0B893BCC5BD5}"/>
                </a:ext>
              </a:extLst>
            </p:cNvPr>
            <p:cNvSpPr/>
            <p:nvPr/>
          </p:nvSpPr>
          <p:spPr>
            <a:xfrm>
              <a:off x="5274850" y="1574276"/>
              <a:ext cx="1704975" cy="295275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50" name="Полилиния: фигура 15">
              <a:extLst>
                <a:ext uri="{FF2B5EF4-FFF2-40B4-BE49-F238E27FC236}">
                  <a16:creationId xmlns:a16="http://schemas.microsoft.com/office/drawing/2014/main" id="{5263283D-705A-5613-18ED-E80BDE52AFCA}"/>
                </a:ext>
              </a:extLst>
            </p:cNvPr>
            <p:cNvSpPr/>
            <p:nvPr/>
          </p:nvSpPr>
          <p:spPr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1" name="Полилиния: фигура 16">
              <a:extLst>
                <a:ext uri="{FF2B5EF4-FFF2-40B4-BE49-F238E27FC236}">
                  <a16:creationId xmlns:a16="http://schemas.microsoft.com/office/drawing/2014/main" id="{744D4512-D838-3AD8-499E-05E6B87490C1}"/>
                </a:ext>
              </a:extLst>
            </p:cNvPr>
            <p:cNvSpPr/>
            <p:nvPr/>
          </p:nvSpPr>
          <p:spPr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2" name="Полилиния: фигура 17">
              <a:extLst>
                <a:ext uri="{FF2B5EF4-FFF2-40B4-BE49-F238E27FC236}">
                  <a16:creationId xmlns:a16="http://schemas.microsoft.com/office/drawing/2014/main" id="{57B1D57F-7138-34E6-ADEF-6E34A735ABB4}"/>
                </a:ext>
              </a:extLst>
            </p:cNvPr>
            <p:cNvSpPr/>
            <p:nvPr/>
          </p:nvSpPr>
          <p:spPr>
            <a:xfrm>
              <a:off x="5274850" y="4979578"/>
              <a:ext cx="1704975" cy="295275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3" name="Полилиния: фигура 18">
              <a:extLst>
                <a:ext uri="{FF2B5EF4-FFF2-40B4-BE49-F238E27FC236}">
                  <a16:creationId xmlns:a16="http://schemas.microsoft.com/office/drawing/2014/main" id="{F820A8CD-CB50-CF85-631E-0D2ABB0DA0AE}"/>
                </a:ext>
              </a:extLst>
            </p:cNvPr>
            <p:cNvSpPr/>
            <p:nvPr/>
          </p:nvSpPr>
          <p:spPr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4" name="Полилиния: фигура 19">
              <a:extLst>
                <a:ext uri="{FF2B5EF4-FFF2-40B4-BE49-F238E27FC236}">
                  <a16:creationId xmlns:a16="http://schemas.microsoft.com/office/drawing/2014/main" id="{E04E2701-FE1E-5CC3-36AF-B4B9D29FD242}"/>
                </a:ext>
              </a:extLst>
            </p:cNvPr>
            <p:cNvSpPr/>
            <p:nvPr/>
          </p:nvSpPr>
          <p:spPr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5" name="Полилиния: фигура 20">
              <a:extLst>
                <a:ext uri="{FF2B5EF4-FFF2-40B4-BE49-F238E27FC236}">
                  <a16:creationId xmlns:a16="http://schemas.microsoft.com/office/drawing/2014/main" id="{8CD1AA2D-A392-D1E3-DF78-0AEA26501DA0}"/>
                </a:ext>
              </a:extLst>
            </p:cNvPr>
            <p:cNvSpPr/>
            <p:nvPr/>
          </p:nvSpPr>
          <p:spPr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6" name="Полилиния: фигура 21">
              <a:extLst>
                <a:ext uri="{FF2B5EF4-FFF2-40B4-BE49-F238E27FC236}">
                  <a16:creationId xmlns:a16="http://schemas.microsoft.com/office/drawing/2014/main" id="{2C59B60B-FC7B-96E9-43B4-E6248B35E7F8}"/>
                </a:ext>
              </a:extLst>
            </p:cNvPr>
            <p:cNvSpPr/>
            <p:nvPr/>
          </p:nvSpPr>
          <p:spPr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7" name="Полилиния: фигура 22">
              <a:extLst>
                <a:ext uri="{FF2B5EF4-FFF2-40B4-BE49-F238E27FC236}">
                  <a16:creationId xmlns:a16="http://schemas.microsoft.com/office/drawing/2014/main" id="{C1F8F87E-2226-19FB-7129-485EFF2952F3}"/>
                </a:ext>
              </a:extLst>
            </p:cNvPr>
            <p:cNvSpPr/>
            <p:nvPr/>
          </p:nvSpPr>
          <p:spPr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8" name="Полилиния: фигура 23">
              <a:extLst>
                <a:ext uri="{FF2B5EF4-FFF2-40B4-BE49-F238E27FC236}">
                  <a16:creationId xmlns:a16="http://schemas.microsoft.com/office/drawing/2014/main" id="{19CF104F-7F1A-9575-3974-58D1C393CB8C}"/>
                </a:ext>
              </a:extLst>
            </p:cNvPr>
            <p:cNvSpPr/>
            <p:nvPr/>
          </p:nvSpPr>
          <p:spPr>
            <a:xfrm>
              <a:off x="519636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9" name="Полилиния: фигура 24">
              <a:extLst>
                <a:ext uri="{FF2B5EF4-FFF2-40B4-BE49-F238E27FC236}">
                  <a16:creationId xmlns:a16="http://schemas.microsoft.com/office/drawing/2014/main" id="{08D91672-4E5C-7BA4-1CE5-A30F3A8D8B90}"/>
                </a:ext>
              </a:extLst>
            </p:cNvPr>
            <p:cNvSpPr/>
            <p:nvPr/>
          </p:nvSpPr>
          <p:spPr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0" name="Полилиния: фигура 25">
              <a:extLst>
                <a:ext uri="{FF2B5EF4-FFF2-40B4-BE49-F238E27FC236}">
                  <a16:creationId xmlns:a16="http://schemas.microsoft.com/office/drawing/2014/main" id="{0E644CEA-C8F9-E939-4113-FFB9CC6A10CB}"/>
                </a:ext>
              </a:extLst>
            </p:cNvPr>
            <p:cNvSpPr/>
            <p:nvPr/>
          </p:nvSpPr>
          <p:spPr>
            <a:xfrm>
              <a:off x="520198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1" name="Полилиния: фигура 26">
              <a:extLst>
                <a:ext uri="{FF2B5EF4-FFF2-40B4-BE49-F238E27FC236}">
                  <a16:creationId xmlns:a16="http://schemas.microsoft.com/office/drawing/2014/main" id="{A9463AC2-3CBD-AD7F-C2FC-3E6B8898F615}"/>
                </a:ext>
              </a:extLst>
            </p:cNvPr>
            <p:cNvSpPr/>
            <p:nvPr/>
          </p:nvSpPr>
          <p:spPr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2" name="Полилиния: фигура 27">
              <a:extLst>
                <a:ext uri="{FF2B5EF4-FFF2-40B4-BE49-F238E27FC236}">
                  <a16:creationId xmlns:a16="http://schemas.microsoft.com/office/drawing/2014/main" id="{A0B742DC-234C-DFDF-1731-F5483C135F77}"/>
                </a:ext>
              </a:extLst>
            </p:cNvPr>
            <p:cNvSpPr/>
            <p:nvPr/>
          </p:nvSpPr>
          <p:spPr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3" name="Полилиния: фигура 28">
              <a:extLst>
                <a:ext uri="{FF2B5EF4-FFF2-40B4-BE49-F238E27FC236}">
                  <a16:creationId xmlns:a16="http://schemas.microsoft.com/office/drawing/2014/main" id="{295E8F4E-2D3F-0442-68E4-45516C2C0F73}"/>
                </a:ext>
              </a:extLst>
            </p:cNvPr>
            <p:cNvSpPr/>
            <p:nvPr/>
          </p:nvSpPr>
          <p:spPr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4" name="Полилиния: фигура 29">
              <a:extLst>
                <a:ext uri="{FF2B5EF4-FFF2-40B4-BE49-F238E27FC236}">
                  <a16:creationId xmlns:a16="http://schemas.microsoft.com/office/drawing/2014/main" id="{EC3523CB-F469-D234-C98C-68A35D5DC1EE}"/>
                </a:ext>
              </a:extLst>
            </p:cNvPr>
            <p:cNvSpPr/>
            <p:nvPr/>
          </p:nvSpPr>
          <p:spPr>
            <a:xfrm>
              <a:off x="5989398" y="5260657"/>
              <a:ext cx="219075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5" name="Полилиния: фигура 30">
              <a:extLst>
                <a:ext uri="{FF2B5EF4-FFF2-40B4-BE49-F238E27FC236}">
                  <a16:creationId xmlns:a16="http://schemas.microsoft.com/office/drawing/2014/main" id="{C1E692C9-11C7-FD16-0691-269E9730C0D7}"/>
                </a:ext>
              </a:extLst>
            </p:cNvPr>
            <p:cNvSpPr/>
            <p:nvPr/>
          </p:nvSpPr>
          <p:spPr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6" name="Полилиния: фигура 31">
              <a:extLst>
                <a:ext uri="{FF2B5EF4-FFF2-40B4-BE49-F238E27FC236}">
                  <a16:creationId xmlns:a16="http://schemas.microsoft.com/office/drawing/2014/main" id="{8A8BCBC3-F8B9-E268-FA91-BE0B91504CB7}"/>
                </a:ext>
              </a:extLst>
            </p:cNvPr>
            <p:cNvSpPr/>
            <p:nvPr/>
          </p:nvSpPr>
          <p:spPr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pic>
          <p:nvPicPr>
            <p:cNvPr id="167" name="Рисунок 166">
              <a:extLst>
                <a:ext uri="{FF2B5EF4-FFF2-40B4-BE49-F238E27FC236}">
                  <a16:creationId xmlns:a16="http://schemas.microsoft.com/office/drawing/2014/main" id="{275DD60F-C19A-9738-1499-379E38B893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168" name="Полилиния: фигура 33">
              <a:extLst>
                <a:ext uri="{FF2B5EF4-FFF2-40B4-BE49-F238E27FC236}">
                  <a16:creationId xmlns:a16="http://schemas.microsoft.com/office/drawing/2014/main" id="{0C1A32E6-71CE-D73A-D08C-E614CC7D3E3D}"/>
                </a:ext>
              </a:extLst>
            </p:cNvPr>
            <p:cNvSpPr/>
            <p:nvPr/>
          </p:nvSpPr>
          <p:spPr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9" name="Полилиния: фигура 34">
              <a:extLst>
                <a:ext uri="{FF2B5EF4-FFF2-40B4-BE49-F238E27FC236}">
                  <a16:creationId xmlns:a16="http://schemas.microsoft.com/office/drawing/2014/main" id="{F634A189-F19F-9C70-5515-9E924535DC98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0" name="Полилиния: фигура 35">
              <a:extLst>
                <a:ext uri="{FF2B5EF4-FFF2-40B4-BE49-F238E27FC236}">
                  <a16:creationId xmlns:a16="http://schemas.microsoft.com/office/drawing/2014/main" id="{FEC821A6-0C1B-A5D1-4EE3-7BC96AF6DC8D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1" name="Полилиния: фигура 36">
              <a:extLst>
                <a:ext uri="{FF2B5EF4-FFF2-40B4-BE49-F238E27FC236}">
                  <a16:creationId xmlns:a16="http://schemas.microsoft.com/office/drawing/2014/main" id="{DCBB9EDB-AF53-F46A-71B2-6496483F87B8}"/>
                </a:ext>
              </a:extLst>
            </p:cNvPr>
            <p:cNvSpPr/>
            <p:nvPr/>
          </p:nvSpPr>
          <p:spPr>
            <a:xfrm>
              <a:off x="6233636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72" name="Группа 171">
            <a:extLst>
              <a:ext uri="{FF2B5EF4-FFF2-40B4-BE49-F238E27FC236}">
                <a16:creationId xmlns:a16="http://schemas.microsoft.com/office/drawing/2014/main" id="{28B88200-E25B-E61C-1E68-2D2C2B01BCE5}"/>
              </a:ext>
            </a:extLst>
          </p:cNvPr>
          <p:cNvGrpSpPr/>
          <p:nvPr/>
        </p:nvGrpSpPr>
        <p:grpSpPr>
          <a:xfrm>
            <a:off x="6699146" y="1096813"/>
            <a:ext cx="1821822" cy="3745203"/>
            <a:chOff x="5193506" y="1574006"/>
            <a:chExt cx="1802607" cy="3705701"/>
          </a:xfrm>
        </p:grpSpPr>
        <p:sp>
          <p:nvSpPr>
            <p:cNvPr id="173" name="Полилиния: фигура 13">
              <a:extLst>
                <a:ext uri="{FF2B5EF4-FFF2-40B4-BE49-F238E27FC236}">
                  <a16:creationId xmlns:a16="http://schemas.microsoft.com/office/drawing/2014/main" id="{A9CDA20E-DC0B-7574-8A53-2FE5A69E3137}"/>
                </a:ext>
              </a:extLst>
            </p:cNvPr>
            <p:cNvSpPr/>
            <p:nvPr/>
          </p:nvSpPr>
          <p:spPr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4" name="Полилиния: фигура 14">
              <a:extLst>
                <a:ext uri="{FF2B5EF4-FFF2-40B4-BE49-F238E27FC236}">
                  <a16:creationId xmlns:a16="http://schemas.microsoft.com/office/drawing/2014/main" id="{C6EDF764-F67B-E72A-96F7-9AD40839714F}"/>
                </a:ext>
              </a:extLst>
            </p:cNvPr>
            <p:cNvSpPr/>
            <p:nvPr/>
          </p:nvSpPr>
          <p:spPr>
            <a:xfrm>
              <a:off x="5274850" y="1574276"/>
              <a:ext cx="1704975" cy="295275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5" name="Полилиния: фигура 15">
              <a:extLst>
                <a:ext uri="{FF2B5EF4-FFF2-40B4-BE49-F238E27FC236}">
                  <a16:creationId xmlns:a16="http://schemas.microsoft.com/office/drawing/2014/main" id="{3FAA0615-8C83-2C58-58C1-270E46BD11DD}"/>
                </a:ext>
              </a:extLst>
            </p:cNvPr>
            <p:cNvSpPr/>
            <p:nvPr/>
          </p:nvSpPr>
          <p:spPr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6" name="Полилиния: фигура 16">
              <a:extLst>
                <a:ext uri="{FF2B5EF4-FFF2-40B4-BE49-F238E27FC236}">
                  <a16:creationId xmlns:a16="http://schemas.microsoft.com/office/drawing/2014/main" id="{6DA7610E-8695-F698-FBE5-F1EA1A34BCA3}"/>
                </a:ext>
              </a:extLst>
            </p:cNvPr>
            <p:cNvSpPr/>
            <p:nvPr/>
          </p:nvSpPr>
          <p:spPr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7" name="Полилиния: фигура 17">
              <a:extLst>
                <a:ext uri="{FF2B5EF4-FFF2-40B4-BE49-F238E27FC236}">
                  <a16:creationId xmlns:a16="http://schemas.microsoft.com/office/drawing/2014/main" id="{C2B0886E-C1A1-F8FB-DE0A-7E00B1A70124}"/>
                </a:ext>
              </a:extLst>
            </p:cNvPr>
            <p:cNvSpPr/>
            <p:nvPr/>
          </p:nvSpPr>
          <p:spPr>
            <a:xfrm>
              <a:off x="5274850" y="4979578"/>
              <a:ext cx="1704975" cy="295275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8" name="Полилиния: фигура 18">
              <a:extLst>
                <a:ext uri="{FF2B5EF4-FFF2-40B4-BE49-F238E27FC236}">
                  <a16:creationId xmlns:a16="http://schemas.microsoft.com/office/drawing/2014/main" id="{F6E82E9D-82A0-F318-F846-F9AA582ADCE6}"/>
                </a:ext>
              </a:extLst>
            </p:cNvPr>
            <p:cNvSpPr/>
            <p:nvPr/>
          </p:nvSpPr>
          <p:spPr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9" name="Полилиния: фигура 19">
              <a:extLst>
                <a:ext uri="{FF2B5EF4-FFF2-40B4-BE49-F238E27FC236}">
                  <a16:creationId xmlns:a16="http://schemas.microsoft.com/office/drawing/2014/main" id="{6CD40789-5D3D-6EE9-2675-745C2BDC6538}"/>
                </a:ext>
              </a:extLst>
            </p:cNvPr>
            <p:cNvSpPr/>
            <p:nvPr/>
          </p:nvSpPr>
          <p:spPr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0" name="Полилиния: фигура 20">
              <a:extLst>
                <a:ext uri="{FF2B5EF4-FFF2-40B4-BE49-F238E27FC236}">
                  <a16:creationId xmlns:a16="http://schemas.microsoft.com/office/drawing/2014/main" id="{158DFE1D-B6C8-7D8D-1E07-17C4E0EEF550}"/>
                </a:ext>
              </a:extLst>
            </p:cNvPr>
            <p:cNvSpPr/>
            <p:nvPr/>
          </p:nvSpPr>
          <p:spPr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1" name="Полилиния: фигура 21">
              <a:extLst>
                <a:ext uri="{FF2B5EF4-FFF2-40B4-BE49-F238E27FC236}">
                  <a16:creationId xmlns:a16="http://schemas.microsoft.com/office/drawing/2014/main" id="{D8DEFA81-42B3-5DA3-7630-FDBDF31D670E}"/>
                </a:ext>
              </a:extLst>
            </p:cNvPr>
            <p:cNvSpPr/>
            <p:nvPr/>
          </p:nvSpPr>
          <p:spPr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2" name="Полилиния: фигура 22">
              <a:extLst>
                <a:ext uri="{FF2B5EF4-FFF2-40B4-BE49-F238E27FC236}">
                  <a16:creationId xmlns:a16="http://schemas.microsoft.com/office/drawing/2014/main" id="{BB1811A3-3629-FDD8-6775-7826417B17BB}"/>
                </a:ext>
              </a:extLst>
            </p:cNvPr>
            <p:cNvSpPr/>
            <p:nvPr/>
          </p:nvSpPr>
          <p:spPr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3" name="Полилиния: фигура 23">
              <a:extLst>
                <a:ext uri="{FF2B5EF4-FFF2-40B4-BE49-F238E27FC236}">
                  <a16:creationId xmlns:a16="http://schemas.microsoft.com/office/drawing/2014/main" id="{0C885996-2D3E-94A9-F80B-759C2B77BEFD}"/>
                </a:ext>
              </a:extLst>
            </p:cNvPr>
            <p:cNvSpPr/>
            <p:nvPr/>
          </p:nvSpPr>
          <p:spPr>
            <a:xfrm>
              <a:off x="519636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4" name="Полилиния: фигура 24">
              <a:extLst>
                <a:ext uri="{FF2B5EF4-FFF2-40B4-BE49-F238E27FC236}">
                  <a16:creationId xmlns:a16="http://schemas.microsoft.com/office/drawing/2014/main" id="{7A637849-F366-366B-2B72-613C030A10ED}"/>
                </a:ext>
              </a:extLst>
            </p:cNvPr>
            <p:cNvSpPr/>
            <p:nvPr/>
          </p:nvSpPr>
          <p:spPr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5" name="Полилиния: фигура 25">
              <a:extLst>
                <a:ext uri="{FF2B5EF4-FFF2-40B4-BE49-F238E27FC236}">
                  <a16:creationId xmlns:a16="http://schemas.microsoft.com/office/drawing/2014/main" id="{110EFEA7-7F4A-95B8-43B8-6F88654392F3}"/>
                </a:ext>
              </a:extLst>
            </p:cNvPr>
            <p:cNvSpPr/>
            <p:nvPr/>
          </p:nvSpPr>
          <p:spPr>
            <a:xfrm>
              <a:off x="520198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6" name="Полилиния: фигура 26">
              <a:extLst>
                <a:ext uri="{FF2B5EF4-FFF2-40B4-BE49-F238E27FC236}">
                  <a16:creationId xmlns:a16="http://schemas.microsoft.com/office/drawing/2014/main" id="{6775B6E1-3AE7-DCB7-993C-A3BB57DEB079}"/>
                </a:ext>
              </a:extLst>
            </p:cNvPr>
            <p:cNvSpPr/>
            <p:nvPr/>
          </p:nvSpPr>
          <p:spPr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7" name="Полилиния: фигура 27">
              <a:extLst>
                <a:ext uri="{FF2B5EF4-FFF2-40B4-BE49-F238E27FC236}">
                  <a16:creationId xmlns:a16="http://schemas.microsoft.com/office/drawing/2014/main" id="{A1B076D4-6F0A-6994-8304-90264BE47B6C}"/>
                </a:ext>
              </a:extLst>
            </p:cNvPr>
            <p:cNvSpPr/>
            <p:nvPr/>
          </p:nvSpPr>
          <p:spPr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8" name="Полилиния: фигура 28">
              <a:extLst>
                <a:ext uri="{FF2B5EF4-FFF2-40B4-BE49-F238E27FC236}">
                  <a16:creationId xmlns:a16="http://schemas.microsoft.com/office/drawing/2014/main" id="{03D70E49-6A46-60F0-235C-230EB8697FFF}"/>
                </a:ext>
              </a:extLst>
            </p:cNvPr>
            <p:cNvSpPr/>
            <p:nvPr/>
          </p:nvSpPr>
          <p:spPr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9" name="Полилиния: фигура 29">
              <a:extLst>
                <a:ext uri="{FF2B5EF4-FFF2-40B4-BE49-F238E27FC236}">
                  <a16:creationId xmlns:a16="http://schemas.microsoft.com/office/drawing/2014/main" id="{638DC947-2E6A-E1E4-48C6-C82F296AF48F}"/>
                </a:ext>
              </a:extLst>
            </p:cNvPr>
            <p:cNvSpPr/>
            <p:nvPr/>
          </p:nvSpPr>
          <p:spPr>
            <a:xfrm>
              <a:off x="5989398" y="5260657"/>
              <a:ext cx="219075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0" name="Полилиния: фигура 30">
              <a:extLst>
                <a:ext uri="{FF2B5EF4-FFF2-40B4-BE49-F238E27FC236}">
                  <a16:creationId xmlns:a16="http://schemas.microsoft.com/office/drawing/2014/main" id="{2133978C-A68D-962F-7B3F-8C121D583304}"/>
                </a:ext>
              </a:extLst>
            </p:cNvPr>
            <p:cNvSpPr/>
            <p:nvPr/>
          </p:nvSpPr>
          <p:spPr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1" name="Полилиния: фигура 31">
              <a:extLst>
                <a:ext uri="{FF2B5EF4-FFF2-40B4-BE49-F238E27FC236}">
                  <a16:creationId xmlns:a16="http://schemas.microsoft.com/office/drawing/2014/main" id="{E7337AD2-C975-8EEA-309F-C9BEC7D9B80A}"/>
                </a:ext>
              </a:extLst>
            </p:cNvPr>
            <p:cNvSpPr/>
            <p:nvPr/>
          </p:nvSpPr>
          <p:spPr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pic>
          <p:nvPicPr>
            <p:cNvPr id="192" name="Рисунок 191">
              <a:extLst>
                <a:ext uri="{FF2B5EF4-FFF2-40B4-BE49-F238E27FC236}">
                  <a16:creationId xmlns:a16="http://schemas.microsoft.com/office/drawing/2014/main" id="{EBC94221-5003-CC9C-1BA6-39584F78BA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193" name="Полилиния: фигура 33">
              <a:extLst>
                <a:ext uri="{FF2B5EF4-FFF2-40B4-BE49-F238E27FC236}">
                  <a16:creationId xmlns:a16="http://schemas.microsoft.com/office/drawing/2014/main" id="{D717B4FB-A27A-CAA6-3D77-01AD01672953}"/>
                </a:ext>
              </a:extLst>
            </p:cNvPr>
            <p:cNvSpPr/>
            <p:nvPr/>
          </p:nvSpPr>
          <p:spPr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4" name="Полилиния: фигура 34">
              <a:extLst>
                <a:ext uri="{FF2B5EF4-FFF2-40B4-BE49-F238E27FC236}">
                  <a16:creationId xmlns:a16="http://schemas.microsoft.com/office/drawing/2014/main" id="{34C8B6EF-76B0-66A8-48F8-451128B8EF55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5" name="Полилиния: фигура 35">
              <a:extLst>
                <a:ext uri="{FF2B5EF4-FFF2-40B4-BE49-F238E27FC236}">
                  <a16:creationId xmlns:a16="http://schemas.microsoft.com/office/drawing/2014/main" id="{C4E22E47-5653-9FC4-E418-B13F750799A0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6" name="Полилиния: фигура 36">
              <a:extLst>
                <a:ext uri="{FF2B5EF4-FFF2-40B4-BE49-F238E27FC236}">
                  <a16:creationId xmlns:a16="http://schemas.microsoft.com/office/drawing/2014/main" id="{288CF8AC-8E86-147B-676C-4A0A4618F6E0}"/>
                </a:ext>
              </a:extLst>
            </p:cNvPr>
            <p:cNvSpPr/>
            <p:nvPr/>
          </p:nvSpPr>
          <p:spPr>
            <a:xfrm>
              <a:off x="6233636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97" name="Группа 196">
            <a:extLst>
              <a:ext uri="{FF2B5EF4-FFF2-40B4-BE49-F238E27FC236}">
                <a16:creationId xmlns:a16="http://schemas.microsoft.com/office/drawing/2014/main" id="{09B9B184-25F2-7359-333D-5EB9A60B8EFD}"/>
              </a:ext>
            </a:extLst>
          </p:cNvPr>
          <p:cNvGrpSpPr/>
          <p:nvPr/>
        </p:nvGrpSpPr>
        <p:grpSpPr>
          <a:xfrm>
            <a:off x="9575248" y="1076308"/>
            <a:ext cx="1821822" cy="3745203"/>
            <a:chOff x="5193506" y="1574006"/>
            <a:chExt cx="1802607" cy="3705701"/>
          </a:xfrm>
        </p:grpSpPr>
        <p:sp>
          <p:nvSpPr>
            <p:cNvPr id="198" name="Полилиния: фигура 13">
              <a:extLst>
                <a:ext uri="{FF2B5EF4-FFF2-40B4-BE49-F238E27FC236}">
                  <a16:creationId xmlns:a16="http://schemas.microsoft.com/office/drawing/2014/main" id="{E3F377FC-00D5-EF59-5B13-016CF3D10D8E}"/>
                </a:ext>
              </a:extLst>
            </p:cNvPr>
            <p:cNvSpPr/>
            <p:nvPr/>
          </p:nvSpPr>
          <p:spPr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99" name="Полилиния: фигура 14">
              <a:extLst>
                <a:ext uri="{FF2B5EF4-FFF2-40B4-BE49-F238E27FC236}">
                  <a16:creationId xmlns:a16="http://schemas.microsoft.com/office/drawing/2014/main" id="{FC792052-29C1-6D35-7F6B-79A599C639D7}"/>
                </a:ext>
              </a:extLst>
            </p:cNvPr>
            <p:cNvSpPr/>
            <p:nvPr/>
          </p:nvSpPr>
          <p:spPr>
            <a:xfrm>
              <a:off x="5274850" y="1574276"/>
              <a:ext cx="1704975" cy="295275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00" name="Полилиния: фигура 15">
              <a:extLst>
                <a:ext uri="{FF2B5EF4-FFF2-40B4-BE49-F238E27FC236}">
                  <a16:creationId xmlns:a16="http://schemas.microsoft.com/office/drawing/2014/main" id="{E5A98475-EA25-67D6-4D5F-15BF00331AEB}"/>
                </a:ext>
              </a:extLst>
            </p:cNvPr>
            <p:cNvSpPr/>
            <p:nvPr/>
          </p:nvSpPr>
          <p:spPr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1" name="Полилиния: фигура 16">
              <a:extLst>
                <a:ext uri="{FF2B5EF4-FFF2-40B4-BE49-F238E27FC236}">
                  <a16:creationId xmlns:a16="http://schemas.microsoft.com/office/drawing/2014/main" id="{81E5799A-EDA9-923F-4306-CDB07B346B8B}"/>
                </a:ext>
              </a:extLst>
            </p:cNvPr>
            <p:cNvSpPr/>
            <p:nvPr/>
          </p:nvSpPr>
          <p:spPr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02" name="Полилиния: фигура 17">
              <a:extLst>
                <a:ext uri="{FF2B5EF4-FFF2-40B4-BE49-F238E27FC236}">
                  <a16:creationId xmlns:a16="http://schemas.microsoft.com/office/drawing/2014/main" id="{C8C06C37-DF23-F749-53E7-43DD5F9A34DA}"/>
                </a:ext>
              </a:extLst>
            </p:cNvPr>
            <p:cNvSpPr/>
            <p:nvPr/>
          </p:nvSpPr>
          <p:spPr>
            <a:xfrm>
              <a:off x="5274850" y="4979578"/>
              <a:ext cx="1704975" cy="295275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3" name="Полилиния: фигура 18">
              <a:extLst>
                <a:ext uri="{FF2B5EF4-FFF2-40B4-BE49-F238E27FC236}">
                  <a16:creationId xmlns:a16="http://schemas.microsoft.com/office/drawing/2014/main" id="{18AB0B4B-8AF4-3CED-546E-8A0EDD0343AA}"/>
                </a:ext>
              </a:extLst>
            </p:cNvPr>
            <p:cNvSpPr/>
            <p:nvPr/>
          </p:nvSpPr>
          <p:spPr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4" name="Полилиния: фигура 19">
              <a:extLst>
                <a:ext uri="{FF2B5EF4-FFF2-40B4-BE49-F238E27FC236}">
                  <a16:creationId xmlns:a16="http://schemas.microsoft.com/office/drawing/2014/main" id="{A09F4E37-B8CD-2EF9-2BDD-679C42F718DF}"/>
                </a:ext>
              </a:extLst>
            </p:cNvPr>
            <p:cNvSpPr/>
            <p:nvPr/>
          </p:nvSpPr>
          <p:spPr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5" name="Полилиния: фигура 20">
              <a:extLst>
                <a:ext uri="{FF2B5EF4-FFF2-40B4-BE49-F238E27FC236}">
                  <a16:creationId xmlns:a16="http://schemas.microsoft.com/office/drawing/2014/main" id="{9D8C252F-C832-C60B-67B3-B6D013188DB3}"/>
                </a:ext>
              </a:extLst>
            </p:cNvPr>
            <p:cNvSpPr/>
            <p:nvPr/>
          </p:nvSpPr>
          <p:spPr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6" name="Полилиния: фигура 21">
              <a:extLst>
                <a:ext uri="{FF2B5EF4-FFF2-40B4-BE49-F238E27FC236}">
                  <a16:creationId xmlns:a16="http://schemas.microsoft.com/office/drawing/2014/main" id="{FA7900B1-7A25-63CF-0588-70A25C00B663}"/>
                </a:ext>
              </a:extLst>
            </p:cNvPr>
            <p:cNvSpPr/>
            <p:nvPr/>
          </p:nvSpPr>
          <p:spPr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7" name="Полилиния: фигура 22">
              <a:extLst>
                <a:ext uri="{FF2B5EF4-FFF2-40B4-BE49-F238E27FC236}">
                  <a16:creationId xmlns:a16="http://schemas.microsoft.com/office/drawing/2014/main" id="{EFB55E02-77C2-7DAA-FBBD-AAD9F92F0831}"/>
                </a:ext>
              </a:extLst>
            </p:cNvPr>
            <p:cNvSpPr/>
            <p:nvPr/>
          </p:nvSpPr>
          <p:spPr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8" name="Полилиния: фигура 23">
              <a:extLst>
                <a:ext uri="{FF2B5EF4-FFF2-40B4-BE49-F238E27FC236}">
                  <a16:creationId xmlns:a16="http://schemas.microsoft.com/office/drawing/2014/main" id="{30535304-E628-32AB-C6BA-19E520C656BF}"/>
                </a:ext>
              </a:extLst>
            </p:cNvPr>
            <p:cNvSpPr/>
            <p:nvPr/>
          </p:nvSpPr>
          <p:spPr>
            <a:xfrm>
              <a:off x="519636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9" name="Полилиния: фигура 24">
              <a:extLst>
                <a:ext uri="{FF2B5EF4-FFF2-40B4-BE49-F238E27FC236}">
                  <a16:creationId xmlns:a16="http://schemas.microsoft.com/office/drawing/2014/main" id="{78104E2D-A620-47E2-40F3-A995004EE446}"/>
                </a:ext>
              </a:extLst>
            </p:cNvPr>
            <p:cNvSpPr/>
            <p:nvPr/>
          </p:nvSpPr>
          <p:spPr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0" name="Полилиния: фигура 25">
              <a:extLst>
                <a:ext uri="{FF2B5EF4-FFF2-40B4-BE49-F238E27FC236}">
                  <a16:creationId xmlns:a16="http://schemas.microsoft.com/office/drawing/2014/main" id="{8EB92C67-7F68-803C-FB9E-2D13E650E6A1}"/>
                </a:ext>
              </a:extLst>
            </p:cNvPr>
            <p:cNvSpPr/>
            <p:nvPr/>
          </p:nvSpPr>
          <p:spPr>
            <a:xfrm>
              <a:off x="520198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1" name="Полилиния: фигура 26">
              <a:extLst>
                <a:ext uri="{FF2B5EF4-FFF2-40B4-BE49-F238E27FC236}">
                  <a16:creationId xmlns:a16="http://schemas.microsoft.com/office/drawing/2014/main" id="{3E0B4E90-F08C-B5ED-761E-838F2F9D531E}"/>
                </a:ext>
              </a:extLst>
            </p:cNvPr>
            <p:cNvSpPr/>
            <p:nvPr/>
          </p:nvSpPr>
          <p:spPr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2" name="Полилиния: фигура 27">
              <a:extLst>
                <a:ext uri="{FF2B5EF4-FFF2-40B4-BE49-F238E27FC236}">
                  <a16:creationId xmlns:a16="http://schemas.microsoft.com/office/drawing/2014/main" id="{B6C8B631-B5E5-473B-FD01-2491F51BF4AA}"/>
                </a:ext>
              </a:extLst>
            </p:cNvPr>
            <p:cNvSpPr/>
            <p:nvPr/>
          </p:nvSpPr>
          <p:spPr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3" name="Полилиния: фигура 28">
              <a:extLst>
                <a:ext uri="{FF2B5EF4-FFF2-40B4-BE49-F238E27FC236}">
                  <a16:creationId xmlns:a16="http://schemas.microsoft.com/office/drawing/2014/main" id="{380F7E94-40B3-49EA-38A2-A4683915276E}"/>
                </a:ext>
              </a:extLst>
            </p:cNvPr>
            <p:cNvSpPr/>
            <p:nvPr/>
          </p:nvSpPr>
          <p:spPr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4" name="Полилиния: фигура 29">
              <a:extLst>
                <a:ext uri="{FF2B5EF4-FFF2-40B4-BE49-F238E27FC236}">
                  <a16:creationId xmlns:a16="http://schemas.microsoft.com/office/drawing/2014/main" id="{F9385ADB-6D1B-C79D-F5BB-B03F408AFC6C}"/>
                </a:ext>
              </a:extLst>
            </p:cNvPr>
            <p:cNvSpPr/>
            <p:nvPr/>
          </p:nvSpPr>
          <p:spPr>
            <a:xfrm>
              <a:off x="5989398" y="5260657"/>
              <a:ext cx="219075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5" name="Полилиния: фигура 30">
              <a:extLst>
                <a:ext uri="{FF2B5EF4-FFF2-40B4-BE49-F238E27FC236}">
                  <a16:creationId xmlns:a16="http://schemas.microsoft.com/office/drawing/2014/main" id="{00D97A09-43D0-4152-831C-C7744B4FE7E6}"/>
                </a:ext>
              </a:extLst>
            </p:cNvPr>
            <p:cNvSpPr/>
            <p:nvPr/>
          </p:nvSpPr>
          <p:spPr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6" name="Полилиния: фигура 31">
              <a:extLst>
                <a:ext uri="{FF2B5EF4-FFF2-40B4-BE49-F238E27FC236}">
                  <a16:creationId xmlns:a16="http://schemas.microsoft.com/office/drawing/2014/main" id="{83CFD5B5-DF45-F681-5596-E631C837531E}"/>
                </a:ext>
              </a:extLst>
            </p:cNvPr>
            <p:cNvSpPr/>
            <p:nvPr/>
          </p:nvSpPr>
          <p:spPr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pic>
          <p:nvPicPr>
            <p:cNvPr id="217" name="Рисунок 216">
              <a:extLst>
                <a:ext uri="{FF2B5EF4-FFF2-40B4-BE49-F238E27FC236}">
                  <a16:creationId xmlns:a16="http://schemas.microsoft.com/office/drawing/2014/main" id="{5AED15A4-4D29-1A14-4213-148543BBCD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218" name="Полилиния: фигура 33">
              <a:extLst>
                <a:ext uri="{FF2B5EF4-FFF2-40B4-BE49-F238E27FC236}">
                  <a16:creationId xmlns:a16="http://schemas.microsoft.com/office/drawing/2014/main" id="{D613CEB1-BB3C-206D-6D01-E1CB7887B429}"/>
                </a:ext>
              </a:extLst>
            </p:cNvPr>
            <p:cNvSpPr/>
            <p:nvPr/>
          </p:nvSpPr>
          <p:spPr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9" name="Полилиния: фигура 34">
              <a:extLst>
                <a:ext uri="{FF2B5EF4-FFF2-40B4-BE49-F238E27FC236}">
                  <a16:creationId xmlns:a16="http://schemas.microsoft.com/office/drawing/2014/main" id="{69F35FD4-E9E3-2671-1E63-C0ECA01A6C97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0" name="Полилиния: фигура 35">
              <a:extLst>
                <a:ext uri="{FF2B5EF4-FFF2-40B4-BE49-F238E27FC236}">
                  <a16:creationId xmlns:a16="http://schemas.microsoft.com/office/drawing/2014/main" id="{6DDAF0B9-15C9-D0FE-7E34-9051A84DDBB8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1" name="Полилиния: фигура 36">
              <a:extLst>
                <a:ext uri="{FF2B5EF4-FFF2-40B4-BE49-F238E27FC236}">
                  <a16:creationId xmlns:a16="http://schemas.microsoft.com/office/drawing/2014/main" id="{BB968C32-6E31-7C3C-54D5-B0EED92672B1}"/>
                </a:ext>
              </a:extLst>
            </p:cNvPr>
            <p:cNvSpPr/>
            <p:nvPr/>
          </p:nvSpPr>
          <p:spPr>
            <a:xfrm>
              <a:off x="6233636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13" name="Заголовок 13">
            <a:extLst>
              <a:ext uri="{FF2B5EF4-FFF2-40B4-BE49-F238E27FC236}">
                <a16:creationId xmlns:a16="http://schemas.microsoft.com/office/drawing/2014/main" id="{CB78984E-BF6A-592D-77E7-74F307B32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Ключевые UX/UI-решения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03772060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11023</TotalTime>
  <Words>633</Words>
  <Application>Microsoft Macintosh PowerPoint</Application>
  <PresentationFormat>Широкоэкранный</PresentationFormat>
  <Paragraphs>192</Paragraphs>
  <Slides>37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Arial</vt:lpstr>
      <vt:lpstr>Calibri</vt:lpstr>
      <vt:lpstr>Lato Light</vt:lpstr>
      <vt:lpstr>Montserrat</vt:lpstr>
      <vt:lpstr>Montserrat Medium</vt:lpstr>
      <vt:lpstr>Poppins Light</vt:lpstr>
      <vt:lpstr>Wingdings</vt:lpstr>
      <vt:lpstr>Для Академия инноваторов 16_9</vt:lpstr>
      <vt:lpstr>Презентация PowerPoint</vt:lpstr>
      <vt:lpstr>ВВОДНЫЕ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Полезные материалы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Microsoft Office User</cp:lastModifiedBy>
  <cp:revision>95</cp:revision>
  <dcterms:created xsi:type="dcterms:W3CDTF">2023-05-15T07:36:23Z</dcterms:created>
  <dcterms:modified xsi:type="dcterms:W3CDTF">2026-09-14T11:14:59Z</dcterms:modified>
</cp:coreProperties>
</file>