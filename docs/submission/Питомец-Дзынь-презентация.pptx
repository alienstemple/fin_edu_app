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74" r:id="rId18"/>
    <p:sldId id="373" r:id="rId15"/>
    <p:sldId id="260" r:id="rId19"/>
    <p:sldId id="262" r:id="rId21"/>
    <p:sldId id="272" r:id="rId30"/>
    <p:sldId id="268" r:id="rId25"/>
    <p:sldId id="371" r:id="rId17"/>
    <p:sldId id="364" r:id="rId11"/>
    <p:sldId id="261" r:id="rId20"/>
    <p:sldId id="369" r:id="rId1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5" Type="http://schemas.openxmlformats.org/officeDocument/2006/relationships/slide" Target="slides/slide24.xml"/><Relationship Id="rId30" Type="http://schemas.openxmlformats.org/officeDocument/2006/relationships/slide" Target="slides/slide29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2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830.jpg"/><Relationship Id="rId5" Type="http://schemas.openxmlformats.org/officeDocument/2006/relationships/image" Target="../media/image828.jpg"/><Relationship Id="rId6" Type="http://schemas.openxmlformats.org/officeDocument/2006/relationships/image" Target="../media/image831.jpg"/><Relationship Id="rId7" Type="http://schemas.openxmlformats.org/officeDocument/2006/relationships/image" Target="../media/image829.jp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ПИТОМЕЦ ДЗЫНЬ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ontserrat"/>
              </a:rPr>
              <a:t>Android-игра по финансовой грамотности для детей 7–11 лет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Задача Департамента финансов города Москвы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ontserrat"/>
              </a:rPr>
              <a:t>Конкурс «Лидеры цифровой трансформации 2026»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ontserrat"/>
              </a:rPr>
              <a:t>Версия 1.0.0 · 29.09.2026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Бюджет — не урок, а забота о питомце: каждый мешочек связан со своим показателем, ошибка — сюжет, а не проигрыш. Работает без интернета, денег и персональных данных.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[ФИО, специальность]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[N]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Разработка с AI-агентами (Claude Code, Codex)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[город]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3200" b="1">
                <a:solidFill>
                  <a:srgbClr val="310F53"/>
                </a:solidFill>
              </a:rPr>
              <a:t>Питомец Дзынь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Ребёнок каждую неделю раскладывает 300 дзынек по трём мешочкам — «Нужное», «Хочу», «Копилка» — и видит, как его решения меняют состояние и рост питомца Дзыня.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512064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Ограничения и план развития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Цели идут по порядку; покупки хранятся суммами по мешочкам; предметы уголка без анимации; у Дзыня эмоции, но нет отдельных поз.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Ограничения версии 1.0.0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Режим 12–17 лет, больше заданий про мошенников, планшеты, публикация в RuStore.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Развитие</a:t>
            </a:r>
            <a:br>
              <a:rPr lang="ru-RU" b="1" dirty="0">
                <a:solidFill>
                  <a:schemeClr val="accent5"/>
                </a:solidFill>
              </a:rPr>
            </a:b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Выбор своей цели, анимированный уголок и позы Дзыня, озвучка реплик, «Книга тёплых дел», стикеры-достижения.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Ближайший план</a:t>
            </a:r>
            <a:br>
              <a:rPr lang="ru-RU" b="1" dirty="0">
                <a:solidFill>
                  <a:schemeClr val="accent5"/>
                </a:solidFill>
              </a:rPr>
            </a:b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r>
              <a:rPr sz="1800">
                <a:solidFill>
                  <a:srgbClr val="1C1D22"/>
                </a:solidFill>
              </a:rPr>
              <a:t>Питомец Дзынь — про деньги просто и без стыда.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800">
                <a:solidFill>
                  <a:srgbClr val="1C1D22"/>
                </a:solidFill>
              </a:rPr>
              <a:t>Каждая неделя — план, решения, итоги и рост питомца.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800">
                <a:solidFill>
                  <a:srgbClr val="1C1D22"/>
                </a:solidFill>
              </a:rPr>
              <a:t>[ФИО, контакты]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>
                <a:solidFill>
                  <a:srgbClr val="310F53"/>
                </a:solidFill>
              </a:rPr>
              <a:t>Спасибо!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>
                <a:solidFill>
                  <a:srgbClr val="310F53"/>
                </a:solidFill>
              </a:rPr>
              <a:t>Почему механика питомца учит</a:t>
            </a:r>
            <a:endParaRPr lang="ru-RU" sz="2000" dirty="0">
              <a:solidFill>
                <a:schemeClr val="accent5"/>
              </a:solidFill>
            </a:endParaRPr>
          </a:p>
        </p:txBody>
      </p:sp>
      <p:pic>
        <p:nvPicPr>
          <p:cNvPr id="4" name="Рисунок 3" descr="11_feedback.png.jp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24934" b="24934"/>
          <a:stretch>
            <a:fillRect/>
          </a:stretch>
        </p:blipFill>
        <p:spPr/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r>
              <a:rPr sz="1500">
                <a:solidFill>
                  <a:srgbClr val="1C1D22"/>
                </a:solidFill>
              </a:rPr>
              <a:t>Три мешочка = три показателя: Нужное → Заряд, Хочу → Вайб, Копилка → Спокойствие. Связь решения и состояния видна сразу.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500">
                <a:solidFill>
                  <a:srgbClr val="1C1D22"/>
                </a:solidFill>
              </a:rPr>
              <a:t>Рост зависит от недели решений: план, закрытое Нужное, отложенное, задание. Опыт не отнимается.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500">
                <a:solidFill>
                  <a:srgbClr val="1C1D22"/>
                </a:solidFill>
              </a:rPr>
              <a:t>Накопленное становится вещами в уголке питомца — цель ощутима.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500">
                <a:solidFill>
                  <a:srgbClr val="1C1D22"/>
                </a:solidFill>
              </a:rPr>
              <a:t>Ошибка — сюжет: «Не хватает 40 дзынек» и три выхода вместо «нельзя».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500">
                <a:solidFill>
                  <a:srgbClr val="1C1D22"/>
                </a:solidFill>
              </a:rPr>
              <a:t>Два голоса: питомец говорит о чувствах, приложение объясняет одной фразой.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sz="1600" b="1">
                <a:solidFill>
                  <a:srgbClr val="310F53"/>
                </a:solidFill>
              </a:rPr>
              <a:t>Шаги сценария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 sz="1300">
                <a:solidFill>
                  <a:srgbClr val="1C1D22"/>
                </a:solidFill>
              </a:rPr>
              <a:t>Приложение А пройдено e2e-тестом и вручную на телефоне POCO C71 (3 ГБ ОЗУ)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sz="1600" b="1">
                <a:solidFill>
                  <a:srgbClr val="310F53"/>
                </a:solidFill>
              </a:rPr>
              <a:t>Покрытие логики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 sz="1300">
                <a:solidFill>
                  <a:srgbClr val="1C1D22"/>
                </a:solidFill>
              </a:rPr>
              <a:t>ViewModel 97%, игровая экономика и данные — почти полностью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sz="1600" b="1">
                <a:solidFill>
                  <a:srgbClr val="310F53"/>
                </a:solidFill>
              </a:rPr>
              <a:t>Холодный старт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 sz="1300">
                <a:solidFill>
                  <a:srgbClr val="1C1D22"/>
                </a:solidFill>
              </a:rPr>
              <a:t>Релизная сборка; требование ТЗ — до 5 секунд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sz="1600" b="1">
                <a:solidFill>
                  <a:srgbClr val="310F53"/>
                </a:solidFill>
              </a:rPr>
              <a:t>Доступность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 sz="1300">
                <a:solidFill>
                  <a:srgbClr val="1C1D22"/>
                </a:solidFill>
              </a:rPr>
              <a:t>Узкий экран, шрифт ×1,3, крупный шрифт, спокойный режим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Тестирование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2194560" cy="423628"/>
          </a:xfrm>
        </p:spPr>
        <p:txBody>
          <a:bodyPr/>
          <a:lstStyle/>
          <a:p>
            <a:r>
              <a:rPr sz="2600" b="1">
                <a:solidFill>
                  <a:srgbClr val="FF0053"/>
                </a:solidFill>
              </a:rPr>
              <a:t>12/12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2194560" cy="403756"/>
          </a:xfrm>
        </p:spPr>
        <p:txBody>
          <a:bodyPr/>
          <a:lstStyle/>
          <a:p>
            <a:r>
              <a:rPr sz="2600" b="1">
                <a:solidFill>
                  <a:srgbClr val="FF0053"/>
                </a:solidFill>
              </a:rPr>
              <a:t>97%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2194560" cy="403913"/>
          </a:xfrm>
        </p:spPr>
        <p:txBody>
          <a:bodyPr/>
          <a:lstStyle/>
          <a:p>
            <a:r>
              <a:rPr sz="2600" b="1">
                <a:solidFill>
                  <a:srgbClr val="FF0053"/>
                </a:solidFill>
              </a:rPr>
              <a:t>0,6 с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2194560" cy="423628"/>
          </a:xfrm>
        </p:spPr>
        <p:txBody>
          <a:bodyPr/>
          <a:lstStyle/>
          <a:p>
            <a:r>
              <a:rPr sz="2600" b="1">
                <a:solidFill>
                  <a:srgbClr val="FF0053"/>
                </a:solidFill>
              </a:rPr>
              <a:t>360dp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Проблема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r>
              <a:rPr sz="1400">
                <a:solidFill>
                  <a:srgbClr val="1C1D22"/>
                </a:solidFill>
              </a:rPr>
              <a:t>Карманные деньги есть, навыка нет: всё уходит на «хочу», копить скучно, реклама и мошенники давят срочностью. Уроки о деньгах не дают практики.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Аудитория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r>
              <a:rPr sz="1400">
                <a:solidFill>
                  <a:srgbClr val="1C1D22"/>
                </a:solidFill>
              </a:rPr>
              <a:t>Дети 7–11 лет — играют сами, без регистрации. Родители — видят прогресс и темы для разговора в разделе для взрослого.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Результаты по рамке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r>
              <a:rPr sz="1400">
                <a:solidFill>
                  <a:srgbClr val="1C1D22"/>
                </a:solidFill>
              </a:rPr>
              <a:t>Различать обязательные и желаемые расходы, планировать бюджет, ставить цель и считать срок, распознавать рекламу и мошенников, оценивать свои решения.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>
                <a:solidFill>
                  <a:srgbClr val="310F53"/>
                </a:solidFill>
              </a:rPr>
              <a:t>Проблема, аудитория, результаты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sz="2800" b="1">
                <a:solidFill>
                  <a:srgbClr val="FF0053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sz="2800" b="1">
                <a:solidFill>
                  <a:srgbClr val="FF0053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sz="2800" b="1">
                <a:solidFill>
                  <a:srgbClr val="FF0053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64008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Путь пользователя и игровая экономика</a:t>
            </a:r>
            <a:endParaRPr lang="ru-RU" dirty="0"/>
          </a:p>
        </p:txBody>
      </p:sp>
      <p:sp>
        <p:nvSpPr>
          <p:cNvPr id="24" name="Rounded Rectangle 23"/>
          <p:cNvSpPr/>
          <p:nvPr/>
        </p:nvSpPr>
        <p:spPr>
          <a:xfrm>
            <a:off x="457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1965960"/>
            <a:ext cx="18287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53"/>
                </a:solidFill>
                <a:latin typeface="Montserrat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69748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Доход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474720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300 дзынек в неделю, награды за задания, бонус взрослого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578608" y="315468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1965960"/>
            <a:ext cx="18287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53"/>
                </a:solidFill>
                <a:latin typeface="Montserrat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269748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План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474720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Разложить доход по трём мешочкам строго до нуля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864607" y="315468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1965960"/>
            <a:ext cx="18287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53"/>
                </a:solidFill>
                <a:latin typeface="Montserrat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269748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Решения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3474720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Покупки, «Подожду», копилка и цели, задания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150607" y="315468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1965960"/>
            <a:ext cx="18287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269748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Обратная связь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3474720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Что изменилось → почему → что дальше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436608" y="315468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601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60" y="1965960"/>
            <a:ext cx="18287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53"/>
                </a:solidFill>
                <a:latin typeface="Montserrat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269748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Итоги недели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3474720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План против факта, опыт, звёздочка, рост стадии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10F53"/>
                </a:solidFill>
                <a:latin typeface="Montserrat"/>
              </a:rPr>
              <a:t>Цикл повторяется 5 недель сюжета; в демо-режиме неделя закрывается сразу. Остатки уходят в копилку — ничего не пропадает, опыт и вещи в уголке не отнимаются.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r>
              <a:rPr sz="1600">
                <a:solidFill>
                  <a:srgbClr val="1C1D22"/>
                </a:solidFill>
              </a:rPr>
              <a:t>Репозиторий: [ссылка], тег v1.0.0</a:t>
            </a:r>
            <a:endParaRPr lang="ru-RU" dirty="0">
              <a:solidFill>
                <a:schemeClr val="tx1"/>
              </a:solidFill>
            </a:endParaRPr>
          </a:p>
          <a:p>
            <a:r>
              <a:rPr sz="1600">
                <a:solidFill>
                  <a:srgbClr val="1C1D22"/>
                </a:solidFill>
              </a:rPr>
              <a:t>Сборка APK: [ссылка на app-release.apk]</a:t>
            </a:r>
            <a:endParaRPr lang="ru-RU" dirty="0">
              <a:solidFill>
                <a:schemeClr val="tx1"/>
              </a:solidFill>
            </a:endParaRPr>
          </a:p>
          <a:p>
            <a:r>
              <a:rPr sz="1600">
                <a:solidFill>
                  <a:srgbClr val="1C1D22"/>
                </a:solidFill>
              </a:rPr>
              <a:t>Документация: README и docs/submission (DOCX, PDF)</a:t>
            </a:r>
            <a:endParaRPr lang="ru-RU" dirty="0">
              <a:solidFill>
                <a:schemeClr val="tx1"/>
              </a:solidFill>
            </a:endParaRPr>
          </a:p>
          <a:p>
            <a:r>
              <a:rPr sz="1600">
                <a:solidFill>
                  <a:srgbClr val="1C1D22"/>
                </a:solidFill>
              </a:rPr>
              <a:t>Видео демонстрации: [ссылка на demo-backup.mp4]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r>
              <a:t>Ссылки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585216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sz="1400">
                <a:solidFill>
                  <a:srgbClr val="1C1D22"/>
                </a:solidFill>
              </a:rPr>
              <a:t>Знакомство и локальный профиль, питомец 3 × 3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Главный: баланс, копилка, цель, показатели, задание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План недели по трём мешочкам, план против факта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Магазин: 16 товаров двух типов, нехватка без минуса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Копилка: 4 цели, срок, снятие с превью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6 заданий по 3 темам, включая «Это мошенники?»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Итоги недели, 3 стадии роста, «Полезное»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Раздел для взрослого, сброс, демо-режим 5 недель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rgbClr val="310F53"/>
                </a:solidFill>
              </a:rPr>
              <a:t>Нет реальных денег, платежей и внутриигровых покупок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rgbClr val="310F53"/>
                </a:solidFill>
              </a:rPr>
              <a:t>Нет рекламы, чатов и рейтингов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rgbClr val="310F53"/>
                </a:solidFill>
              </a:rPr>
              <a:t>Нет персональных данных и разрешений Android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rgbClr val="310F53"/>
                </a:solidFill>
              </a:rPr>
              <a:t>Работает полностью без интернета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rgbClr val="310F53"/>
                </a:solidFill>
              </a:rPr>
              <a:t>Нет проигрыша: питомец не болеет и не умирает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Обязательные функции и границы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58521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Архитектура</a:t>
            </a:r>
            <a:endParaRPr lang="ru-RU" dirty="0">
              <a:solidFill>
                <a:schemeClr val="tx1"/>
              </a:solidFill>
            </a:endParaRPr>
          </a:p>
          <a:p>
            <a:r>
              <a:rPr sz="1400">
                <a:solidFill>
                  <a:srgbClr val="1C1D22"/>
                </a:solidFill>
              </a:rPr>
              <a:t>Kotlin, Jetpack Compose, Hilt, Navigation. 10 фич × domain / data / ui; игровые правила — чистый Kotlin, готов к Kotlin Multiplatform.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Данные</a:t>
            </a:r>
            <a:endParaRPr lang="ru-RU" dirty="0">
              <a:solidFill>
                <a:schemeClr val="tx1"/>
              </a:solidFill>
            </a:endParaRPr>
          </a:p>
          <a:p>
            <a:r>
              <a:rPr sz="1400">
                <a:solidFill>
                  <a:srgbClr val="1C1D22"/>
                </a:solidFill>
              </a:rPr>
              <a:t>Профиль — один JSON в DataStore на устройстве. Сервера и интернета нет, повреждённый файл не ломает игру.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Контент</a:t>
            </a:r>
            <a:endParaRPr lang="ru-RU">
              <a:solidFill>
                <a:schemeClr val="tx1"/>
              </a:solidFill>
            </a:endParaRPr>
          </a:p>
          <a:p>
            <a:r>
              <a:rPr sz="1400">
                <a:solidFill>
                  <a:srgbClr val="1C1D22"/>
                </a:solidFill>
              </a:rPr>
              <a:t>Товары, цели, задания, сюжет, «Полезное», статьи — JSON в assets. Новое задание — новая запись без правки кода.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Архитектура, стек, данные и контент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40233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2" name="Рисунок 1" descr="05_plan.png.jp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2789" b="2789"/>
          <a:stretch>
            <a:fillRect/>
          </a:stretch>
        </p:blipFill>
        <p:spPr/>
      </p:pic>
      <p:pic>
        <p:nvPicPr>
          <p:cNvPr id="3" name="Рисунок 2" descr="12_shortage.png.jpg"/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t="2789" b="2789"/>
          <a:stretch>
            <a:fillRect/>
          </a:stretch>
        </p:blipFill>
        <p:spPr/>
      </p:pic>
      <p:pic>
        <p:nvPicPr>
          <p:cNvPr id="4" name="Рисунок 3" descr="11_feedback.png.jpg"/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t="2789" b="2789"/>
          <a:stretch>
            <a:fillRect/>
          </a:stretch>
        </p:blipFill>
        <p:spPr/>
      </p:pic>
      <p:pic>
        <p:nvPicPr>
          <p:cNvPr id="5" name="Рисунок 4" descr="09_scam_review.png.jpg"/>
          <p:cNvPicPr>
            <a:picLocks noGrp="1" noChangeAspect="1"/>
          </p:cNvPicPr>
          <p:nvPr>
            <p:ph type="pic" sz="quarter" idx="17"/>
          </p:nvPr>
        </p:nvPicPr>
        <p:blipFill>
          <a:blip r:embed="rId7"/>
          <a:srcRect t="2789" b="2789"/>
          <a:stretch>
            <a:fillRect/>
          </a:stretch>
        </p:blipFill>
        <p:spPr/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/>
          <a:lstStyle/>
          <a:p>
            <a:r>
              <a:rPr sz="1200">
                <a:solidFill>
                  <a:srgbClr val="1C1D22"/>
                </a:solidFill>
              </a:rPr>
              <a:t>Главный: Дзынь в уголке, вокруг — пузырьки; звук и мелодии разделов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/>
          <a:lstStyle/>
          <a:p>
            <a:r>
              <a:rPr sz="1200">
                <a:solidFill>
                  <a:srgbClr val="1C1D22"/>
                </a:solidFill>
              </a:rPr>
              <a:t>Нехватка — три равных выхода, без «нельзя»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/>
          <a:lstStyle/>
          <a:p>
            <a:r>
              <a:rPr sz="1200">
                <a:solidFill>
                  <a:srgbClr val="1C1D22"/>
                </a:solidFill>
              </a:rPr>
              <a:t>Живой Дзынь: дышит, моргает, 7 эмоций, 3 × 3 облика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/>
          <a:lstStyle/>
          <a:p>
            <a:r>
              <a:rPr sz="1200">
                <a:solidFill>
                  <a:srgbClr val="1C1D22"/>
                </a:solidFill>
              </a:rPr>
              <a:t>Разбор признаков мошенничества после любого ответа</a:t>
            </a:r>
            <a:endParaRPr lang="ru-RU">
              <a:solidFill>
                <a:schemeClr val="accent5"/>
              </a:solidFill>
              <a:latin typeface="+mj-lt"/>
            </a:endParaRPr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1250022-45D9-F12D-3C47-EF28765F4C31}"/>
              </a:ext>
            </a:extLst>
          </p:cNvPr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>
              <a:extLst>
                <a:ext uri="{FF2B5EF4-FFF2-40B4-BE49-F238E27FC236}">
                  <a16:creationId xmlns:a16="http://schemas.microsoft.com/office/drawing/2014/main" id="{24AEA150-DD4F-B078-FF83-FEE03143696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4" name="Полилиния: фигура 14">
              <a:extLst>
                <a:ext uri="{FF2B5EF4-FFF2-40B4-BE49-F238E27FC236}">
                  <a16:creationId xmlns:a16="http://schemas.microsoft.com/office/drawing/2014/main" id="{99E94FA1-5BB5-0D58-4BBD-DE5C76358423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5" name="Полилиния: фигура 15">
              <a:extLst>
                <a:ext uri="{FF2B5EF4-FFF2-40B4-BE49-F238E27FC236}">
                  <a16:creationId xmlns:a16="http://schemas.microsoft.com/office/drawing/2014/main" id="{EC571396-05D0-35C1-5295-C7D257F4D92F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6">
              <a:extLst>
                <a:ext uri="{FF2B5EF4-FFF2-40B4-BE49-F238E27FC236}">
                  <a16:creationId xmlns:a16="http://schemas.microsoft.com/office/drawing/2014/main" id="{9B732ADF-E9DA-13D4-42DD-BC54854010DA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7">
              <a:extLst>
                <a:ext uri="{FF2B5EF4-FFF2-40B4-BE49-F238E27FC236}">
                  <a16:creationId xmlns:a16="http://schemas.microsoft.com/office/drawing/2014/main" id="{0678F81A-528D-A550-D258-6BBE42EEC68D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8">
              <a:extLst>
                <a:ext uri="{FF2B5EF4-FFF2-40B4-BE49-F238E27FC236}">
                  <a16:creationId xmlns:a16="http://schemas.microsoft.com/office/drawing/2014/main" id="{25414295-E7C9-1A32-CA87-C03CF520D7C8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9">
              <a:extLst>
                <a:ext uri="{FF2B5EF4-FFF2-40B4-BE49-F238E27FC236}">
                  <a16:creationId xmlns:a16="http://schemas.microsoft.com/office/drawing/2014/main" id="{E8A820F9-852B-9D6F-4958-7115D82B78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20">
              <a:extLst>
                <a:ext uri="{FF2B5EF4-FFF2-40B4-BE49-F238E27FC236}">
                  <a16:creationId xmlns:a16="http://schemas.microsoft.com/office/drawing/2014/main" id="{A1CF9CF3-386D-EAF7-4826-6711831475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21">
              <a:extLst>
                <a:ext uri="{FF2B5EF4-FFF2-40B4-BE49-F238E27FC236}">
                  <a16:creationId xmlns:a16="http://schemas.microsoft.com/office/drawing/2014/main" id="{96508A4E-34F4-C72C-8A4A-3D35D6C3DB3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22">
              <a:extLst>
                <a:ext uri="{FF2B5EF4-FFF2-40B4-BE49-F238E27FC236}">
                  <a16:creationId xmlns:a16="http://schemas.microsoft.com/office/drawing/2014/main" id="{51EB21C3-71D0-415B-6856-697384359B8F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23">
              <a:extLst>
                <a:ext uri="{FF2B5EF4-FFF2-40B4-BE49-F238E27FC236}">
                  <a16:creationId xmlns:a16="http://schemas.microsoft.com/office/drawing/2014/main" id="{0466A1BA-47FF-C618-565D-0CBFDCEEC700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24">
              <a:extLst>
                <a:ext uri="{FF2B5EF4-FFF2-40B4-BE49-F238E27FC236}">
                  <a16:creationId xmlns:a16="http://schemas.microsoft.com/office/drawing/2014/main" id="{75E55049-DE9B-98AC-BB13-FCA1570B68F3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25">
              <a:extLst>
                <a:ext uri="{FF2B5EF4-FFF2-40B4-BE49-F238E27FC236}">
                  <a16:creationId xmlns:a16="http://schemas.microsoft.com/office/drawing/2014/main" id="{CF905F48-77CA-03E7-97ED-1F92F9A828BD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26">
              <a:extLst>
                <a:ext uri="{FF2B5EF4-FFF2-40B4-BE49-F238E27FC236}">
                  <a16:creationId xmlns:a16="http://schemas.microsoft.com/office/drawing/2014/main" id="{CEBF0B75-055D-4965-772F-47AD1E433B6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27">
              <a:extLst>
                <a:ext uri="{FF2B5EF4-FFF2-40B4-BE49-F238E27FC236}">
                  <a16:creationId xmlns:a16="http://schemas.microsoft.com/office/drawing/2014/main" id="{F00C9732-1E60-E852-DA70-EE392525EF29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28">
              <a:extLst>
                <a:ext uri="{FF2B5EF4-FFF2-40B4-BE49-F238E27FC236}">
                  <a16:creationId xmlns:a16="http://schemas.microsoft.com/office/drawing/2014/main" id="{5AFC5E81-BD49-8854-AE72-7FFF0DE9D257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29">
              <a:extLst>
                <a:ext uri="{FF2B5EF4-FFF2-40B4-BE49-F238E27FC236}">
                  <a16:creationId xmlns:a16="http://schemas.microsoft.com/office/drawing/2014/main" id="{476EA956-DA6E-38F4-E41E-39CD4275DD9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30">
              <a:extLst>
                <a:ext uri="{FF2B5EF4-FFF2-40B4-BE49-F238E27FC236}">
                  <a16:creationId xmlns:a16="http://schemas.microsoft.com/office/drawing/2014/main" id="{38BA4330-968A-CD08-C32A-1AB62BA4060E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31">
              <a:extLst>
                <a:ext uri="{FF2B5EF4-FFF2-40B4-BE49-F238E27FC236}">
                  <a16:creationId xmlns:a16="http://schemas.microsoft.com/office/drawing/2014/main" id="{139C8CA0-F4D9-106C-2539-EAC9FFE03A98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42" name="Рисунок 141">
              <a:extLst>
                <a:ext uri="{FF2B5EF4-FFF2-40B4-BE49-F238E27FC236}">
                  <a16:creationId xmlns:a16="http://schemas.microsoft.com/office/drawing/2014/main" id="{B710F069-E351-BE87-1018-2661A76A8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>
              <a:extLst>
                <a:ext uri="{FF2B5EF4-FFF2-40B4-BE49-F238E27FC236}">
                  <a16:creationId xmlns:a16="http://schemas.microsoft.com/office/drawing/2014/main" id="{71E4939B-0E00-8909-8012-C8043D8DCAD7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34">
              <a:extLst>
                <a:ext uri="{FF2B5EF4-FFF2-40B4-BE49-F238E27FC236}">
                  <a16:creationId xmlns:a16="http://schemas.microsoft.com/office/drawing/2014/main" id="{5C4DB02A-9E60-644A-BD04-122262EA9C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35">
              <a:extLst>
                <a:ext uri="{FF2B5EF4-FFF2-40B4-BE49-F238E27FC236}">
                  <a16:creationId xmlns:a16="http://schemas.microsoft.com/office/drawing/2014/main" id="{A8C103F3-04F0-28A6-D985-85A41641334F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36">
              <a:extLst>
                <a:ext uri="{FF2B5EF4-FFF2-40B4-BE49-F238E27FC236}">
                  <a16:creationId xmlns:a16="http://schemas.microsoft.com/office/drawing/2014/main" id="{672B7A39-41AC-BB07-5409-21F650DF0E89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6F6876AF-B1D2-D1B1-91CC-C9E4B6B41445}"/>
              </a:ext>
            </a:extLst>
          </p:cNvPr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>
              <a:extLst>
                <a:ext uri="{FF2B5EF4-FFF2-40B4-BE49-F238E27FC236}">
                  <a16:creationId xmlns:a16="http://schemas.microsoft.com/office/drawing/2014/main" id="{E8AC8241-89F5-74DB-F469-C2BA9BE0C024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9" name="Полилиния: фигура 14">
              <a:extLst>
                <a:ext uri="{FF2B5EF4-FFF2-40B4-BE49-F238E27FC236}">
                  <a16:creationId xmlns:a16="http://schemas.microsoft.com/office/drawing/2014/main" id="{84434B8C-47C7-6BE9-D4B7-0B893BCC5BD5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0" name="Полилиния: фигура 15">
              <a:extLst>
                <a:ext uri="{FF2B5EF4-FFF2-40B4-BE49-F238E27FC236}">
                  <a16:creationId xmlns:a16="http://schemas.microsoft.com/office/drawing/2014/main" id="{5263283D-705A-5613-18ED-E80BDE52AFCA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6">
              <a:extLst>
                <a:ext uri="{FF2B5EF4-FFF2-40B4-BE49-F238E27FC236}">
                  <a16:creationId xmlns:a16="http://schemas.microsoft.com/office/drawing/2014/main" id="{744D4512-D838-3AD8-499E-05E6B87490C1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7">
              <a:extLst>
                <a:ext uri="{FF2B5EF4-FFF2-40B4-BE49-F238E27FC236}">
                  <a16:creationId xmlns:a16="http://schemas.microsoft.com/office/drawing/2014/main" id="{57B1D57F-7138-34E6-ADEF-6E34A735ABB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8">
              <a:extLst>
                <a:ext uri="{FF2B5EF4-FFF2-40B4-BE49-F238E27FC236}">
                  <a16:creationId xmlns:a16="http://schemas.microsoft.com/office/drawing/2014/main" id="{F820A8CD-CB50-CF85-631E-0D2ABB0DA0AE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9">
              <a:extLst>
                <a:ext uri="{FF2B5EF4-FFF2-40B4-BE49-F238E27FC236}">
                  <a16:creationId xmlns:a16="http://schemas.microsoft.com/office/drawing/2014/main" id="{E04E2701-FE1E-5CC3-36AF-B4B9D29FD242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20">
              <a:extLst>
                <a:ext uri="{FF2B5EF4-FFF2-40B4-BE49-F238E27FC236}">
                  <a16:creationId xmlns:a16="http://schemas.microsoft.com/office/drawing/2014/main" id="{8CD1AA2D-A392-D1E3-DF78-0AEA26501D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21">
              <a:extLst>
                <a:ext uri="{FF2B5EF4-FFF2-40B4-BE49-F238E27FC236}">
                  <a16:creationId xmlns:a16="http://schemas.microsoft.com/office/drawing/2014/main" id="{2C59B60B-FC7B-96E9-43B4-E6248B35E7F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22">
              <a:extLst>
                <a:ext uri="{FF2B5EF4-FFF2-40B4-BE49-F238E27FC236}">
                  <a16:creationId xmlns:a16="http://schemas.microsoft.com/office/drawing/2014/main" id="{C1F8F87E-2226-19FB-7129-485EFF2952F3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23">
              <a:extLst>
                <a:ext uri="{FF2B5EF4-FFF2-40B4-BE49-F238E27FC236}">
                  <a16:creationId xmlns:a16="http://schemas.microsoft.com/office/drawing/2014/main" id="{19CF104F-7F1A-9575-3974-58D1C393CB8C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24">
              <a:extLst>
                <a:ext uri="{FF2B5EF4-FFF2-40B4-BE49-F238E27FC236}">
                  <a16:creationId xmlns:a16="http://schemas.microsoft.com/office/drawing/2014/main" id="{08D91672-4E5C-7BA4-1CE5-A30F3A8D8B90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25">
              <a:extLst>
                <a:ext uri="{FF2B5EF4-FFF2-40B4-BE49-F238E27FC236}">
                  <a16:creationId xmlns:a16="http://schemas.microsoft.com/office/drawing/2014/main" id="{0E644CEA-C8F9-E939-4113-FFB9CC6A10CB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26">
              <a:extLst>
                <a:ext uri="{FF2B5EF4-FFF2-40B4-BE49-F238E27FC236}">
                  <a16:creationId xmlns:a16="http://schemas.microsoft.com/office/drawing/2014/main" id="{A9463AC2-3CBD-AD7F-C2FC-3E6B8898F61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7">
              <a:extLst>
                <a:ext uri="{FF2B5EF4-FFF2-40B4-BE49-F238E27FC236}">
                  <a16:creationId xmlns:a16="http://schemas.microsoft.com/office/drawing/2014/main" id="{A0B742DC-234C-DFDF-1731-F5483C135F77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5E8F4E-2D3F-0442-68E4-45516C2C0F7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EC3523CB-F469-D234-C98C-68A35D5DC1EE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0">
              <a:extLst>
                <a:ext uri="{FF2B5EF4-FFF2-40B4-BE49-F238E27FC236}">
                  <a16:creationId xmlns:a16="http://schemas.microsoft.com/office/drawing/2014/main" id="{C1E692C9-11C7-FD16-0691-269E9730C0D7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1">
              <a:extLst>
                <a:ext uri="{FF2B5EF4-FFF2-40B4-BE49-F238E27FC236}">
                  <a16:creationId xmlns:a16="http://schemas.microsoft.com/office/drawing/2014/main" id="{8A8BCBC3-F8B9-E268-FA91-BE0B91504CB7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67" name="Рисунок 166">
              <a:extLst>
                <a:ext uri="{FF2B5EF4-FFF2-40B4-BE49-F238E27FC236}">
                  <a16:creationId xmlns:a16="http://schemas.microsoft.com/office/drawing/2014/main" id="{275DD60F-C19A-9738-1499-379E38B89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>
              <a:extLst>
                <a:ext uri="{FF2B5EF4-FFF2-40B4-BE49-F238E27FC236}">
                  <a16:creationId xmlns:a16="http://schemas.microsoft.com/office/drawing/2014/main" id="{0C1A32E6-71CE-D73A-D08C-E614CC7D3E3D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34">
              <a:extLst>
                <a:ext uri="{FF2B5EF4-FFF2-40B4-BE49-F238E27FC236}">
                  <a16:creationId xmlns:a16="http://schemas.microsoft.com/office/drawing/2014/main" id="{F634A189-F19F-9C70-5515-9E924535DC9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35">
              <a:extLst>
                <a:ext uri="{FF2B5EF4-FFF2-40B4-BE49-F238E27FC236}">
                  <a16:creationId xmlns:a16="http://schemas.microsoft.com/office/drawing/2014/main" id="{FEC821A6-0C1B-A5D1-4EE3-7BC96AF6DC8D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36">
              <a:extLst>
                <a:ext uri="{FF2B5EF4-FFF2-40B4-BE49-F238E27FC236}">
                  <a16:creationId xmlns:a16="http://schemas.microsoft.com/office/drawing/2014/main" id="{DCBB9EDB-AF53-F46A-71B2-6496483F87B8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28B88200-E25B-E61C-1E68-2D2C2B01BCE5}"/>
              </a:ext>
            </a:extLst>
          </p:cNvPr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>
              <a:extLst>
                <a:ext uri="{FF2B5EF4-FFF2-40B4-BE49-F238E27FC236}">
                  <a16:creationId xmlns:a16="http://schemas.microsoft.com/office/drawing/2014/main" id="{A9CDA20E-DC0B-7574-8A53-2FE5A69E3137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4" name="Полилиния: фигура 14">
              <a:extLst>
                <a:ext uri="{FF2B5EF4-FFF2-40B4-BE49-F238E27FC236}">
                  <a16:creationId xmlns:a16="http://schemas.microsoft.com/office/drawing/2014/main" id="{C6EDF764-F67B-E72A-96F7-9AD40839714F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5" name="Полилиния: фигура 15">
              <a:extLst>
                <a:ext uri="{FF2B5EF4-FFF2-40B4-BE49-F238E27FC236}">
                  <a16:creationId xmlns:a16="http://schemas.microsoft.com/office/drawing/2014/main" id="{3FAA0615-8C83-2C58-58C1-270E46BD11DD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6">
              <a:extLst>
                <a:ext uri="{FF2B5EF4-FFF2-40B4-BE49-F238E27FC236}">
                  <a16:creationId xmlns:a16="http://schemas.microsoft.com/office/drawing/2014/main" id="{6DA7610E-8695-F698-FBE5-F1EA1A34BCA3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7">
              <a:extLst>
                <a:ext uri="{FF2B5EF4-FFF2-40B4-BE49-F238E27FC236}">
                  <a16:creationId xmlns:a16="http://schemas.microsoft.com/office/drawing/2014/main" id="{C2B0886E-C1A1-F8FB-DE0A-7E00B1A7012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8">
              <a:extLst>
                <a:ext uri="{FF2B5EF4-FFF2-40B4-BE49-F238E27FC236}">
                  <a16:creationId xmlns:a16="http://schemas.microsoft.com/office/drawing/2014/main" id="{F6E82E9D-82A0-F318-F846-F9AA582ADCE6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9">
              <a:extLst>
                <a:ext uri="{FF2B5EF4-FFF2-40B4-BE49-F238E27FC236}">
                  <a16:creationId xmlns:a16="http://schemas.microsoft.com/office/drawing/2014/main" id="{6CD40789-5D3D-6EE9-2675-745C2BDC65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20">
              <a:extLst>
                <a:ext uri="{FF2B5EF4-FFF2-40B4-BE49-F238E27FC236}">
                  <a16:creationId xmlns:a16="http://schemas.microsoft.com/office/drawing/2014/main" id="{158DFE1D-B6C8-7D8D-1E07-17C4E0EEF55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21">
              <a:extLst>
                <a:ext uri="{FF2B5EF4-FFF2-40B4-BE49-F238E27FC236}">
                  <a16:creationId xmlns:a16="http://schemas.microsoft.com/office/drawing/2014/main" id="{D8DEFA81-42B3-5DA3-7630-FDBDF31D670E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22">
              <a:extLst>
                <a:ext uri="{FF2B5EF4-FFF2-40B4-BE49-F238E27FC236}">
                  <a16:creationId xmlns:a16="http://schemas.microsoft.com/office/drawing/2014/main" id="{BB1811A3-3629-FDD8-6775-7826417B17BB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23">
              <a:extLst>
                <a:ext uri="{FF2B5EF4-FFF2-40B4-BE49-F238E27FC236}">
                  <a16:creationId xmlns:a16="http://schemas.microsoft.com/office/drawing/2014/main" id="{0C885996-2D3E-94A9-F80B-759C2B77BEFD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24">
              <a:extLst>
                <a:ext uri="{FF2B5EF4-FFF2-40B4-BE49-F238E27FC236}">
                  <a16:creationId xmlns:a16="http://schemas.microsoft.com/office/drawing/2014/main" id="{7A637849-F366-366B-2B72-613C030A10ED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25">
              <a:extLst>
                <a:ext uri="{FF2B5EF4-FFF2-40B4-BE49-F238E27FC236}">
                  <a16:creationId xmlns:a16="http://schemas.microsoft.com/office/drawing/2014/main" id="{110EFEA7-7F4A-95B8-43B8-6F88654392F3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26">
              <a:extLst>
                <a:ext uri="{FF2B5EF4-FFF2-40B4-BE49-F238E27FC236}">
                  <a16:creationId xmlns:a16="http://schemas.microsoft.com/office/drawing/2014/main" id="{6775B6E1-3AE7-DCB7-993C-A3BB57DEB079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27">
              <a:extLst>
                <a:ext uri="{FF2B5EF4-FFF2-40B4-BE49-F238E27FC236}">
                  <a16:creationId xmlns:a16="http://schemas.microsoft.com/office/drawing/2014/main" id="{A1B076D4-6F0A-6994-8304-90264BE47B6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28">
              <a:extLst>
                <a:ext uri="{FF2B5EF4-FFF2-40B4-BE49-F238E27FC236}">
                  <a16:creationId xmlns:a16="http://schemas.microsoft.com/office/drawing/2014/main" id="{03D70E49-6A46-60F0-235C-230EB8697FFF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29">
              <a:extLst>
                <a:ext uri="{FF2B5EF4-FFF2-40B4-BE49-F238E27FC236}">
                  <a16:creationId xmlns:a16="http://schemas.microsoft.com/office/drawing/2014/main" id="{638DC947-2E6A-E1E4-48C6-C82F296AF48F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30">
              <a:extLst>
                <a:ext uri="{FF2B5EF4-FFF2-40B4-BE49-F238E27FC236}">
                  <a16:creationId xmlns:a16="http://schemas.microsoft.com/office/drawing/2014/main" id="{2133978C-A68D-962F-7B3F-8C121D583304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31">
              <a:extLst>
                <a:ext uri="{FF2B5EF4-FFF2-40B4-BE49-F238E27FC236}">
                  <a16:creationId xmlns:a16="http://schemas.microsoft.com/office/drawing/2014/main" id="{E7337AD2-C975-8EEA-309F-C9BEC7D9B80A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92" name="Рисунок 191">
              <a:extLst>
                <a:ext uri="{FF2B5EF4-FFF2-40B4-BE49-F238E27FC236}">
                  <a16:creationId xmlns:a16="http://schemas.microsoft.com/office/drawing/2014/main" id="{EBC94221-5003-CC9C-1BA6-39584F78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>
              <a:extLst>
                <a:ext uri="{FF2B5EF4-FFF2-40B4-BE49-F238E27FC236}">
                  <a16:creationId xmlns:a16="http://schemas.microsoft.com/office/drawing/2014/main" id="{D717B4FB-A27A-CAA6-3D77-01AD01672953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34">
              <a:extLst>
                <a:ext uri="{FF2B5EF4-FFF2-40B4-BE49-F238E27FC236}">
                  <a16:creationId xmlns:a16="http://schemas.microsoft.com/office/drawing/2014/main" id="{34C8B6EF-76B0-66A8-48F8-451128B8EF5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35">
              <a:extLst>
                <a:ext uri="{FF2B5EF4-FFF2-40B4-BE49-F238E27FC236}">
                  <a16:creationId xmlns:a16="http://schemas.microsoft.com/office/drawing/2014/main" id="{C4E22E47-5653-9FC4-E418-B13F750799A0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36">
              <a:extLst>
                <a:ext uri="{FF2B5EF4-FFF2-40B4-BE49-F238E27FC236}">
                  <a16:creationId xmlns:a16="http://schemas.microsoft.com/office/drawing/2014/main" id="{288CF8AC-8E86-147B-676C-4A0A4618F6E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09B9B184-25F2-7359-333D-5EB9A60B8EFD}"/>
              </a:ext>
            </a:extLst>
          </p:cNvPr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>
              <a:extLst>
                <a:ext uri="{FF2B5EF4-FFF2-40B4-BE49-F238E27FC236}">
                  <a16:creationId xmlns:a16="http://schemas.microsoft.com/office/drawing/2014/main" id="{E3F377FC-00D5-EF59-5B13-016CF3D10D8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9" name="Полилиния: фигура 14">
              <a:extLst>
                <a:ext uri="{FF2B5EF4-FFF2-40B4-BE49-F238E27FC236}">
                  <a16:creationId xmlns:a16="http://schemas.microsoft.com/office/drawing/2014/main" id="{FC792052-29C1-6D35-7F6B-79A599C639D7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0" name="Полилиния: фигура 15">
              <a:extLst>
                <a:ext uri="{FF2B5EF4-FFF2-40B4-BE49-F238E27FC236}">
                  <a16:creationId xmlns:a16="http://schemas.microsoft.com/office/drawing/2014/main" id="{E5A98475-EA25-67D6-4D5F-15BF00331AEB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6">
              <a:extLst>
                <a:ext uri="{FF2B5EF4-FFF2-40B4-BE49-F238E27FC236}">
                  <a16:creationId xmlns:a16="http://schemas.microsoft.com/office/drawing/2014/main" id="{81E5799A-EDA9-923F-4306-CDB07B346B8B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2" name="Полилиния: фигура 17">
              <a:extLst>
                <a:ext uri="{FF2B5EF4-FFF2-40B4-BE49-F238E27FC236}">
                  <a16:creationId xmlns:a16="http://schemas.microsoft.com/office/drawing/2014/main" id="{C8C06C37-DF23-F749-53E7-43DD5F9A34DA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8">
              <a:extLst>
                <a:ext uri="{FF2B5EF4-FFF2-40B4-BE49-F238E27FC236}">
                  <a16:creationId xmlns:a16="http://schemas.microsoft.com/office/drawing/2014/main" id="{18AB0B4B-8AF4-3CED-546E-8A0EDD0343AA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9">
              <a:extLst>
                <a:ext uri="{FF2B5EF4-FFF2-40B4-BE49-F238E27FC236}">
                  <a16:creationId xmlns:a16="http://schemas.microsoft.com/office/drawing/2014/main" id="{A09F4E37-B8CD-2EF9-2BDD-679C42F718DF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20">
              <a:extLst>
                <a:ext uri="{FF2B5EF4-FFF2-40B4-BE49-F238E27FC236}">
                  <a16:creationId xmlns:a16="http://schemas.microsoft.com/office/drawing/2014/main" id="{9D8C252F-C832-C60B-67B3-B6D013188DB3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21">
              <a:extLst>
                <a:ext uri="{FF2B5EF4-FFF2-40B4-BE49-F238E27FC236}">
                  <a16:creationId xmlns:a16="http://schemas.microsoft.com/office/drawing/2014/main" id="{FA7900B1-7A25-63CF-0588-70A25C00B663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22">
              <a:extLst>
                <a:ext uri="{FF2B5EF4-FFF2-40B4-BE49-F238E27FC236}">
                  <a16:creationId xmlns:a16="http://schemas.microsoft.com/office/drawing/2014/main" id="{EFB55E02-77C2-7DAA-FBBD-AAD9F92F0831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23">
              <a:extLst>
                <a:ext uri="{FF2B5EF4-FFF2-40B4-BE49-F238E27FC236}">
                  <a16:creationId xmlns:a16="http://schemas.microsoft.com/office/drawing/2014/main" id="{30535304-E628-32AB-C6BA-19E520C656BF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24">
              <a:extLst>
                <a:ext uri="{FF2B5EF4-FFF2-40B4-BE49-F238E27FC236}">
                  <a16:creationId xmlns:a16="http://schemas.microsoft.com/office/drawing/2014/main" id="{78104E2D-A620-47E2-40F3-A995004EE446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25">
              <a:extLst>
                <a:ext uri="{FF2B5EF4-FFF2-40B4-BE49-F238E27FC236}">
                  <a16:creationId xmlns:a16="http://schemas.microsoft.com/office/drawing/2014/main" id="{8EB92C67-7F68-803C-FB9E-2D13E650E6A1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26">
              <a:extLst>
                <a:ext uri="{FF2B5EF4-FFF2-40B4-BE49-F238E27FC236}">
                  <a16:creationId xmlns:a16="http://schemas.microsoft.com/office/drawing/2014/main" id="{3E0B4E90-F08C-B5ED-761E-838F2F9D531E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27">
              <a:extLst>
                <a:ext uri="{FF2B5EF4-FFF2-40B4-BE49-F238E27FC236}">
                  <a16:creationId xmlns:a16="http://schemas.microsoft.com/office/drawing/2014/main" id="{B6C8B631-B5E5-473B-FD01-2491F51BF4AA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28">
              <a:extLst>
                <a:ext uri="{FF2B5EF4-FFF2-40B4-BE49-F238E27FC236}">
                  <a16:creationId xmlns:a16="http://schemas.microsoft.com/office/drawing/2014/main" id="{380F7E94-40B3-49EA-38A2-A4683915276E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29">
              <a:extLst>
                <a:ext uri="{FF2B5EF4-FFF2-40B4-BE49-F238E27FC236}">
                  <a16:creationId xmlns:a16="http://schemas.microsoft.com/office/drawing/2014/main" id="{F9385ADB-6D1B-C79D-F5BB-B03F408AFC6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30">
              <a:extLst>
                <a:ext uri="{FF2B5EF4-FFF2-40B4-BE49-F238E27FC236}">
                  <a16:creationId xmlns:a16="http://schemas.microsoft.com/office/drawing/2014/main" id="{00D97A09-43D0-4152-831C-C7744B4FE7E6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31">
              <a:extLst>
                <a:ext uri="{FF2B5EF4-FFF2-40B4-BE49-F238E27FC236}">
                  <a16:creationId xmlns:a16="http://schemas.microsoft.com/office/drawing/2014/main" id="{83CFD5B5-DF45-F681-5596-E631C837531E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217" name="Рисунок 216">
              <a:extLst>
                <a:ext uri="{FF2B5EF4-FFF2-40B4-BE49-F238E27FC236}">
                  <a16:creationId xmlns:a16="http://schemas.microsoft.com/office/drawing/2014/main" id="{5AED15A4-4D29-1A14-4213-148543BBC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>
              <a:extLst>
                <a:ext uri="{FF2B5EF4-FFF2-40B4-BE49-F238E27FC236}">
                  <a16:creationId xmlns:a16="http://schemas.microsoft.com/office/drawing/2014/main" id="{D613CEB1-BB3C-206D-6D01-E1CB7887B429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34">
              <a:extLst>
                <a:ext uri="{FF2B5EF4-FFF2-40B4-BE49-F238E27FC236}">
                  <a16:creationId xmlns:a16="http://schemas.microsoft.com/office/drawing/2014/main" id="{69F35FD4-E9E3-2671-1E63-C0ECA01A6C97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6DDAF0B9-15C9-D0FE-7E34-9051A84DDBB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BB968C32-6E31-7C3C-54D5-B0EED92672B1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Ключевые UX/UI-решения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3772060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