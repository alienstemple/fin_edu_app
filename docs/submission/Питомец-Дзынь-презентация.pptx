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4.xml" ContentType="application/vnd.openxmlformats-officedocument.presentationml.slide+xml"/>
  <Override PartName="/ppt/slides/slide2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74" r:id="rId18"/>
    <p:sldId id="373" r:id="rId15"/>
    <p:sldId id="260" r:id="rId19"/>
    <p:sldId id="262" r:id="rId21"/>
    <p:sldId id="272" r:id="rId30"/>
    <p:sldId id="268" r:id="rId25"/>
    <p:sldId id="371" r:id="rId17"/>
    <p:sldId id="364" r:id="rId11"/>
    <p:sldId id="261" r:id="rId20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3" Type="http://schemas.openxmlformats.org/officeDocument/2006/relationships/slide" Target="slides/slide12.xml"/><Relationship Id="rId15" Type="http://schemas.openxmlformats.org/officeDocument/2006/relationships/slide" Target="slides/slide14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5" Type="http://schemas.openxmlformats.org/officeDocument/2006/relationships/slide" Target="slides/slide24.xml"/><Relationship Id="rId30" Type="http://schemas.openxmlformats.org/officeDocument/2006/relationships/slide" Target="slides/slide29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2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Relationship Id="rId6" Type="http://schemas.openxmlformats.org/officeDocument/2006/relationships/image" Target="../media/image826.jpg"/><Relationship Id="rId7" Type="http://schemas.openxmlformats.org/officeDocument/2006/relationships/image" Target="../media/image829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endParaRPr lang="ru-RU" sz="4800" dirty="0"/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ПИТОМЕЦ ДЗЫНЬ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ontserrat"/>
              </a:rPr>
              <a:t>Android-игра по финансовой грамотности для детей 7–11 лет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Задача Департамента финансов города Москвы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Конкурс «Лидеры цифровой трансформации 2026»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Версия 1.0.0 · 29.09.2026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Бюджет — не урок, а забота о питомце: каждый мешочек связан со своим показателем, ошибка — сюжет, а не проигрыш. Работает без интернета, денег и персональных данных.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[ФИО, 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[N]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Разработка с AI-агентами (Claude Code, Codex)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[город]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3200" b="1">
                <a:solidFill>
                  <a:srgbClr val="310F53"/>
                </a:solidFill>
              </a:rPr>
              <a:t>Питомец Дзынь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Ребёнок каждую неделю раскладывает 300 дзынек по трём мешочкам — «Нужное», «Хочу», «Копилка» — и видит, как его решения меняют состояние и рост питомца Дзыня.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512064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Ограничения и план развития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Цели идут по порядку; покупки хранятся суммами по мешочкам; предметы уголка без анимации; у Дзыня эмоции, но нет отдельных поз.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Ограничения версии 1.0.0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Режим 12–17 лет, больше заданий про мошенников, планшеты, публикация в RuStore.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Развитие</a:t>
            </a:r>
            <a:br>
              <a:rPr lang="ru-RU" b="1" dirty="0">
                <a:solidFill>
                  <a:schemeClr val="accent5"/>
                </a:solidFill>
              </a:rPr>
            </a:b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Выбор своей цели, анимированный уголок и позы Дзыня, озвучка реплик, «Книга тёплых дел», стикеры-достижения.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Ближайший план</a:t>
            </a:r>
            <a:br>
              <a:rPr lang="ru-RU" b="1" dirty="0">
                <a:solidFill>
                  <a:schemeClr val="accent5"/>
                </a:solidFill>
              </a:rPr>
            </a:b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800">
                <a:solidFill>
                  <a:srgbClr val="1C1D22"/>
                </a:solidFill>
              </a:rPr>
              <a:t>Питомец Дзынь — про деньги просто и без стыда.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800">
                <a:solidFill>
                  <a:srgbClr val="1C1D22"/>
                </a:solidFill>
              </a:rPr>
              <a:t>Каждая неделя — план, решения, итоги и рост питомца.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800">
                <a:solidFill>
                  <a:srgbClr val="1C1D22"/>
                </a:solidFill>
              </a:rPr>
              <a:t>[ФИО, контакты]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Спасибо!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Почему механика питомца учит</a:t>
            </a:r>
            <a:endParaRPr lang="ru-RU" sz="2000" dirty="0">
              <a:solidFill>
                <a:schemeClr val="accent5"/>
              </a:solidFill>
            </a:endParaRPr>
          </a:p>
        </p:txBody>
      </p:sp>
      <p:pic>
        <p:nvPicPr>
          <p:cNvPr id="4" name="Рисунок 3" descr="11_feedback.png.jp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24934" b="24934"/>
          <a:stretch>
            <a:fillRect/>
          </a:stretch>
        </p:blipFill>
        <p:spPr/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500">
                <a:solidFill>
                  <a:srgbClr val="1C1D22"/>
                </a:solidFill>
              </a:rPr>
              <a:t>Три мешочка = три показателя: Нужное → Заряд, Хочу → Вайб, Копилка → Спокойствие. Связь решения и состояния видна сразу.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500">
                <a:solidFill>
                  <a:srgbClr val="1C1D22"/>
                </a:solidFill>
              </a:rPr>
              <a:t>Рост зависит от недели решений: план, закрытое Нужное, отложенное, задание. Опыт не отнимается.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500">
                <a:solidFill>
                  <a:srgbClr val="1C1D22"/>
                </a:solidFill>
              </a:rPr>
              <a:t>Накопленное становится вещами в уголке питомца — цель ощутима.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500">
                <a:solidFill>
                  <a:srgbClr val="1C1D22"/>
                </a:solidFill>
              </a:rPr>
              <a:t>Ошибка — сюжет: «Не хватает 40 дзынек» и три выхода вместо «нельзя».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500">
                <a:solidFill>
                  <a:srgbClr val="1C1D22"/>
                </a:solidFill>
              </a:rPr>
              <a:t>Два голоса: питомец говорит о чувствах, приложение объясняет одной фразой.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sz="1600" b="1">
                <a:solidFill>
                  <a:srgbClr val="310F53"/>
                </a:solidFill>
              </a:rPr>
              <a:t>Шаги сценария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Приложение А пройдено e2e-тестом и вручную на эмуляторе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sz="1600" b="1">
                <a:solidFill>
                  <a:srgbClr val="310F53"/>
                </a:solidFill>
              </a:rPr>
              <a:t>Покрытие логики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ViewModel 97%, игровая экономика и данные — почти полностью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sz="1600" b="1">
                <a:solidFill>
                  <a:srgbClr val="310F53"/>
                </a:solidFill>
              </a:rPr>
              <a:t>Холодный старт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Релизная сборка; требование ТЗ — до 5 секунд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sz="1600" b="1">
                <a:solidFill>
                  <a:srgbClr val="310F53"/>
                </a:solidFill>
              </a:rPr>
              <a:t>Доступность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r>
              <a:rPr sz="1300">
                <a:solidFill>
                  <a:srgbClr val="1C1D22"/>
                </a:solidFill>
              </a:rPr>
              <a:t>Узкий экран, шрифт ×1,3, крупный шрифт, спокойный режим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Тестирование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2194560" cy="423628"/>
          </a:xfrm>
        </p:spPr>
        <p:txBody>
          <a:bodyPr/>
          <a:lstStyle/>
          <a:p>
            <a:r>
              <a:rPr sz="2600" b="1">
                <a:solidFill>
                  <a:srgbClr val="FF0053"/>
                </a:solidFill>
              </a:rPr>
              <a:t>12/12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2194560" cy="403756"/>
          </a:xfrm>
        </p:spPr>
        <p:txBody>
          <a:bodyPr/>
          <a:lstStyle/>
          <a:p>
            <a:r>
              <a:rPr sz="2600" b="1">
                <a:solidFill>
                  <a:srgbClr val="FF0053"/>
                </a:solidFill>
              </a:rPr>
              <a:t>97%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2194560" cy="403913"/>
          </a:xfrm>
        </p:spPr>
        <p:txBody>
          <a:bodyPr/>
          <a:lstStyle/>
          <a:p>
            <a:r>
              <a:rPr sz="2600" b="1">
                <a:solidFill>
                  <a:srgbClr val="FF0053"/>
                </a:solidFill>
              </a:rPr>
              <a:t>0,6 с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2194560" cy="423628"/>
          </a:xfrm>
        </p:spPr>
        <p:txBody>
          <a:bodyPr/>
          <a:lstStyle/>
          <a:p>
            <a:r>
              <a:rPr sz="2600" b="1">
                <a:solidFill>
                  <a:srgbClr val="FF0053"/>
                </a:solidFill>
              </a:rPr>
              <a:t>360dp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Проблема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 sz="1400">
                <a:solidFill>
                  <a:srgbClr val="1C1D22"/>
                </a:solidFill>
              </a:rPr>
              <a:t>Карманные деньги есть, навыка нет: всё уходит на «хочу», копить скучно, реклама и мошенники давят срочностью. Уроки о деньгах не дают практики.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Аудитория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 sz="1400">
                <a:solidFill>
                  <a:srgbClr val="1C1D22"/>
                </a:solidFill>
              </a:rPr>
              <a:t>Дети 7–11 лет — играют сами, без регистрации. Родители — видят прогресс и темы для разговора в разделе для взрослого.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Результаты по рамке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 sz="1400">
                <a:solidFill>
                  <a:srgbClr val="1C1D22"/>
                </a:solidFill>
              </a:rPr>
              <a:t>Различать обязательные и желаемые расходы, планировать бюджет, ставить цель и считать срок, распознавать рекламу и мошенников, оценивать свои решения.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Проблема, аудитория, результаты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sz="2800" b="1">
                <a:solidFill>
                  <a:srgbClr val="FF0053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sz="2800" b="1">
                <a:solidFill>
                  <a:srgbClr val="FF0053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sz="2800" b="1">
                <a:solidFill>
                  <a:srgbClr val="FF0053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40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Путь пользователя и игровая экономика</a:t>
            </a:r>
            <a:endParaRPr lang="ru-RU" dirty="0"/>
          </a:p>
        </p:txBody>
      </p:sp>
      <p:sp>
        <p:nvSpPr>
          <p:cNvPr id="24" name="Rounded Rectangle 23"/>
          <p:cNvSpPr/>
          <p:nvPr/>
        </p:nvSpPr>
        <p:spPr>
          <a:xfrm>
            <a:off x="457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1965960"/>
            <a:ext cx="18287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0053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697480"/>
            <a:ext cx="18287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10F53"/>
                </a:solidFill>
                <a:latin typeface="Montserrat"/>
              </a:rPr>
              <a:t>Доход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474720"/>
            <a:ext cx="182879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D22"/>
                </a:solidFill>
                <a:latin typeface="Montserrat"/>
              </a:rPr>
              <a:t>300 дзынек в неделю, награды за задания, бонус взрослого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578608" y="315468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43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80360" y="1965960"/>
            <a:ext cx="18287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0053"/>
                </a:solidFill>
                <a:latin typeface="Montserra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2697480"/>
            <a:ext cx="18287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10F53"/>
                </a:solidFill>
                <a:latin typeface="Montserrat"/>
              </a:rPr>
              <a:t>План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3474720"/>
            <a:ext cx="182879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D22"/>
                </a:solidFill>
                <a:latin typeface="Montserrat"/>
              </a:rPr>
              <a:t>Разложить доход по трём мешочкам строго до нуля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4864607" y="315468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60" y="1965960"/>
            <a:ext cx="18287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0053"/>
                </a:solidFill>
                <a:latin typeface="Montserrat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2697480"/>
            <a:ext cx="18287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10F53"/>
                </a:solidFill>
                <a:latin typeface="Montserrat"/>
              </a:rPr>
              <a:t>Решения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60" y="3474720"/>
            <a:ext cx="182879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D22"/>
                </a:solidFill>
                <a:latin typeface="Montserrat"/>
              </a:rPr>
              <a:t>Покупки, «Подожду», копилка и цели, задания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150607" y="315468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52360" y="1965960"/>
            <a:ext cx="18287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0053"/>
                </a:solidFill>
                <a:latin typeface="Montserrat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2360" y="2697480"/>
            <a:ext cx="18287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10F53"/>
                </a:solidFill>
                <a:latin typeface="Montserrat"/>
              </a:rPr>
              <a:t>Обратная связь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52360" y="3474720"/>
            <a:ext cx="182879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D22"/>
                </a:solidFill>
                <a:latin typeface="Montserrat"/>
              </a:rPr>
              <a:t>Что изменилось → почему → что дальше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436608" y="315468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01200" y="1828800"/>
            <a:ext cx="21031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8360" y="1965960"/>
            <a:ext cx="182879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0053"/>
                </a:solidFill>
                <a:latin typeface="Montserrat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8360" y="2697480"/>
            <a:ext cx="182879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10F53"/>
                </a:solidFill>
                <a:latin typeface="Montserrat"/>
              </a:rPr>
              <a:t>Итоги недели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8360" y="3474720"/>
            <a:ext cx="182879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D22"/>
                </a:solidFill>
                <a:latin typeface="Montserrat"/>
              </a:rPr>
              <a:t>План против факта, опыт, звёздочка, рост стадии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10F53"/>
                </a:solidFill>
                <a:latin typeface="Montserrat"/>
              </a:rPr>
              <a:t>Цикл повторяется 5 недель сюжета; в демо-режиме неделя закрывается сразу. Остатки уходят в копилку — ничего не пропадает, опыт и вещи в уголке не отнимаются.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600">
                <a:solidFill>
                  <a:srgbClr val="1C1D22"/>
                </a:solidFill>
              </a:rPr>
              <a:t>Репозиторий: [ссылка], тег v1.0.0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>
                <a:solidFill>
                  <a:srgbClr val="1C1D22"/>
                </a:solidFill>
              </a:rPr>
              <a:t>Сборка APK: [ссылка на app-release.apk]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>
                <a:solidFill>
                  <a:srgbClr val="1C1D22"/>
                </a:solidFill>
              </a:rPr>
              <a:t>Документация: README и docs/submission (DOCX, PDF)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>
                <a:solidFill>
                  <a:srgbClr val="1C1D22"/>
                </a:solidFill>
              </a:rPr>
              <a:t>Видео демонстрации: [ссылка на demo-backup.mp4]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75523" cy="376138"/>
          </a:xfrm>
        </p:spPr>
        <p:txBody>
          <a:bodyPr/>
          <a:lstStyle/>
          <a:p>
            <a:r>
              <a:t>Ссылки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5852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sz="1400">
                <a:solidFill>
                  <a:srgbClr val="1C1D22"/>
                </a:solidFill>
              </a:rPr>
              <a:t>Знакомство и локальный профиль, питомец 3 × 3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Главный: баланс, копилка, цель, показатели, задание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План недели по трём мешочкам, план против факта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Магазин: 16 товаров двух типов, нехватка без минуса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Копилка: 4 цели, срок, снятие с превью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6 заданий по 3 темам, включая «Это мошенники?»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Итоги недели, 3 стадии роста, «Полезное»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400">
                <a:solidFill>
                  <a:srgbClr val="1C1D22"/>
                </a:solidFill>
              </a:rPr>
              <a:t>Раздел для взрослого, сброс, демо-режим 5 недель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400" b="1">
                <a:solidFill>
                  <a:srgbClr val="310F53"/>
                </a:solidFill>
              </a:rPr>
              <a:t>Нет реальных денег, платежей и внутриигровых покупок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400" b="1">
                <a:solidFill>
                  <a:srgbClr val="310F53"/>
                </a:solidFill>
              </a:rPr>
              <a:t>Нет рекламы, чатов и рейтингов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400" b="1">
                <a:solidFill>
                  <a:srgbClr val="310F53"/>
                </a:solidFill>
              </a:rPr>
              <a:t>Нет персональных данных и разрешений Android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400" b="1">
                <a:solidFill>
                  <a:srgbClr val="310F53"/>
                </a:solidFill>
              </a:rPr>
              <a:t>Работает полностью без интернета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400" b="1">
                <a:solidFill>
                  <a:srgbClr val="310F53"/>
                </a:solidFill>
              </a:rPr>
              <a:t>Нет проигрыша: питомец не болеет и не умирает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Обязательные функции и границы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58521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Архитектура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400">
                <a:solidFill>
                  <a:srgbClr val="1C1D22"/>
                </a:solidFill>
              </a:rPr>
              <a:t>Kotlin, Jetpack Compose, Hilt, Navigation. 10 фич × domain / data / ui; игровые правила — чистый Kotlin, готов к Kotlin Multiplatform.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Данные</a:t>
            </a:r>
            <a:endParaRPr lang="ru-RU" dirty="0">
              <a:solidFill>
                <a:schemeClr val="tx1"/>
              </a:solidFill>
            </a:endParaRPr>
          </a:p>
          <a:p>
            <a:r>
              <a:rPr sz="1400">
                <a:solidFill>
                  <a:srgbClr val="1C1D22"/>
                </a:solidFill>
              </a:rPr>
              <a:t>Профиль — один JSON в DataStore на устройстве. Сервера и интернета нет, повреждённый файл не ломает игру.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800" b="1">
                <a:solidFill>
                  <a:srgbClr val="310F53"/>
                </a:solidFill>
              </a:rPr>
              <a:t>Контент</a:t>
            </a:r>
            <a:endParaRPr lang="ru-RU">
              <a:solidFill>
                <a:schemeClr val="tx1"/>
              </a:solidFill>
            </a:endParaRPr>
          </a:p>
          <a:p>
            <a:r>
              <a:rPr sz="1400">
                <a:solidFill>
                  <a:srgbClr val="1C1D22"/>
                </a:solidFill>
              </a:rPr>
              <a:t>Товары, цели, задания, сюжет, «Полезное», статьи — JSON в assets. Новое задание — новая запись без правки кода.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Архитектура, стек, данные и контент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0233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05_plan.png.jp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2789" b="2789"/>
          <a:stretch>
            <a:fillRect/>
          </a:stretch>
        </p:blipFill>
        <p:spPr/>
      </p:pic>
      <p:pic>
        <p:nvPicPr>
          <p:cNvPr id="3" name="Рисунок 2" descr="12_shortage.png.jp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t="2789" b="2789"/>
          <a:stretch>
            <a:fillRect/>
          </a:stretch>
        </p:blipFill>
        <p:spPr/>
      </p:pic>
      <p:pic>
        <p:nvPicPr>
          <p:cNvPr id="4" name="Рисунок 3" descr="11_feedback.png.jp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t="2789" b="2789"/>
          <a:stretch>
            <a:fillRect/>
          </a:stretch>
        </p:blipFill>
        <p:spPr/>
      </p:pic>
      <p:pic>
        <p:nvPicPr>
          <p:cNvPr id="5" name="Рисунок 4" descr="09_scam_review.png.jp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t="2789" b="2789"/>
          <a:stretch>
            <a:fillRect/>
          </a:stretch>
        </p:blipFill>
        <p:spPr/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/>
          <a:lstStyle/>
          <a:p>
            <a:r>
              <a:rPr sz="1200">
                <a:solidFill>
                  <a:srgbClr val="1C1D22"/>
                </a:solidFill>
              </a:rPr>
              <a:t>План до нуля: кнопка оживает, когда всё разложено</a:t>
            </a:r>
            <a:endParaRPr lang="ru-RU" dirty="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/>
          <a:lstStyle/>
          <a:p>
            <a:r>
              <a:rPr sz="1200">
                <a:solidFill>
                  <a:srgbClr val="1C1D22"/>
                </a:solidFill>
              </a:rPr>
              <a:t>Нехватка — три равных выхода, без «нельзя»</a:t>
            </a:r>
            <a:endParaRPr lang="ru-RU" dirty="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/>
          <a:lstStyle/>
          <a:p>
            <a:r>
              <a:rPr sz="1200">
                <a:solidFill>
                  <a:srgbClr val="1C1D22"/>
                </a:solidFill>
              </a:rPr>
              <a:t>Одна шторка: что изменилось, почему, что дальше</a:t>
            </a:r>
            <a:endParaRPr lang="ru-RU" dirty="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/>
          <a:lstStyle/>
          <a:p>
            <a:r>
              <a:rPr sz="1200">
                <a:solidFill>
                  <a:srgbClr val="1C1D22"/>
                </a:solidFill>
              </a:rPr>
              <a:t>Разбор признаков мошенничества после любого ответа</a:t>
            </a:r>
            <a:endParaRPr lang="ru-RU">
              <a:solidFill>
                <a:schemeClr val="accent5"/>
              </a:solidFill>
              <a:latin typeface="+mj-lt"/>
            </a:endParaRP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Ключевые UX/UI-решения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