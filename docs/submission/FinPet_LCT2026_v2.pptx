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1pPr>
    <a:lvl2pPr marL="0" marR="0" indent="457109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2pPr>
    <a:lvl3pPr marL="0" marR="0" indent="914219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3pPr>
    <a:lvl4pPr marL="0" marR="0" indent="1371328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4pPr>
    <a:lvl5pPr marL="0" marR="0" indent="1828438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5pPr>
    <a:lvl6pPr marL="0" marR="0" indent="2285549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6pPr>
    <a:lvl7pPr marL="0" marR="0" indent="2742657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7pPr>
    <a:lvl8pPr marL="0" marR="0" indent="3199764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8pPr>
    <a:lvl9pPr marL="0" marR="0" indent="3656877" algn="l" defTabSz="91421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rgbClr val="FFCACF"/>
          </a:solidFill>
        </a:fill>
      </a:tcStyle>
    </a:wholeTbl>
    <a:band2H>
      <a:tcTxStyle b="def" i="def"/>
      <a:tcStyle>
        <a:tcBdr/>
        <a:fill>
          <a:solidFill>
            <a:srgbClr val="FFE6E9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rgbClr val="FECCD5"/>
          </a:solidFill>
        </a:fill>
      </a:tcStyle>
    </a:wholeTbl>
    <a:band2H>
      <a:tcTxStyle b="def" i="def"/>
      <a:tcStyle>
        <a:tcBdr/>
        <a:fill>
          <a:solidFill>
            <a:srgbClr val="FEE7EB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rgbClr val="CCCACF"/>
          </a:solidFill>
        </a:fill>
      </a:tcStyle>
    </a:wholeTbl>
    <a:band2H>
      <a:tcTxStyle b="def" i="def"/>
      <a:tcStyle>
        <a:tcBdr/>
        <a:fill>
          <a:solidFill>
            <a:srgbClr val="E7E7E8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chemeClr val="accent2">
              <a:hueOff val="1141463"/>
              <a:satOff val="-100000"/>
              <a:lumOff val="8039"/>
            </a:schemeClr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hueOff val="1141463"/>
              <a:satOff val="-100000"/>
              <a:lumOff val="8039"/>
            </a:schemeClr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2">
          <a:hueOff val="1141463"/>
          <a:satOff val="-100000"/>
          <a:lumOff val="8039"/>
        </a:schemeClr>
      </a:tcTxStyle>
      <a:tcStyle>
        <a:tcBdr>
          <a:lef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1141463"/>
                  <a:satOff val="-100000"/>
                  <a:lumOff val="8039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2">
              <a:hueOff val="1141463"/>
              <a:satOff val="-100000"/>
              <a:lumOff val="8039"/>
            </a:schemeClr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2" name="Shape 3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итульный слайд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/>
          <p:nvPr>
            <p:ph type="pic" sz="half" idx="21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2" name="НАЗВАНИЕ КОМАНДЫ"/>
          <p:cNvSpPr txBox="1"/>
          <p:nvPr>
            <p:ph type="title" hasCustomPrompt="1"/>
          </p:nvPr>
        </p:nvSpPr>
        <p:spPr>
          <a:xfrm>
            <a:off x="0" y="4323439"/>
            <a:ext cx="8930641" cy="827012"/>
          </a:xfrm>
          <a:prstGeom prst="rect">
            <a:avLst/>
          </a:prstGeom>
        </p:spPr>
        <p:txBody>
          <a:bodyPr anchor="ctr"/>
          <a:lstStyle>
            <a:lvl1pPr indent="712787">
              <a:defRPr sz="2800"/>
            </a:lvl1pPr>
          </a:lstStyle>
          <a:p>
            <a:pPr/>
            <a:r>
              <a:t>НАЗВАНИЕ КОМАНДЫ</a:t>
            </a:r>
          </a:p>
        </p:txBody>
      </p:sp>
      <p:sp>
        <p:nvSpPr>
          <p:cNvPr id="13" name="Рисунок 41"/>
          <p:cNvSpPr/>
          <p:nvPr>
            <p:ph type="pic" sz="quarter" idx="22"/>
          </p:nvPr>
        </p:nvSpPr>
        <p:spPr>
          <a:xfrm>
            <a:off x="802640" y="2911980"/>
            <a:ext cx="3386774" cy="108258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4" name="Body Level One…"/>
          <p:cNvSpPr txBox="1"/>
          <p:nvPr>
            <p:ph type="body" sz="quarter" idx="1" hasCustomPrompt="1"/>
          </p:nvPr>
        </p:nvSpPr>
        <p:spPr>
          <a:xfrm>
            <a:off x="0" y="5149851"/>
            <a:ext cx="8930641" cy="757175"/>
          </a:xfrm>
          <a:prstGeom prst="rect">
            <a:avLst/>
          </a:prstGeom>
        </p:spPr>
        <p:txBody>
          <a:bodyPr/>
          <a:lstStyle>
            <a:lvl1pPr marL="0" indent="712787">
              <a:buSzTx/>
              <a:buFontTx/>
              <a:buNone/>
              <a:defRPr sz="1600"/>
            </a:lvl1pPr>
            <a:lvl2pPr marL="1195084" indent="-192917">
              <a:buFontTx/>
              <a:defRPr sz="1600"/>
            </a:lvl2pPr>
            <a:lvl3pPr marL="1523045" indent="-231500">
              <a:buFontTx/>
              <a:defRPr sz="1600"/>
            </a:lvl3pPr>
            <a:lvl4pPr marL="1838145" indent="-257223">
              <a:buFontTx/>
              <a:defRPr sz="1600"/>
            </a:lvl4pPr>
            <a:lvl5pPr marL="2127523" indent="-257223">
              <a:buFontTx/>
              <a:defRPr sz="1600"/>
            </a:lvl5pPr>
          </a:lstStyle>
          <a:p>
            <a:pPr/>
            <a:r>
              <a:t>Номер и название задачи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10"/>
          <p:cNvSpPr/>
          <p:nvPr>
            <p:ph type="pic" sz="quarter" idx="21"/>
          </p:nvPr>
        </p:nvSpPr>
        <p:spPr>
          <a:xfrm>
            <a:off x="6894094" y="1044081"/>
            <a:ext cx="4962944" cy="22218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3" name="КОМАНДА «НАЗВАНИЕ»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КОМАНДА «НАЗВАНИЕ»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" name="КОМАНДА «НАЗВАНИЕ»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КОМАНДА «НАЗВАНИЕ»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806323" y="4192123"/>
            <a:ext cx="1843582" cy="1576499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Tx/>
              <a:buChar char="▪"/>
            </a:lvl1pPr>
            <a:lvl2pPr>
              <a:buClr>
                <a:schemeClr val="accent1"/>
              </a:buClr>
              <a:buFontTx/>
            </a:lvl2pPr>
            <a:lvl3pPr>
              <a:buClr>
                <a:schemeClr val="accent1"/>
              </a:buClr>
              <a:buFontTx/>
            </a:lvl3pPr>
            <a:lvl4pPr>
              <a:buClr>
                <a:schemeClr val="accent1"/>
              </a:buClr>
              <a:buFontTx/>
            </a:lvl4pPr>
            <a:lvl5pPr>
              <a:buClr>
                <a:schemeClr val="accent1"/>
              </a:buClr>
              <a:buFontTx/>
            </a:lvl5pPr>
          </a:lstStyle>
          <a:p>
            <a:pPr/>
            <a:r>
              <a:t>Роль в команде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Текст 35"/>
          <p:cNvSpPr/>
          <p:nvPr>
            <p:ph type="body" sz="quarter" idx="21" hasCustomPrompt="1"/>
          </p:nvPr>
        </p:nvSpPr>
        <p:spPr>
          <a:xfrm>
            <a:off x="3014567" y="4192123"/>
            <a:ext cx="1843582" cy="1576499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Tx/>
              <a:buChar char="▪"/>
            </a:lvl1pPr>
          </a:lstStyle>
          <a:p>
            <a:pPr/>
            <a:r>
              <a:t>Роль в команде
Telegram
Номер</a:t>
            </a:r>
          </a:p>
        </p:txBody>
      </p:sp>
      <p:sp>
        <p:nvSpPr>
          <p:cNvPr id="35" name="Текст 35"/>
          <p:cNvSpPr/>
          <p:nvPr>
            <p:ph type="body" sz="quarter" idx="22" hasCustomPrompt="1"/>
          </p:nvPr>
        </p:nvSpPr>
        <p:spPr>
          <a:xfrm>
            <a:off x="5191192" y="4192123"/>
            <a:ext cx="1843582" cy="1576499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Tx/>
              <a:buChar char="▪"/>
            </a:lvl1pPr>
          </a:lstStyle>
          <a:p>
            <a:pPr/>
            <a:r>
              <a:t>Роль в команде
Telegram
Номер</a:t>
            </a:r>
          </a:p>
        </p:txBody>
      </p:sp>
      <p:sp>
        <p:nvSpPr>
          <p:cNvPr id="36" name="Текст 35"/>
          <p:cNvSpPr/>
          <p:nvPr>
            <p:ph type="body" sz="quarter" idx="23" hasCustomPrompt="1"/>
          </p:nvPr>
        </p:nvSpPr>
        <p:spPr>
          <a:xfrm>
            <a:off x="7366644" y="4192123"/>
            <a:ext cx="1843582" cy="1576499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Tx/>
              <a:buChar char="▪"/>
            </a:lvl1pPr>
          </a:lstStyle>
          <a:p>
            <a:pPr/>
            <a:r>
              <a:t>Роль в команде
Telegram
Номер</a:t>
            </a:r>
          </a:p>
        </p:txBody>
      </p:sp>
      <p:sp>
        <p:nvSpPr>
          <p:cNvPr id="37" name="Текст 35"/>
          <p:cNvSpPr/>
          <p:nvPr>
            <p:ph type="body" sz="quarter" idx="24" hasCustomPrompt="1"/>
          </p:nvPr>
        </p:nvSpPr>
        <p:spPr>
          <a:xfrm>
            <a:off x="9542095" y="4192123"/>
            <a:ext cx="1843582" cy="1576499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Tx/>
              <a:buChar char="▪"/>
            </a:lvl1pPr>
          </a:lstStyle>
          <a:p>
            <a:pPr/>
            <a:r>
              <a:t>Роль в команде
Telegram
Номер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Body Level One…"/>
          <p:cNvSpPr txBox="1"/>
          <p:nvPr>
            <p:ph type="body" idx="1"/>
          </p:nvPr>
        </p:nvSpPr>
        <p:spPr>
          <a:xfrm>
            <a:off x="315391" y="1016177"/>
            <a:ext cx="11561231" cy="516079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3" name="Title Text"/>
          <p:cNvSpPr txBox="1"/>
          <p:nvPr>
            <p:ph type="title"/>
          </p:nvPr>
        </p:nvSpPr>
        <p:spPr>
          <a:xfrm>
            <a:off x="346075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half" idx="1"/>
          </p:nvPr>
        </p:nvSpPr>
        <p:spPr>
          <a:xfrm>
            <a:off x="315386" y="1016000"/>
            <a:ext cx="5704420" cy="518477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" name="Title Text"/>
          <p:cNvSpPr txBox="1"/>
          <p:nvPr>
            <p:ph type="title"/>
          </p:nvPr>
        </p:nvSpPr>
        <p:spPr>
          <a:xfrm>
            <a:off x="346075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Body Level One…"/>
          <p:cNvSpPr txBox="1"/>
          <p:nvPr>
            <p:ph type="body" sz="quarter" idx="1"/>
          </p:nvPr>
        </p:nvSpPr>
        <p:spPr>
          <a:xfrm>
            <a:off x="315386" y="1015426"/>
            <a:ext cx="5682194" cy="365126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/>
            </a:lvl1pPr>
            <a:lvl2pPr marL="0" indent="289378">
              <a:buSzTx/>
              <a:buFontTx/>
              <a:buNone/>
              <a:defRPr b="1"/>
            </a:lvl2pPr>
            <a:lvl3pPr marL="0" indent="578754">
              <a:buSzTx/>
              <a:buFontTx/>
              <a:buNone/>
              <a:defRPr b="1"/>
            </a:lvl3pPr>
            <a:lvl4pPr marL="0" indent="868131">
              <a:buSzTx/>
              <a:buFontTx/>
              <a:buNone/>
              <a:defRPr b="1"/>
            </a:lvl4pPr>
            <a:lvl5pPr marL="0" indent="1157509">
              <a:buSzTx/>
              <a:buFontTx/>
              <a:buNone/>
              <a:defRPr b="1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0" name="Текст 4"/>
          <p:cNvSpPr/>
          <p:nvPr>
            <p:ph type="body" sz="quarter" idx="21"/>
          </p:nvPr>
        </p:nvSpPr>
        <p:spPr>
          <a:xfrm>
            <a:off x="6172205" y="1015426"/>
            <a:ext cx="5684842" cy="365126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/>
            </a:pP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2" name="Title Text"/>
          <p:cNvSpPr txBox="1"/>
          <p:nvPr>
            <p:ph type="title"/>
          </p:nvPr>
        </p:nvSpPr>
        <p:spPr>
          <a:xfrm>
            <a:off x="349334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ОБРАЗЕЦ ЗАГОЛОВКА"/>
          <p:cNvSpPr txBox="1"/>
          <p:nvPr>
            <p:ph type="title" hasCustomPrompt="1"/>
          </p:nvPr>
        </p:nvSpPr>
        <p:spPr>
          <a:xfrm>
            <a:off x="334965" y="1015999"/>
            <a:ext cx="4437064" cy="121341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87" name="Body Level One…"/>
          <p:cNvSpPr txBox="1"/>
          <p:nvPr>
            <p:ph type="body" idx="1"/>
          </p:nvPr>
        </p:nvSpPr>
        <p:spPr>
          <a:xfrm>
            <a:off x="5183194" y="1015999"/>
            <a:ext cx="6673847" cy="5049521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 marL="453358" indent="-163979">
              <a:defRPr sz="1700"/>
            </a:lvl2pPr>
            <a:lvl3pPr marL="783731" indent="-204974">
              <a:defRPr sz="1700"/>
            </a:lvl3pPr>
            <a:lvl4pPr marL="1091742" indent="-223608">
              <a:defRPr sz="1700"/>
            </a:lvl4pPr>
            <a:lvl5pPr marL="1381120" indent="-223608">
              <a:defRPr sz="1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Текст 3"/>
          <p:cNvSpPr/>
          <p:nvPr>
            <p:ph type="body" sz="quarter" idx="21"/>
          </p:nvPr>
        </p:nvSpPr>
        <p:spPr>
          <a:xfrm>
            <a:off x="334965" y="2428238"/>
            <a:ext cx="4437064" cy="363728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ОБРАЗЕЦ ЗАГОЛОВКА"/>
          <p:cNvSpPr txBox="1"/>
          <p:nvPr>
            <p:ph type="title" hasCustomPrompt="1"/>
          </p:nvPr>
        </p:nvSpPr>
        <p:spPr>
          <a:xfrm>
            <a:off x="802640" y="3922529"/>
            <a:ext cx="5293360" cy="1654543"/>
          </a:xfrm>
          <a:prstGeom prst="rect">
            <a:avLst/>
          </a:prstGeom>
        </p:spPr>
        <p:txBody>
          <a:bodyPr anchor="ctr"/>
          <a:lstStyle>
            <a:lvl1pPr>
              <a:defRPr sz="2800"/>
            </a:lvl1pPr>
          </a:lstStyle>
          <a:p>
            <a:pPr/>
            <a:r>
              <a:t>ОБРАЗЕЦ ЗАГОЛОВКА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5" name="Body Level One…"/>
          <p:cNvSpPr txBox="1"/>
          <p:nvPr>
            <p:ph type="body" sz="quarter" idx="1" hasCustomPrompt="1"/>
          </p:nvPr>
        </p:nvSpPr>
        <p:spPr>
          <a:xfrm>
            <a:off x="1873541" y="1222712"/>
            <a:ext cx="3866856" cy="42362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  <a:lvl2pPr marL="482296" indent="-192917">
              <a:buFontTx/>
              <a:defRPr b="1" sz="1600">
                <a:solidFill>
                  <a:schemeClr val="accent2"/>
                </a:solidFill>
              </a:defRPr>
            </a:lvl2pPr>
            <a:lvl3pPr marL="810257" indent="-231500">
              <a:buFontTx/>
              <a:defRPr b="1" sz="1600">
                <a:solidFill>
                  <a:schemeClr val="accent2"/>
                </a:solidFill>
              </a:defRPr>
            </a:lvl3pPr>
            <a:lvl4pPr marL="1125357" indent="-257223">
              <a:buFontTx/>
              <a:defRPr b="1" sz="1600">
                <a:solidFill>
                  <a:schemeClr val="accent2"/>
                </a:solidFill>
              </a:defRPr>
            </a:lvl4pPr>
            <a:lvl5pPr marL="1414735" indent="-257223">
              <a:buFontTx/>
              <a:defRPr b="1" sz="1600">
                <a:solidFill>
                  <a:schemeClr val="accent2"/>
                </a:solidFill>
              </a:defRPr>
            </a:lvl5pPr>
          </a:lstStyle>
          <a:p>
            <a:pPr/>
            <a:r>
              <a:t>Заголовок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6" name="Текст 9"/>
          <p:cNvSpPr/>
          <p:nvPr>
            <p:ph type="body" sz="quarter" idx="21" hasCustomPrompt="1"/>
          </p:nvPr>
        </p:nvSpPr>
        <p:spPr>
          <a:xfrm>
            <a:off x="1873543" y="1790324"/>
            <a:ext cx="3866857" cy="672076"/>
          </a:xfrm>
          <a:prstGeom prst="rect">
            <a:avLst/>
          </a:prstGeom>
        </p:spPr>
        <p:txBody>
          <a:bodyPr/>
          <a:lstStyle/>
          <a:p>
            <a:pPr lvl="1" marL="434067" indent="-144687">
              <a:spcBef>
                <a:spcPts val="300"/>
              </a:spcBef>
            </a:pPr>
            <a:r>
              <a:t>Описание</a:t>
            </a:r>
          </a:p>
        </p:txBody>
      </p:sp>
      <p:sp>
        <p:nvSpPr>
          <p:cNvPr id="107" name="Текст 6"/>
          <p:cNvSpPr/>
          <p:nvPr>
            <p:ph type="body" sz="quarter" idx="22" hasCustomPrompt="1"/>
          </p:nvPr>
        </p:nvSpPr>
        <p:spPr>
          <a:xfrm>
            <a:off x="1854185" y="2826697"/>
            <a:ext cx="3866856" cy="403757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Заголовок</a:t>
            </a:r>
          </a:p>
        </p:txBody>
      </p:sp>
      <p:sp>
        <p:nvSpPr>
          <p:cNvPr id="108" name="Текст 9"/>
          <p:cNvSpPr/>
          <p:nvPr>
            <p:ph type="body" sz="quarter" idx="23" hasCustomPrompt="1"/>
          </p:nvPr>
        </p:nvSpPr>
        <p:spPr>
          <a:xfrm>
            <a:off x="1854185" y="3374435"/>
            <a:ext cx="3866856" cy="672076"/>
          </a:xfrm>
          <a:prstGeom prst="rect">
            <a:avLst/>
          </a:prstGeom>
        </p:spPr>
        <p:txBody>
          <a:bodyPr/>
          <a:lstStyle/>
          <a:p>
            <a:pPr lvl="1" marL="434067" indent="-144687">
              <a:spcBef>
                <a:spcPts val="300"/>
              </a:spcBef>
            </a:pPr>
            <a:r>
              <a:t>Описание</a:t>
            </a:r>
          </a:p>
        </p:txBody>
      </p:sp>
      <p:sp>
        <p:nvSpPr>
          <p:cNvPr id="109" name="Текст 6"/>
          <p:cNvSpPr/>
          <p:nvPr>
            <p:ph type="body" sz="quarter" idx="24" hasCustomPrompt="1"/>
          </p:nvPr>
        </p:nvSpPr>
        <p:spPr>
          <a:xfrm>
            <a:off x="1854185" y="4410809"/>
            <a:ext cx="3866856" cy="40391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Заголовок</a:t>
            </a:r>
          </a:p>
        </p:txBody>
      </p:sp>
      <p:sp>
        <p:nvSpPr>
          <p:cNvPr id="110" name="Текст 9"/>
          <p:cNvSpPr/>
          <p:nvPr>
            <p:ph type="body" sz="quarter" idx="25" hasCustomPrompt="1"/>
          </p:nvPr>
        </p:nvSpPr>
        <p:spPr>
          <a:xfrm>
            <a:off x="1854185" y="4958548"/>
            <a:ext cx="3866856" cy="672076"/>
          </a:xfrm>
          <a:prstGeom prst="rect">
            <a:avLst/>
          </a:prstGeom>
        </p:spPr>
        <p:txBody>
          <a:bodyPr/>
          <a:lstStyle/>
          <a:p>
            <a:pPr lvl="1" marL="434067" indent="-144687">
              <a:spcBef>
                <a:spcPts val="300"/>
              </a:spcBef>
            </a:pPr>
            <a:r>
              <a:t>Описание</a:t>
            </a:r>
          </a:p>
        </p:txBody>
      </p:sp>
      <p:sp>
        <p:nvSpPr>
          <p:cNvPr id="111" name="Текст 6"/>
          <p:cNvSpPr/>
          <p:nvPr>
            <p:ph type="body" sz="quarter" idx="26" hasCustomPrompt="1"/>
          </p:nvPr>
        </p:nvSpPr>
        <p:spPr>
          <a:xfrm>
            <a:off x="7546647" y="1222712"/>
            <a:ext cx="3866856" cy="42362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Заголовок</a:t>
            </a:r>
          </a:p>
        </p:txBody>
      </p:sp>
      <p:sp>
        <p:nvSpPr>
          <p:cNvPr id="112" name="Текст 9"/>
          <p:cNvSpPr/>
          <p:nvPr>
            <p:ph type="body" sz="quarter" idx="27" hasCustomPrompt="1"/>
          </p:nvPr>
        </p:nvSpPr>
        <p:spPr>
          <a:xfrm>
            <a:off x="7546650" y="1790324"/>
            <a:ext cx="3866857" cy="672076"/>
          </a:xfrm>
          <a:prstGeom prst="rect">
            <a:avLst/>
          </a:prstGeom>
        </p:spPr>
        <p:txBody>
          <a:bodyPr/>
          <a:lstStyle/>
          <a:p>
            <a:pPr lvl="1" marL="434067" indent="-144687">
              <a:spcBef>
                <a:spcPts val="300"/>
              </a:spcBef>
            </a:pPr>
            <a:r>
              <a:t>Описание</a:t>
            </a:r>
          </a:p>
        </p:txBody>
      </p:sp>
      <p:sp>
        <p:nvSpPr>
          <p:cNvPr id="113" name="Текст 6"/>
          <p:cNvSpPr/>
          <p:nvPr>
            <p:ph type="body" sz="quarter" idx="28" hasCustomPrompt="1"/>
          </p:nvPr>
        </p:nvSpPr>
        <p:spPr>
          <a:xfrm>
            <a:off x="7527291" y="2826697"/>
            <a:ext cx="3866856" cy="403757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Заголовок</a:t>
            </a:r>
          </a:p>
        </p:txBody>
      </p:sp>
      <p:sp>
        <p:nvSpPr>
          <p:cNvPr id="114" name="Текст 9"/>
          <p:cNvSpPr/>
          <p:nvPr>
            <p:ph type="body" sz="quarter" idx="29" hasCustomPrompt="1"/>
          </p:nvPr>
        </p:nvSpPr>
        <p:spPr>
          <a:xfrm>
            <a:off x="7527291" y="3374435"/>
            <a:ext cx="3866856" cy="672076"/>
          </a:xfrm>
          <a:prstGeom prst="rect">
            <a:avLst/>
          </a:prstGeom>
        </p:spPr>
        <p:txBody>
          <a:bodyPr/>
          <a:lstStyle/>
          <a:p>
            <a:pPr lvl="1" marL="434067" indent="-144687">
              <a:spcBef>
                <a:spcPts val="300"/>
              </a:spcBef>
            </a:pPr>
            <a:r>
              <a:t>Описание</a:t>
            </a:r>
          </a:p>
        </p:txBody>
      </p:sp>
      <p:sp>
        <p:nvSpPr>
          <p:cNvPr id="115" name="Текст 6"/>
          <p:cNvSpPr/>
          <p:nvPr>
            <p:ph type="body" sz="quarter" idx="30" hasCustomPrompt="1"/>
          </p:nvPr>
        </p:nvSpPr>
        <p:spPr>
          <a:xfrm>
            <a:off x="7527291" y="4410809"/>
            <a:ext cx="3866856" cy="40391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Заголовок</a:t>
            </a:r>
          </a:p>
        </p:txBody>
      </p:sp>
      <p:sp>
        <p:nvSpPr>
          <p:cNvPr id="116" name="Текст 9"/>
          <p:cNvSpPr/>
          <p:nvPr>
            <p:ph type="body" sz="quarter" idx="31" hasCustomPrompt="1"/>
          </p:nvPr>
        </p:nvSpPr>
        <p:spPr>
          <a:xfrm>
            <a:off x="7527291" y="4958548"/>
            <a:ext cx="3866856" cy="672076"/>
          </a:xfrm>
          <a:prstGeom prst="rect">
            <a:avLst/>
          </a:prstGeom>
        </p:spPr>
        <p:txBody>
          <a:bodyPr/>
          <a:lstStyle/>
          <a:p>
            <a:pPr lvl="1" marL="434067" indent="-144687">
              <a:spcBef>
                <a:spcPts val="300"/>
              </a:spcBef>
            </a:pPr>
            <a:r>
              <a:t>Описание</a:t>
            </a:r>
          </a:p>
        </p:txBody>
      </p:sp>
      <p:sp>
        <p:nvSpPr>
          <p:cNvPr id="117" name="Title Text"/>
          <p:cNvSpPr txBox="1"/>
          <p:nvPr>
            <p:ph type="title"/>
          </p:nvPr>
        </p:nvSpPr>
        <p:spPr>
          <a:xfrm>
            <a:off x="346075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8" name="Текст 6"/>
          <p:cNvSpPr/>
          <p:nvPr>
            <p:ph type="body" sz="quarter" idx="32" hasCustomPrompt="1"/>
          </p:nvPr>
        </p:nvSpPr>
        <p:spPr>
          <a:xfrm>
            <a:off x="778492" y="1187987"/>
            <a:ext cx="771004" cy="423629"/>
          </a:xfrm>
          <a:prstGeom prst="rect">
            <a:avLst/>
          </a:prstGeom>
        </p:spPr>
        <p:txBody>
          <a:bodyPr/>
          <a:lstStyle>
            <a:lvl1pPr marL="0" indent="0" defTabSz="468791">
              <a:spcBef>
                <a:spcPts val="400"/>
              </a:spcBef>
              <a:buSzTx/>
              <a:buFontTx/>
              <a:buNone/>
              <a:defRPr sz="2268">
                <a:solidFill>
                  <a:schemeClr val="accent2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9" name="Текст 6"/>
          <p:cNvSpPr/>
          <p:nvPr>
            <p:ph type="body" sz="quarter" idx="33" hasCustomPrompt="1"/>
          </p:nvPr>
        </p:nvSpPr>
        <p:spPr>
          <a:xfrm>
            <a:off x="759137" y="2791972"/>
            <a:ext cx="771003" cy="403757"/>
          </a:xfrm>
          <a:prstGeom prst="rect">
            <a:avLst/>
          </a:prstGeom>
        </p:spPr>
        <p:txBody>
          <a:bodyPr/>
          <a:lstStyle>
            <a:lvl1pPr marL="0" indent="0" defTabSz="439853">
              <a:spcBef>
                <a:spcPts val="400"/>
              </a:spcBef>
              <a:buSzTx/>
              <a:buFontTx/>
              <a:buNone/>
              <a:defRPr sz="2128">
                <a:solidFill>
                  <a:schemeClr val="accent2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20" name="Текст 6"/>
          <p:cNvSpPr/>
          <p:nvPr>
            <p:ph type="body" sz="quarter" idx="34" hasCustomPrompt="1"/>
          </p:nvPr>
        </p:nvSpPr>
        <p:spPr>
          <a:xfrm>
            <a:off x="759137" y="4376084"/>
            <a:ext cx="771003" cy="403914"/>
          </a:xfrm>
          <a:prstGeom prst="rect">
            <a:avLst/>
          </a:prstGeom>
        </p:spPr>
        <p:txBody>
          <a:bodyPr/>
          <a:lstStyle>
            <a:lvl1pPr marL="0" indent="0" defTabSz="439853">
              <a:spcBef>
                <a:spcPts val="400"/>
              </a:spcBef>
              <a:buSzTx/>
              <a:buFontTx/>
              <a:buNone/>
              <a:defRPr sz="2128">
                <a:solidFill>
                  <a:schemeClr val="accent2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1" name="Текст 6"/>
          <p:cNvSpPr/>
          <p:nvPr>
            <p:ph type="body" sz="quarter" idx="35" hasCustomPrompt="1"/>
          </p:nvPr>
        </p:nvSpPr>
        <p:spPr>
          <a:xfrm>
            <a:off x="6451600" y="1187987"/>
            <a:ext cx="771003" cy="423629"/>
          </a:xfrm>
          <a:prstGeom prst="rect">
            <a:avLst/>
          </a:prstGeom>
        </p:spPr>
        <p:txBody>
          <a:bodyPr/>
          <a:lstStyle>
            <a:lvl1pPr marL="0" indent="0" defTabSz="468791">
              <a:spcBef>
                <a:spcPts val="400"/>
              </a:spcBef>
              <a:buSzTx/>
              <a:buFontTx/>
              <a:buNone/>
              <a:defRPr sz="2268">
                <a:solidFill>
                  <a:schemeClr val="accent2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2" name="Текст 6"/>
          <p:cNvSpPr/>
          <p:nvPr>
            <p:ph type="body" sz="quarter" idx="36" hasCustomPrompt="1"/>
          </p:nvPr>
        </p:nvSpPr>
        <p:spPr>
          <a:xfrm>
            <a:off x="6432243" y="2791972"/>
            <a:ext cx="771004" cy="403757"/>
          </a:xfrm>
          <a:prstGeom prst="rect">
            <a:avLst/>
          </a:prstGeom>
        </p:spPr>
        <p:txBody>
          <a:bodyPr/>
          <a:lstStyle>
            <a:lvl1pPr marL="0" indent="0" defTabSz="439853">
              <a:spcBef>
                <a:spcPts val="400"/>
              </a:spcBef>
              <a:buSzTx/>
              <a:buFontTx/>
              <a:buNone/>
              <a:defRPr sz="2128">
                <a:solidFill>
                  <a:schemeClr val="accent2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23" name="Текст 6"/>
          <p:cNvSpPr/>
          <p:nvPr>
            <p:ph type="body" sz="quarter" idx="37" hasCustomPrompt="1"/>
          </p:nvPr>
        </p:nvSpPr>
        <p:spPr>
          <a:xfrm>
            <a:off x="6432243" y="4376084"/>
            <a:ext cx="771004" cy="403914"/>
          </a:xfrm>
          <a:prstGeom prst="rect">
            <a:avLst/>
          </a:prstGeom>
        </p:spPr>
        <p:txBody>
          <a:bodyPr/>
          <a:lstStyle>
            <a:lvl1pPr marL="0" indent="0" defTabSz="439853">
              <a:spcBef>
                <a:spcPts val="400"/>
              </a:spcBef>
              <a:buSzTx/>
              <a:buFontTx/>
              <a:buNone/>
              <a:defRPr sz="2128">
                <a:solidFill>
                  <a:schemeClr val="accent2"/>
                </a:solidFill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1" name="Title Text"/>
          <p:cNvSpPr txBox="1"/>
          <p:nvPr>
            <p:ph type="title"/>
          </p:nvPr>
        </p:nvSpPr>
        <p:spPr>
          <a:xfrm>
            <a:off x="372681" y="421225"/>
            <a:ext cx="9862735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2" name="Рисунок 7"/>
          <p:cNvSpPr/>
          <p:nvPr>
            <p:ph type="pic" sz="quarter" idx="21"/>
          </p:nvPr>
        </p:nvSpPr>
        <p:spPr>
          <a:xfrm>
            <a:off x="7440146" y="1016000"/>
            <a:ext cx="4405778" cy="307848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3" name="Рисунок 9"/>
          <p:cNvSpPr/>
          <p:nvPr>
            <p:ph type="pic" sz="quarter" idx="22"/>
          </p:nvPr>
        </p:nvSpPr>
        <p:spPr>
          <a:xfrm>
            <a:off x="7440148" y="4389108"/>
            <a:ext cx="4405776" cy="1811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4" name="Рисунок 11"/>
          <p:cNvSpPr/>
          <p:nvPr>
            <p:ph type="pic" sz="half" idx="23"/>
          </p:nvPr>
        </p:nvSpPr>
        <p:spPr>
          <a:xfrm>
            <a:off x="346075" y="3223947"/>
            <a:ext cx="6806142" cy="29768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5" name="Body Level One…"/>
          <p:cNvSpPr txBox="1"/>
          <p:nvPr>
            <p:ph type="body" sz="quarter" idx="1"/>
          </p:nvPr>
        </p:nvSpPr>
        <p:spPr>
          <a:xfrm>
            <a:off x="346075" y="1016000"/>
            <a:ext cx="6806142" cy="202988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Text"/>
          <p:cNvSpPr txBox="1"/>
          <p:nvPr>
            <p:ph type="title"/>
          </p:nvPr>
        </p:nvSpPr>
        <p:spPr>
          <a:xfrm>
            <a:off x="361107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3" name="Body Level One…"/>
          <p:cNvSpPr txBox="1"/>
          <p:nvPr>
            <p:ph type="body" sz="quarter" idx="1" hasCustomPrompt="1"/>
          </p:nvPr>
        </p:nvSpPr>
        <p:spPr>
          <a:xfrm>
            <a:off x="1994303" y="2973741"/>
            <a:ext cx="2190811" cy="910517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</a:lvl1pPr>
            <a:lvl2pPr algn="ctr">
              <a:buFontTx/>
            </a:lvl2pPr>
            <a:lvl3pPr algn="ctr">
              <a:buFontTx/>
            </a:lvl3pPr>
            <a:lvl4pPr algn="ctr">
              <a:buFontTx/>
            </a:lvl4pPr>
            <a:lvl5pPr algn="ctr">
              <a:buFontTx/>
            </a:lvl5pPr>
          </a:lstStyle>
          <a:p>
            <a:pPr/>
            <a:r>
              <a:t>Текст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4" name="Текст 74"/>
          <p:cNvSpPr/>
          <p:nvPr>
            <p:ph type="body" sz="quarter" idx="21"/>
          </p:nvPr>
        </p:nvSpPr>
        <p:spPr>
          <a:xfrm>
            <a:off x="6662922" y="1588127"/>
            <a:ext cx="4902201" cy="712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145" name="Текст 74"/>
          <p:cNvSpPr/>
          <p:nvPr>
            <p:ph type="body" sz="quarter" idx="22"/>
          </p:nvPr>
        </p:nvSpPr>
        <p:spPr>
          <a:xfrm>
            <a:off x="6662922" y="2445137"/>
            <a:ext cx="4902201" cy="712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146" name="Текст 74"/>
          <p:cNvSpPr/>
          <p:nvPr>
            <p:ph type="body" sz="quarter" idx="23"/>
          </p:nvPr>
        </p:nvSpPr>
        <p:spPr>
          <a:xfrm>
            <a:off x="6662922" y="3302146"/>
            <a:ext cx="4902201" cy="712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147" name="Текст 74"/>
          <p:cNvSpPr/>
          <p:nvPr>
            <p:ph type="body" sz="quarter" idx="24"/>
          </p:nvPr>
        </p:nvSpPr>
        <p:spPr>
          <a:xfrm>
            <a:off x="6662922" y="4159155"/>
            <a:ext cx="4902201" cy="712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148" name="Текст 74"/>
          <p:cNvSpPr/>
          <p:nvPr>
            <p:ph type="body" sz="quarter" idx="25"/>
          </p:nvPr>
        </p:nvSpPr>
        <p:spPr>
          <a:xfrm>
            <a:off x="6662922" y="5016165"/>
            <a:ext cx="4902201" cy="712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1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7" name="Title Text"/>
          <p:cNvSpPr txBox="1"/>
          <p:nvPr>
            <p:ph type="title"/>
          </p:nvPr>
        </p:nvSpPr>
        <p:spPr>
          <a:xfrm>
            <a:off x="361107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8" name="Body Level One…"/>
          <p:cNvSpPr txBox="1"/>
          <p:nvPr>
            <p:ph type="body" sz="quarter" idx="1"/>
          </p:nvPr>
        </p:nvSpPr>
        <p:spPr>
          <a:xfrm>
            <a:off x="6683077" y="1026866"/>
            <a:ext cx="4790315" cy="1615357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>
            <a:lvl1pPr>
              <a:defRPr b="1" sz="1800">
                <a:solidFill>
                  <a:schemeClr val="accent2"/>
                </a:solidFill>
              </a:defRPr>
            </a:lvl1pPr>
            <a:lvl2pPr marL="506411" indent="-217032">
              <a:defRPr b="1" sz="1800">
                <a:solidFill>
                  <a:schemeClr val="accent2"/>
                </a:solidFill>
              </a:defRPr>
            </a:lvl2pPr>
            <a:lvl3pPr marL="839195" indent="-260438">
              <a:defRPr b="1" sz="1800">
                <a:solidFill>
                  <a:schemeClr val="accent2"/>
                </a:solidFill>
              </a:defRPr>
            </a:lvl3pPr>
            <a:lvl4pPr marL="1157509" indent="-289375">
              <a:defRPr b="1" sz="1800">
                <a:solidFill>
                  <a:schemeClr val="accent2"/>
                </a:solidFill>
              </a:defRPr>
            </a:lvl4pPr>
            <a:lvl5pPr marL="1446887" indent="-289375">
              <a:defRPr b="1" sz="1800">
                <a:solidFill>
                  <a:schemeClr val="accent2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Текст 35"/>
          <p:cNvSpPr/>
          <p:nvPr>
            <p:ph type="body" sz="quarter" idx="21"/>
          </p:nvPr>
        </p:nvSpPr>
        <p:spPr>
          <a:xfrm>
            <a:off x="6683077" y="1626932"/>
            <a:ext cx="4790315" cy="101529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0" name="Текст 35"/>
          <p:cNvSpPr/>
          <p:nvPr>
            <p:ph type="body" sz="quarter" idx="22"/>
          </p:nvPr>
        </p:nvSpPr>
        <p:spPr>
          <a:xfrm>
            <a:off x="6761932" y="2886436"/>
            <a:ext cx="4632605" cy="1457647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chemeClr val="accent2"/>
                </a:solidFill>
              </a:defRPr>
            </a:pPr>
          </a:p>
        </p:txBody>
      </p:sp>
      <p:sp>
        <p:nvSpPr>
          <p:cNvPr id="161" name="Текст 35"/>
          <p:cNvSpPr/>
          <p:nvPr>
            <p:ph type="body" sz="quarter" idx="23"/>
          </p:nvPr>
        </p:nvSpPr>
        <p:spPr>
          <a:xfrm>
            <a:off x="6683077" y="3407647"/>
            <a:ext cx="4790315" cy="101529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Текст 35"/>
          <p:cNvSpPr/>
          <p:nvPr>
            <p:ph type="body" sz="quarter" idx="24"/>
          </p:nvPr>
        </p:nvSpPr>
        <p:spPr>
          <a:xfrm>
            <a:off x="6761932" y="4662884"/>
            <a:ext cx="4632605" cy="1457647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chemeClr val="accent2"/>
                </a:solidFill>
              </a:defRPr>
            </a:pPr>
          </a:p>
        </p:txBody>
      </p:sp>
      <p:sp>
        <p:nvSpPr>
          <p:cNvPr id="163" name="Текст 35"/>
          <p:cNvSpPr/>
          <p:nvPr>
            <p:ph type="body" sz="quarter" idx="25"/>
          </p:nvPr>
        </p:nvSpPr>
        <p:spPr>
          <a:xfrm>
            <a:off x="6683077" y="5184094"/>
            <a:ext cx="4790315" cy="101529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1" name="Title Text"/>
          <p:cNvSpPr txBox="1"/>
          <p:nvPr>
            <p:ph type="title"/>
          </p:nvPr>
        </p:nvSpPr>
        <p:spPr>
          <a:xfrm>
            <a:off x="349532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72" name="Body Level One…"/>
          <p:cNvSpPr txBox="1"/>
          <p:nvPr>
            <p:ph type="body" sz="quarter" idx="1"/>
          </p:nvPr>
        </p:nvSpPr>
        <p:spPr>
          <a:xfrm>
            <a:off x="6683077" y="1016000"/>
            <a:ext cx="4790315" cy="102170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>
            <a:lvl1pPr>
              <a:defRPr b="1" sz="1800">
                <a:solidFill>
                  <a:schemeClr val="accent1"/>
                </a:solidFill>
              </a:defRPr>
            </a:lvl1pPr>
            <a:lvl2pPr marL="506411" indent="-217032">
              <a:defRPr b="1" sz="1800">
                <a:solidFill>
                  <a:schemeClr val="accent1"/>
                </a:solidFill>
              </a:defRPr>
            </a:lvl2pPr>
            <a:lvl3pPr marL="839195" indent="-260438">
              <a:defRPr b="1" sz="1800">
                <a:solidFill>
                  <a:schemeClr val="accent1"/>
                </a:solidFill>
              </a:defRPr>
            </a:lvl3pPr>
            <a:lvl4pPr marL="1157509" indent="-289375">
              <a:defRPr b="1" sz="1800">
                <a:solidFill>
                  <a:schemeClr val="accent1"/>
                </a:solidFill>
              </a:defRPr>
            </a:lvl4pPr>
            <a:lvl5pPr marL="1446887" indent="-289375">
              <a:defRPr b="1" sz="18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3" name="Текст 35"/>
          <p:cNvSpPr/>
          <p:nvPr>
            <p:ph type="body" sz="quarter" idx="21"/>
          </p:nvPr>
        </p:nvSpPr>
        <p:spPr>
          <a:xfrm>
            <a:off x="6683077" y="1395537"/>
            <a:ext cx="4790315" cy="642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Текст 35"/>
          <p:cNvSpPr/>
          <p:nvPr>
            <p:ph type="body" sz="quarter" idx="22"/>
          </p:nvPr>
        </p:nvSpPr>
        <p:spPr>
          <a:xfrm>
            <a:off x="6732952" y="2334435"/>
            <a:ext cx="4690565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rgbClr val="AD2AEF"/>
                </a:solidFill>
              </a:defRPr>
            </a:pPr>
          </a:p>
        </p:txBody>
      </p:sp>
      <p:sp>
        <p:nvSpPr>
          <p:cNvPr id="175" name="Текст 35"/>
          <p:cNvSpPr/>
          <p:nvPr>
            <p:ph type="body" sz="quarter" idx="23"/>
          </p:nvPr>
        </p:nvSpPr>
        <p:spPr>
          <a:xfrm>
            <a:off x="6683077" y="2664098"/>
            <a:ext cx="4790315" cy="642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Текст 35"/>
          <p:cNvSpPr/>
          <p:nvPr>
            <p:ph type="body" sz="quarter" idx="24"/>
          </p:nvPr>
        </p:nvSpPr>
        <p:spPr>
          <a:xfrm>
            <a:off x="6732952" y="3602996"/>
            <a:ext cx="4690565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chemeClr val="accent4"/>
                </a:solidFill>
              </a:defRPr>
            </a:pPr>
          </a:p>
        </p:txBody>
      </p:sp>
      <p:sp>
        <p:nvSpPr>
          <p:cNvPr id="177" name="Текст 35"/>
          <p:cNvSpPr/>
          <p:nvPr>
            <p:ph type="body" sz="quarter" idx="25"/>
          </p:nvPr>
        </p:nvSpPr>
        <p:spPr>
          <a:xfrm>
            <a:off x="6683077" y="3932658"/>
            <a:ext cx="4790315" cy="642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Текст 35"/>
          <p:cNvSpPr/>
          <p:nvPr>
            <p:ph type="body" sz="quarter" idx="26"/>
          </p:nvPr>
        </p:nvSpPr>
        <p:spPr>
          <a:xfrm>
            <a:off x="6732952" y="4871558"/>
            <a:ext cx="4690565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chemeClr val="accent2"/>
                </a:solidFill>
              </a:defRPr>
            </a:pPr>
          </a:p>
        </p:txBody>
      </p:sp>
      <p:sp>
        <p:nvSpPr>
          <p:cNvPr id="179" name="Текст 35"/>
          <p:cNvSpPr/>
          <p:nvPr>
            <p:ph type="body" sz="quarter" idx="27"/>
          </p:nvPr>
        </p:nvSpPr>
        <p:spPr>
          <a:xfrm>
            <a:off x="6683077" y="5201220"/>
            <a:ext cx="4790315" cy="642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7" name="Title Text"/>
          <p:cNvSpPr txBox="1"/>
          <p:nvPr>
            <p:ph type="title"/>
          </p:nvPr>
        </p:nvSpPr>
        <p:spPr>
          <a:xfrm>
            <a:off x="367720" y="421225"/>
            <a:ext cx="9862735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88" name="Body Level One…"/>
          <p:cNvSpPr txBox="1"/>
          <p:nvPr>
            <p:ph type="body" sz="quarter" idx="1"/>
          </p:nvPr>
        </p:nvSpPr>
        <p:spPr>
          <a:xfrm>
            <a:off x="6683077" y="1016000"/>
            <a:ext cx="4790315" cy="102170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>
            <a:lvl1pPr>
              <a:defRPr b="1" sz="1800">
                <a:solidFill>
                  <a:schemeClr val="accent1"/>
                </a:solidFill>
              </a:defRPr>
            </a:lvl1pPr>
            <a:lvl2pPr marL="506411" indent="-217032">
              <a:defRPr b="1" sz="1800">
                <a:solidFill>
                  <a:schemeClr val="accent1"/>
                </a:solidFill>
              </a:defRPr>
            </a:lvl2pPr>
            <a:lvl3pPr marL="839195" indent="-260438">
              <a:defRPr b="1" sz="1800">
                <a:solidFill>
                  <a:schemeClr val="accent1"/>
                </a:solidFill>
              </a:defRPr>
            </a:lvl3pPr>
            <a:lvl4pPr marL="1157509" indent="-289375">
              <a:defRPr b="1" sz="1800">
                <a:solidFill>
                  <a:schemeClr val="accent1"/>
                </a:solidFill>
              </a:defRPr>
            </a:lvl4pPr>
            <a:lvl5pPr marL="1446887" indent="-289375">
              <a:defRPr b="1" sz="18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9" name="Текст 35"/>
          <p:cNvSpPr/>
          <p:nvPr>
            <p:ph type="body" sz="quarter" idx="21"/>
          </p:nvPr>
        </p:nvSpPr>
        <p:spPr>
          <a:xfrm>
            <a:off x="6683077" y="1395537"/>
            <a:ext cx="4790315" cy="642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Текст 35"/>
          <p:cNvSpPr/>
          <p:nvPr>
            <p:ph type="body" sz="quarter" idx="22"/>
          </p:nvPr>
        </p:nvSpPr>
        <p:spPr>
          <a:xfrm>
            <a:off x="6732952" y="2334435"/>
            <a:ext cx="4690565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rgbClr val="AD2AEF"/>
                </a:solidFill>
              </a:defRPr>
            </a:pPr>
          </a:p>
        </p:txBody>
      </p:sp>
      <p:sp>
        <p:nvSpPr>
          <p:cNvPr id="191" name="Текст 35"/>
          <p:cNvSpPr/>
          <p:nvPr>
            <p:ph type="body" sz="quarter" idx="23"/>
          </p:nvPr>
        </p:nvSpPr>
        <p:spPr>
          <a:xfrm>
            <a:off x="6683077" y="2664098"/>
            <a:ext cx="4790315" cy="642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Текст 35"/>
          <p:cNvSpPr/>
          <p:nvPr>
            <p:ph type="body" sz="quarter" idx="24"/>
          </p:nvPr>
        </p:nvSpPr>
        <p:spPr>
          <a:xfrm>
            <a:off x="6732952" y="3602996"/>
            <a:ext cx="4690565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chemeClr val="accent4"/>
                </a:solidFill>
              </a:defRPr>
            </a:pPr>
          </a:p>
        </p:txBody>
      </p:sp>
      <p:sp>
        <p:nvSpPr>
          <p:cNvPr id="193" name="Текст 35"/>
          <p:cNvSpPr/>
          <p:nvPr>
            <p:ph type="body" sz="quarter" idx="25"/>
          </p:nvPr>
        </p:nvSpPr>
        <p:spPr>
          <a:xfrm>
            <a:off x="6683077" y="3932658"/>
            <a:ext cx="4790315" cy="642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Текст 35"/>
          <p:cNvSpPr/>
          <p:nvPr>
            <p:ph type="body" sz="quarter" idx="26"/>
          </p:nvPr>
        </p:nvSpPr>
        <p:spPr>
          <a:xfrm>
            <a:off x="6732952" y="4871558"/>
            <a:ext cx="4690565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chemeClr val="accent2"/>
                </a:solidFill>
              </a:defRPr>
            </a:pPr>
          </a:p>
        </p:txBody>
      </p:sp>
      <p:sp>
        <p:nvSpPr>
          <p:cNvPr id="195" name="Текст 35"/>
          <p:cNvSpPr/>
          <p:nvPr>
            <p:ph type="body" sz="quarter" idx="27"/>
          </p:nvPr>
        </p:nvSpPr>
        <p:spPr>
          <a:xfrm>
            <a:off x="6683077" y="5201220"/>
            <a:ext cx="4790315" cy="642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3" name="Body Level One…"/>
          <p:cNvSpPr txBox="1"/>
          <p:nvPr>
            <p:ph type="body" sz="quarter" idx="1"/>
          </p:nvPr>
        </p:nvSpPr>
        <p:spPr>
          <a:xfrm>
            <a:off x="346075" y="1024936"/>
            <a:ext cx="2526079" cy="1476688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>
            <a:lvl1pPr>
              <a:defRPr b="1" sz="1600">
                <a:solidFill>
                  <a:schemeClr val="accent2"/>
                </a:solidFill>
              </a:defRPr>
            </a:lvl1pPr>
            <a:lvl2pPr marL="482296" indent="-192917">
              <a:defRPr b="1" sz="1600">
                <a:solidFill>
                  <a:schemeClr val="accent2"/>
                </a:solidFill>
              </a:defRPr>
            </a:lvl2pPr>
            <a:lvl3pPr marL="810257" indent="-231500">
              <a:defRPr b="1" sz="1600">
                <a:solidFill>
                  <a:schemeClr val="accent2"/>
                </a:solidFill>
              </a:defRPr>
            </a:lvl3pPr>
            <a:lvl4pPr marL="1125357" indent="-257223">
              <a:defRPr b="1" sz="1600">
                <a:solidFill>
                  <a:schemeClr val="accent2"/>
                </a:solidFill>
              </a:defRPr>
            </a:lvl4pPr>
            <a:lvl5pPr marL="1414735" indent="-257223">
              <a:defRPr b="1" sz="1600">
                <a:solidFill>
                  <a:schemeClr val="accent2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4" name="Текст 35"/>
          <p:cNvSpPr/>
          <p:nvPr>
            <p:ph type="body" sz="quarter" idx="21"/>
          </p:nvPr>
        </p:nvSpPr>
        <p:spPr>
          <a:xfrm>
            <a:off x="346075" y="1380938"/>
            <a:ext cx="2526079" cy="112068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Текст 35"/>
          <p:cNvSpPr/>
          <p:nvPr>
            <p:ph type="body" sz="quarter" idx="22"/>
          </p:nvPr>
        </p:nvSpPr>
        <p:spPr>
          <a:xfrm>
            <a:off x="4901672" y="1093648"/>
            <a:ext cx="2388656" cy="1339264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600">
                <a:solidFill>
                  <a:schemeClr val="accent2"/>
                </a:solidFill>
              </a:defRPr>
            </a:pPr>
          </a:p>
        </p:txBody>
      </p:sp>
      <p:sp>
        <p:nvSpPr>
          <p:cNvPr id="206" name="Текст 35"/>
          <p:cNvSpPr/>
          <p:nvPr>
            <p:ph type="body" sz="quarter" idx="23"/>
          </p:nvPr>
        </p:nvSpPr>
        <p:spPr>
          <a:xfrm>
            <a:off x="4832960" y="1380938"/>
            <a:ext cx="2526080" cy="112068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Текст 35"/>
          <p:cNvSpPr/>
          <p:nvPr>
            <p:ph type="body" sz="quarter" idx="24"/>
          </p:nvPr>
        </p:nvSpPr>
        <p:spPr>
          <a:xfrm>
            <a:off x="9399574" y="1093648"/>
            <a:ext cx="2388656" cy="1339264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600">
                <a:solidFill>
                  <a:schemeClr val="accent2"/>
                </a:solidFill>
              </a:defRPr>
            </a:pPr>
          </a:p>
        </p:txBody>
      </p:sp>
      <p:sp>
        <p:nvSpPr>
          <p:cNvPr id="208" name="Текст 35"/>
          <p:cNvSpPr/>
          <p:nvPr>
            <p:ph type="body" sz="quarter" idx="25"/>
          </p:nvPr>
        </p:nvSpPr>
        <p:spPr>
          <a:xfrm>
            <a:off x="9330862" y="1380938"/>
            <a:ext cx="2526080" cy="112068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Текст 35"/>
          <p:cNvSpPr/>
          <p:nvPr>
            <p:ph type="body" sz="quarter" idx="26"/>
          </p:nvPr>
        </p:nvSpPr>
        <p:spPr>
          <a:xfrm>
            <a:off x="2662229" y="4426863"/>
            <a:ext cx="2388656" cy="1339264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600">
                <a:solidFill>
                  <a:schemeClr val="accent2"/>
                </a:solidFill>
              </a:defRPr>
            </a:pPr>
          </a:p>
        </p:txBody>
      </p:sp>
      <p:sp>
        <p:nvSpPr>
          <p:cNvPr id="210" name="Текст 35"/>
          <p:cNvSpPr/>
          <p:nvPr>
            <p:ph type="body" sz="quarter" idx="27"/>
          </p:nvPr>
        </p:nvSpPr>
        <p:spPr>
          <a:xfrm>
            <a:off x="2593517" y="4714154"/>
            <a:ext cx="2526080" cy="112068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Текст 35"/>
          <p:cNvSpPr/>
          <p:nvPr>
            <p:ph type="body" sz="quarter" idx="28"/>
          </p:nvPr>
        </p:nvSpPr>
        <p:spPr>
          <a:xfrm>
            <a:off x="7149113" y="4426863"/>
            <a:ext cx="2388656" cy="1339264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100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600">
                <a:solidFill>
                  <a:schemeClr val="accent2"/>
                </a:solidFill>
              </a:defRPr>
            </a:pPr>
          </a:p>
        </p:txBody>
      </p:sp>
      <p:sp>
        <p:nvSpPr>
          <p:cNvPr id="212" name="Текст 35"/>
          <p:cNvSpPr/>
          <p:nvPr>
            <p:ph type="body" sz="quarter" idx="29"/>
          </p:nvPr>
        </p:nvSpPr>
        <p:spPr>
          <a:xfrm>
            <a:off x="7080401" y="4714154"/>
            <a:ext cx="2526080" cy="112068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Title Text"/>
          <p:cNvSpPr txBox="1"/>
          <p:nvPr>
            <p:ph type="title"/>
          </p:nvPr>
        </p:nvSpPr>
        <p:spPr>
          <a:xfrm>
            <a:off x="384256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1" name="Title Text"/>
          <p:cNvSpPr txBox="1"/>
          <p:nvPr>
            <p:ph type="title"/>
          </p:nvPr>
        </p:nvSpPr>
        <p:spPr>
          <a:xfrm>
            <a:off x="357649" y="421225"/>
            <a:ext cx="9862735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2" name="Body Level One…"/>
          <p:cNvSpPr txBox="1"/>
          <p:nvPr>
            <p:ph type="body" sz="quarter" idx="1" hasCustomPrompt="1"/>
          </p:nvPr>
        </p:nvSpPr>
        <p:spPr>
          <a:xfrm>
            <a:off x="517027" y="3810175"/>
            <a:ext cx="3264114" cy="2375116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49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>
            <a:lvl1pPr marL="0" indent="0">
              <a:buSzTx/>
              <a:buFontTx/>
              <a:buNone/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  <a:lvl2pPr>
              <a:buFontTx/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2pPr>
            <a:lvl3pPr>
              <a:buFontTx/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3pPr>
            <a:lvl4pPr>
              <a:buFontTx/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4pPr>
            <a:lvl5pPr>
              <a:buFontTx/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5pPr>
          </a:lstStyle>
          <a:p>
            <a:pPr/>
            <a:r>
              <a:t>Описание проблемы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23" name="Текст 35"/>
          <p:cNvSpPr/>
          <p:nvPr>
            <p:ph type="body" sz="quarter" idx="21" hasCustomPrompt="1"/>
          </p:nvPr>
        </p:nvSpPr>
        <p:spPr>
          <a:xfrm>
            <a:off x="4535267" y="3880901"/>
            <a:ext cx="3122662" cy="2233664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49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>
            <a:lvl1pPr marL="0" indent="0">
              <a:buSzTx/>
              <a:buFontTx/>
              <a:buNone/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Примеры уже имеющихся способов решения данной проблемы</a:t>
            </a:r>
          </a:p>
        </p:txBody>
      </p:sp>
      <p:sp>
        <p:nvSpPr>
          <p:cNvPr id="224" name="Текст 35"/>
          <p:cNvSpPr/>
          <p:nvPr>
            <p:ph type="body" sz="quarter" idx="22" hasCustomPrompt="1"/>
          </p:nvPr>
        </p:nvSpPr>
        <p:spPr>
          <a:xfrm>
            <a:off x="8456207" y="3880901"/>
            <a:ext cx="3122662" cy="2233664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49000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>
            <a:lvl1pPr marL="0" indent="0">
              <a:buSzTx/>
              <a:buFontTx/>
              <a:buNone/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Ваше предложение решения данной проблемы</a:t>
            </a:r>
          </a:p>
        </p:txBody>
      </p:sp>
      <p:sp>
        <p:nvSpPr>
          <p:cNvPr id="225" name="Текст 35"/>
          <p:cNvSpPr/>
          <p:nvPr>
            <p:ph type="body" sz="quarter" idx="23" hasCustomPrompt="1"/>
          </p:nvPr>
        </p:nvSpPr>
        <p:spPr>
          <a:xfrm>
            <a:off x="528693" y="3264002"/>
            <a:ext cx="3240781" cy="368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Проблема</a:t>
            </a:r>
          </a:p>
        </p:txBody>
      </p:sp>
      <p:sp>
        <p:nvSpPr>
          <p:cNvPr id="226" name="Текст 35"/>
          <p:cNvSpPr/>
          <p:nvPr>
            <p:ph type="body" sz="quarter" idx="24" hasCustomPrompt="1"/>
          </p:nvPr>
        </p:nvSpPr>
        <p:spPr>
          <a:xfrm>
            <a:off x="4476208" y="3264002"/>
            <a:ext cx="3240780" cy="368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Альтернативные решения</a:t>
            </a:r>
          </a:p>
        </p:txBody>
      </p:sp>
      <p:sp>
        <p:nvSpPr>
          <p:cNvPr id="227" name="Текст 35"/>
          <p:cNvSpPr/>
          <p:nvPr>
            <p:ph type="body" sz="quarter" idx="25" hasCustomPrompt="1"/>
          </p:nvPr>
        </p:nvSpPr>
        <p:spPr>
          <a:xfrm>
            <a:off x="8397148" y="3264002"/>
            <a:ext cx="3240780" cy="368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Решение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icture Placeholder 1"/>
          <p:cNvSpPr/>
          <p:nvPr>
            <p:ph type="pic" sz="quarter" idx="21"/>
          </p:nvPr>
        </p:nvSpPr>
        <p:spPr>
          <a:xfrm>
            <a:off x="4162940" y="1264477"/>
            <a:ext cx="3866122" cy="24363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35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6" name="Title Text"/>
          <p:cNvSpPr txBox="1"/>
          <p:nvPr>
            <p:ph type="title"/>
          </p:nvPr>
        </p:nvSpPr>
        <p:spPr>
          <a:xfrm>
            <a:off x="346075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7" name="Body Level One…"/>
          <p:cNvSpPr txBox="1"/>
          <p:nvPr>
            <p:ph type="body" sz="quarter" idx="1"/>
          </p:nvPr>
        </p:nvSpPr>
        <p:spPr>
          <a:xfrm>
            <a:off x="346075" y="4656082"/>
            <a:ext cx="3626835" cy="154469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8" name="Текст 7"/>
          <p:cNvSpPr/>
          <p:nvPr>
            <p:ph type="body" sz="quarter" idx="22"/>
          </p:nvPr>
        </p:nvSpPr>
        <p:spPr>
          <a:xfrm>
            <a:off x="4240501" y="4656082"/>
            <a:ext cx="3626836" cy="154469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9" name="Текст 7"/>
          <p:cNvSpPr/>
          <p:nvPr>
            <p:ph type="body" sz="quarter" idx="23"/>
          </p:nvPr>
        </p:nvSpPr>
        <p:spPr>
          <a:xfrm>
            <a:off x="8230203" y="4656082"/>
            <a:ext cx="3626835" cy="154469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7" name="Title Text"/>
          <p:cNvSpPr txBox="1"/>
          <p:nvPr>
            <p:ph type="title"/>
          </p:nvPr>
        </p:nvSpPr>
        <p:spPr>
          <a:xfrm>
            <a:off x="353288" y="421225"/>
            <a:ext cx="9862735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48" name="Body Level One…"/>
          <p:cNvSpPr txBox="1"/>
          <p:nvPr>
            <p:ph type="body" sz="quarter" idx="1"/>
          </p:nvPr>
        </p:nvSpPr>
        <p:spPr>
          <a:xfrm>
            <a:off x="1210642" y="4324451"/>
            <a:ext cx="4121689" cy="16122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9" name="Текст 7"/>
          <p:cNvSpPr/>
          <p:nvPr>
            <p:ph type="body" sz="quarter" idx="21"/>
          </p:nvPr>
        </p:nvSpPr>
        <p:spPr>
          <a:xfrm>
            <a:off x="6857949" y="4324451"/>
            <a:ext cx="4121688" cy="16122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0" name="Picture Placeholder 1"/>
          <p:cNvSpPr/>
          <p:nvPr>
            <p:ph type="pic" sz="quarter" idx="22"/>
          </p:nvPr>
        </p:nvSpPr>
        <p:spPr>
          <a:xfrm>
            <a:off x="1210641" y="1577997"/>
            <a:ext cx="4121689" cy="228397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51" name="Picture Placeholder 1"/>
          <p:cNvSpPr/>
          <p:nvPr>
            <p:ph type="pic" sz="quarter" idx="23"/>
          </p:nvPr>
        </p:nvSpPr>
        <p:spPr>
          <a:xfrm>
            <a:off x="6855539" y="1577997"/>
            <a:ext cx="4121689" cy="228397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icture Placeholder 1"/>
          <p:cNvSpPr/>
          <p:nvPr>
            <p:ph type="pic" sz="quarter" idx="21"/>
          </p:nvPr>
        </p:nvSpPr>
        <p:spPr>
          <a:xfrm>
            <a:off x="5009872" y="1235914"/>
            <a:ext cx="2172256" cy="46026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59" name="Body Level One…"/>
          <p:cNvSpPr txBox="1"/>
          <p:nvPr>
            <p:ph type="body" sz="quarter" idx="1"/>
          </p:nvPr>
        </p:nvSpPr>
        <p:spPr>
          <a:xfrm>
            <a:off x="356349" y="1641282"/>
            <a:ext cx="3812931" cy="102170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64999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>
            <a:lvl1pPr>
              <a:defRPr b="1" sz="1800">
                <a:solidFill>
                  <a:schemeClr val="accent1"/>
                </a:solidFill>
              </a:defRPr>
            </a:lvl1pPr>
            <a:lvl2pPr marL="506411" indent="-217032">
              <a:defRPr b="1" sz="1800">
                <a:solidFill>
                  <a:schemeClr val="accent1"/>
                </a:solidFill>
              </a:defRPr>
            </a:lvl2pPr>
            <a:lvl3pPr marL="839195" indent="-260438">
              <a:defRPr b="1" sz="1800">
                <a:solidFill>
                  <a:schemeClr val="accent1"/>
                </a:solidFill>
              </a:defRPr>
            </a:lvl3pPr>
            <a:lvl4pPr marL="1157509" indent="-289375">
              <a:defRPr b="1" sz="1800">
                <a:solidFill>
                  <a:schemeClr val="accent1"/>
                </a:solidFill>
              </a:defRPr>
            </a:lvl4pPr>
            <a:lvl5pPr marL="1446887" indent="-289375">
              <a:defRPr b="1" sz="18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0" name="Текст 35"/>
          <p:cNvSpPr/>
          <p:nvPr>
            <p:ph type="body" sz="quarter" idx="22"/>
          </p:nvPr>
        </p:nvSpPr>
        <p:spPr>
          <a:xfrm>
            <a:off x="356348" y="2020820"/>
            <a:ext cx="3812932" cy="129059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1" name="Текст 35"/>
          <p:cNvSpPr/>
          <p:nvPr>
            <p:ph type="body" sz="quarter" idx="23"/>
          </p:nvPr>
        </p:nvSpPr>
        <p:spPr>
          <a:xfrm>
            <a:off x="8089895" y="1691157"/>
            <a:ext cx="3713181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64999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rgbClr val="E4B8FA"/>
                </a:solidFill>
              </a:defRPr>
            </a:pPr>
          </a:p>
        </p:txBody>
      </p:sp>
      <p:sp>
        <p:nvSpPr>
          <p:cNvPr id="262" name="Текст 35"/>
          <p:cNvSpPr/>
          <p:nvPr>
            <p:ph type="body" sz="quarter" idx="24"/>
          </p:nvPr>
        </p:nvSpPr>
        <p:spPr>
          <a:xfrm>
            <a:off x="8040020" y="2020820"/>
            <a:ext cx="3812931" cy="129059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3" name="Текст 35"/>
          <p:cNvSpPr/>
          <p:nvPr>
            <p:ph type="body" sz="quarter" idx="25"/>
          </p:nvPr>
        </p:nvSpPr>
        <p:spPr>
          <a:xfrm>
            <a:off x="406224" y="3914472"/>
            <a:ext cx="3713180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64999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chemeClr val="accent4"/>
                </a:solidFill>
              </a:defRPr>
            </a:pPr>
          </a:p>
        </p:txBody>
      </p:sp>
      <p:sp>
        <p:nvSpPr>
          <p:cNvPr id="264" name="Текст 35"/>
          <p:cNvSpPr/>
          <p:nvPr>
            <p:ph type="body" sz="quarter" idx="26"/>
          </p:nvPr>
        </p:nvSpPr>
        <p:spPr>
          <a:xfrm>
            <a:off x="356348" y="4244135"/>
            <a:ext cx="3812932" cy="129059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5" name="Текст 35"/>
          <p:cNvSpPr/>
          <p:nvPr>
            <p:ph type="body" sz="quarter" idx="27"/>
          </p:nvPr>
        </p:nvSpPr>
        <p:spPr>
          <a:xfrm>
            <a:off x="8089895" y="3914472"/>
            <a:ext cx="3713181" cy="921952"/>
          </a:xfrm>
          <a:prstGeom prst="rect">
            <a:avLst/>
          </a:prstGeom>
          <a:gradFill>
            <a:gsLst>
              <a:gs pos="0">
                <a:srgbClr val="FFF2F6">
                  <a:alpha val="20000"/>
                </a:srgbClr>
              </a:gs>
              <a:gs pos="64999">
                <a:schemeClr val="accent2">
                  <a:hueOff val="1141463"/>
                  <a:satOff val="-100000"/>
                  <a:lumOff val="8039"/>
                  <a:alpha val="0"/>
                </a:schemeClr>
              </a:gs>
            </a:gsLst>
            <a:lin ang="5400000"/>
          </a:gradFill>
        </p:spPr>
        <p:txBody>
          <a:bodyPr/>
          <a:lstStyle/>
          <a:p>
            <a:pPr>
              <a:defRPr b="1" sz="1800">
                <a:solidFill>
                  <a:schemeClr val="accent2"/>
                </a:solidFill>
              </a:defRPr>
            </a:pPr>
          </a:p>
        </p:txBody>
      </p:sp>
      <p:sp>
        <p:nvSpPr>
          <p:cNvPr id="266" name="Текст 35"/>
          <p:cNvSpPr/>
          <p:nvPr>
            <p:ph type="body" sz="quarter" idx="28"/>
          </p:nvPr>
        </p:nvSpPr>
        <p:spPr>
          <a:xfrm>
            <a:off x="8040020" y="4244135"/>
            <a:ext cx="3812931" cy="129059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7" name="Google Shape;2799;p94"/>
          <p:cNvSpPr/>
          <p:nvPr/>
        </p:nvSpPr>
        <p:spPr>
          <a:xfrm>
            <a:off x="4244694" y="1870412"/>
            <a:ext cx="686699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Google Shape;2799;p94"/>
          <p:cNvSpPr/>
          <p:nvPr/>
        </p:nvSpPr>
        <p:spPr>
          <a:xfrm>
            <a:off x="4244694" y="4094629"/>
            <a:ext cx="686699" cy="1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Google Shape;2799;p94"/>
          <p:cNvSpPr/>
          <p:nvPr/>
        </p:nvSpPr>
        <p:spPr>
          <a:xfrm>
            <a:off x="7250583" y="1870412"/>
            <a:ext cx="686699" cy="1"/>
          </a:xfrm>
          <a:prstGeom prst="line">
            <a:avLst/>
          </a:prstGeom>
          <a:ln w="25400">
            <a:solidFill>
              <a:srgbClr val="E4B8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Google Shape;2799;p94"/>
          <p:cNvSpPr/>
          <p:nvPr/>
        </p:nvSpPr>
        <p:spPr>
          <a:xfrm>
            <a:off x="7250583" y="4094629"/>
            <a:ext cx="686699" cy="1"/>
          </a:xfrm>
          <a:prstGeom prst="line">
            <a:avLst/>
          </a:prstGeom>
          <a:ln w="25400">
            <a:solidFill>
              <a:schemeClr val="accent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itle Text"/>
          <p:cNvSpPr txBox="1"/>
          <p:nvPr>
            <p:ph type="title"/>
          </p:nvPr>
        </p:nvSpPr>
        <p:spPr>
          <a:xfrm>
            <a:off x="346075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72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icture Placeholder 1"/>
          <p:cNvSpPr/>
          <p:nvPr>
            <p:ph type="pic" sz="quarter" idx="21"/>
          </p:nvPr>
        </p:nvSpPr>
        <p:spPr>
          <a:xfrm>
            <a:off x="1001459" y="1038224"/>
            <a:ext cx="1726215" cy="365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80" name="Picture Placeholder 1"/>
          <p:cNvSpPr/>
          <p:nvPr>
            <p:ph type="pic" sz="quarter" idx="22"/>
          </p:nvPr>
        </p:nvSpPr>
        <p:spPr>
          <a:xfrm>
            <a:off x="3831097" y="1038224"/>
            <a:ext cx="1726215" cy="365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81" name="Picture Placeholder 1"/>
          <p:cNvSpPr/>
          <p:nvPr>
            <p:ph type="pic" sz="quarter" idx="23"/>
          </p:nvPr>
        </p:nvSpPr>
        <p:spPr>
          <a:xfrm>
            <a:off x="6660733" y="1038224"/>
            <a:ext cx="1726215" cy="365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82" name="Picture Placeholder 1"/>
          <p:cNvSpPr/>
          <p:nvPr>
            <p:ph type="pic" sz="quarter" idx="24"/>
          </p:nvPr>
        </p:nvSpPr>
        <p:spPr>
          <a:xfrm>
            <a:off x="9490367" y="1038224"/>
            <a:ext cx="1726216" cy="365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83" name="Slide Number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4" name="Body Level One…"/>
          <p:cNvSpPr txBox="1"/>
          <p:nvPr>
            <p:ph type="body" sz="quarter" idx="1"/>
          </p:nvPr>
        </p:nvSpPr>
        <p:spPr>
          <a:xfrm>
            <a:off x="346075" y="4929435"/>
            <a:ext cx="2739249" cy="127134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5" name="Текст 7"/>
          <p:cNvSpPr/>
          <p:nvPr>
            <p:ph type="body" sz="quarter" idx="25"/>
          </p:nvPr>
        </p:nvSpPr>
        <p:spPr>
          <a:xfrm>
            <a:off x="3269562" y="4929435"/>
            <a:ext cx="2739249" cy="12713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6" name="Текст 7"/>
          <p:cNvSpPr/>
          <p:nvPr>
            <p:ph type="body" sz="quarter" idx="26"/>
          </p:nvPr>
        </p:nvSpPr>
        <p:spPr>
          <a:xfrm>
            <a:off x="6193047" y="4929435"/>
            <a:ext cx="2739250" cy="12713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Текст 7"/>
          <p:cNvSpPr/>
          <p:nvPr>
            <p:ph type="body" sz="quarter" idx="27"/>
          </p:nvPr>
        </p:nvSpPr>
        <p:spPr>
          <a:xfrm>
            <a:off x="9116534" y="4929435"/>
            <a:ext cx="2739250" cy="12713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Title Text"/>
          <p:cNvSpPr txBox="1"/>
          <p:nvPr>
            <p:ph type="title"/>
          </p:nvPr>
        </p:nvSpPr>
        <p:spPr>
          <a:xfrm>
            <a:off x="346075" y="421225"/>
            <a:ext cx="9862734" cy="3761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МАНДА «НАЗВАНИЕ»"/>
          <p:cNvSpPr txBox="1"/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КОМАНДА «НАЗВАНИЕ»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200">
                <a:solidFill>
                  <a:srgbClr val="F2F2F2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transition xmlns:p14="http://schemas.microsoft.com/office/powerpoint/2010/main" spd="med" advClick="1"/>
  <p:txStyles>
    <p:titleStyle>
      <a:lvl1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1pPr>
      <a:lvl2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2pPr>
      <a:lvl3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3pPr>
      <a:lvl4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4pPr>
      <a:lvl5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5pPr>
      <a:lvl6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6pPr>
      <a:lvl7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7pPr>
      <a:lvl8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8pPr>
      <a:lvl9pPr marL="0" marR="0" indent="0" algn="l" defTabSz="578754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0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9pPr>
    </p:titleStyle>
    <p:bodyStyle>
      <a:lvl1pPr marL="144687" marR="0" indent="-144687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1pPr>
      <a:lvl2pPr marL="458181" marR="0" indent="-168802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2pPr>
      <a:lvl3pPr marL="781320" marR="0" indent="-202563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3pPr>
      <a:lvl4pPr marL="1093204" marR="0" indent="-225070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4pPr>
      <a:lvl5pPr marL="1382582" marR="0" indent="-225070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5pPr>
      <a:lvl6pPr marL="1631035" marR="0" indent="-184148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6pPr>
      <a:lvl7pPr marL="1920415" marR="0" indent="-184148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7pPr>
      <a:lvl8pPr marL="2209794" marR="0" indent="-184148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8pPr>
      <a:lvl9pPr marL="2499172" marR="0" indent="-184148" algn="l" defTabSz="578754" rtl="0" latinLnBrk="0">
        <a:lnSpc>
          <a:spcPct val="90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2F2F2"/>
          </a:solidFill>
          <a:uFillTx/>
          <a:latin typeface="Montserrat"/>
          <a:ea typeface="Montserrat"/>
          <a:cs typeface="Montserrat"/>
          <a:sym typeface="Montserrat"/>
        </a:defRPr>
      </a:lvl9pPr>
    </p:bodyStyle>
    <p:otherStyle>
      <a:lvl1pPr marL="0" marR="0" indent="0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1pPr>
      <a:lvl2pPr marL="0" marR="0" indent="457109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2pPr>
      <a:lvl3pPr marL="0" marR="0" indent="914219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3pPr>
      <a:lvl4pPr marL="0" marR="0" indent="1371328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4pPr>
      <a:lvl5pPr marL="0" marR="0" indent="1828438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5pPr>
      <a:lvl6pPr marL="0" marR="0" indent="2285549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6pPr>
      <a:lvl7pPr marL="0" marR="0" indent="2742657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7pPr>
      <a:lvl8pPr marL="0" marR="0" indent="3199764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8pPr>
      <a:lvl9pPr marL="0" marR="0" indent="3656877" algn="ctr" defTabSz="91421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Заголовок 2"/>
          <p:cNvSpPr txBox="1"/>
          <p:nvPr>
            <p:ph type="title"/>
          </p:nvPr>
        </p:nvSpPr>
        <p:spPr>
          <a:xfrm>
            <a:off x="566927" y="4160520"/>
            <a:ext cx="6400801" cy="685801"/>
          </a:xfrm>
          <a:prstGeom prst="rect">
            <a:avLst/>
          </a:prstGeom>
        </p:spPr>
        <p:txBody>
          <a:bodyPr lIns="0" tIns="0" rIns="0" bIns="0"/>
          <a:lstStyle>
            <a:lvl1pPr indent="0"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SupernovaStar</a:t>
            </a:r>
          </a:p>
        </p:txBody>
      </p:sp>
      <p:sp>
        <p:nvSpPr>
          <p:cNvPr id="305" name="Rounded Rectangle 2133177251"/>
          <p:cNvSpPr/>
          <p:nvPr/>
        </p:nvSpPr>
        <p:spPr>
          <a:xfrm>
            <a:off x="301752" y="329184"/>
            <a:ext cx="5193792" cy="1078992"/>
          </a:xfrm>
          <a:prstGeom prst="roundRect">
            <a:avLst>
              <a:gd name="adj" fmla="val 18000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306" name="Текст 4"/>
          <p:cNvSpPr txBox="1"/>
          <p:nvPr>
            <p:ph type="body" sz="quarter" idx="1"/>
          </p:nvPr>
        </p:nvSpPr>
        <p:spPr>
          <a:xfrm>
            <a:off x="566927" y="4892040"/>
            <a:ext cx="6583682" cy="822961"/>
          </a:xfrm>
          <a:prstGeom prst="rect">
            <a:avLst/>
          </a:prstGeom>
        </p:spPr>
        <p:txBody>
          <a:bodyPr lIns="0" tIns="0" rIns="0" bIns="0"/>
          <a:lstStyle/>
          <a:p>
            <a:pPr indent="0">
              <a:lnSpc>
                <a:spcPct val="104999"/>
              </a:lnSpc>
              <a:spcBef>
                <a:spcPts val="0"/>
              </a:spcBef>
              <a:defRPr b="1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  <a:r>
              <a:t>Задача № 6. </a:t>
            </a:r>
            <a:r>
              <a:rPr b="0"/>
              <a:t>Мобильное приложение по повышению финансовой грамотности детей и молодёжи Москвы</a:t>
            </a:r>
          </a:p>
        </p:txBody>
      </p:sp>
      <p:sp>
        <p:nvSpPr>
          <p:cNvPr id="307" name="Скругленный прямоугольник 1"/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ln>
            <a:solidFill>
              <a:schemeClr val="accent2"/>
            </a:solidFill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pic>
        <p:nvPicPr>
          <p:cNvPr id="308" name="Picture 2133177252" descr="Picture 21331772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7790" y="475487"/>
            <a:ext cx="1801716" cy="786385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TextBox 2133177253"/>
          <p:cNvSpPr txBox="1"/>
          <p:nvPr/>
        </p:nvSpPr>
        <p:spPr>
          <a:xfrm>
            <a:off x="566927" y="2011679"/>
            <a:ext cx="6400801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63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Питомец Дзынь</a:t>
            </a:r>
          </a:p>
        </p:txBody>
      </p:sp>
      <p:sp>
        <p:nvSpPr>
          <p:cNvPr id="310" name="TextBox 2133177254"/>
          <p:cNvSpPr txBox="1"/>
          <p:nvPr/>
        </p:nvSpPr>
        <p:spPr>
          <a:xfrm>
            <a:off x="566927" y="3017520"/>
            <a:ext cx="6035042" cy="57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>
                <a:solidFill>
                  <a:srgbClr val="FFD6E4"/>
                </a:solidFill>
              </a:defRPr>
            </a:lvl1pPr>
          </a:lstStyle>
          <a:p>
            <a:pPr/>
            <a:r>
              <a:t>Игра про питомца, с которым ребёнок учится обращаться с деньгами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Screenshot 2026-09-29 at 22.22.53.png" descr="Screenshot 2026-09-29 at 22.22.5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89301" y="273441"/>
            <a:ext cx="2521104" cy="2954076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Текст 8"/>
          <p:cNvSpPr txBox="1"/>
          <p:nvPr/>
        </p:nvSpPr>
        <p:spPr>
          <a:xfrm>
            <a:off x="6865623" y="2303117"/>
            <a:ext cx="4854125" cy="668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578754">
              <a:spcBef>
                <a:spcPts val="600"/>
              </a:spcBef>
              <a:defRPr b="1" sz="1600">
                <a:solidFill>
                  <a:schemeClr val="accent5"/>
                </a:solidFill>
              </a:defRPr>
            </a:lvl1pPr>
          </a:lstStyle>
          <a:p>
            <a:pPr/>
            <a:r>
              <a:t>Краткое описание решения:</a:t>
            </a:r>
          </a:p>
        </p:txBody>
      </p:sp>
      <p:sp>
        <p:nvSpPr>
          <p:cNvPr id="314" name="Текст 8"/>
          <p:cNvSpPr txBox="1"/>
          <p:nvPr/>
        </p:nvSpPr>
        <p:spPr>
          <a:xfrm>
            <a:off x="6882325" y="4876069"/>
            <a:ext cx="4854127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578754">
              <a:lnSpc>
                <a:spcPct val="104999"/>
              </a:lnSpc>
              <a:spcBef>
                <a:spcPts val="400"/>
              </a:spcBef>
              <a:defRPr sz="1200">
                <a:solidFill>
                  <a:srgbClr val="1C1D22"/>
                </a:solidFill>
              </a:defRPr>
            </a:pPr>
            <a:r>
              <a:t>Деньги в игре ценны ровно настолько, насколько меняют жизнь питомца. Цена и последствие видны до нажатия, копилка платит за терпение, крупная цель открывает новое занятие.</a:t>
            </a:r>
            <a:endParaRPr sz="1400">
              <a:solidFill>
                <a:srgbClr val="F2F2F2"/>
              </a:solidFill>
            </a:endParaRPr>
          </a:p>
          <a:p>
            <a:pPr defTabSz="578754">
              <a:lnSpc>
                <a:spcPct val="104999"/>
              </a:lnSpc>
              <a:defRPr b="1" sz="1200">
                <a:solidFill>
                  <a:srgbClr val="1C1D22"/>
                </a:solidFill>
              </a:defRPr>
            </a:pPr>
            <a:r>
              <a:t>Нет рекламы, платных покупок и прямых советов, поэтому родитель спокойно разрешает установку.</a:t>
            </a:r>
          </a:p>
        </p:txBody>
      </p:sp>
      <p:sp>
        <p:nvSpPr>
          <p:cNvPr id="315" name="Текст 8"/>
          <p:cNvSpPr txBox="1"/>
          <p:nvPr/>
        </p:nvSpPr>
        <p:spPr>
          <a:xfrm>
            <a:off x="380682" y="3883009"/>
            <a:ext cx="5538418" cy="2399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44687" indent="-144687" defTabSz="578754">
              <a:lnSpc>
                <a:spcPct val="120000"/>
              </a:lnSpc>
              <a:buClr>
                <a:schemeClr val="accent1"/>
              </a:buClr>
              <a:buSzPct val="100000"/>
              <a:buChar char="▪"/>
              <a:defRPr b="1" sz="1400"/>
            </a:pPr>
            <a:r>
              <a:t>Капитан: </a:t>
            </a:r>
            <a:r>
              <a:rPr b="0"/>
              <a:t>инженер-программист</a:t>
            </a:r>
            <a:r>
              <a:rPr b="0">
                <a:solidFill>
                  <a:srgbClr val="F2F2F2"/>
                </a:solidFill>
              </a:rPr>
              <a:t> </a:t>
            </a:r>
            <a:r>
              <a:t>Борисовская Алёна Алексеевна</a:t>
            </a:r>
            <a:endParaRPr b="0"/>
          </a:p>
          <a:p>
            <a:pPr marL="144687" indent="-144687" defTabSz="578754">
              <a:lnSpc>
                <a:spcPct val="120000"/>
              </a:lnSpc>
              <a:buClr>
                <a:schemeClr val="accent1"/>
              </a:buClr>
              <a:buSzPct val="100000"/>
              <a:buChar char="▪"/>
              <a:defRPr b="1" sz="1400"/>
            </a:pPr>
            <a:r>
              <a:t>Кол-во участников: </a:t>
            </a:r>
            <a:r>
              <a:rPr b="0"/>
              <a:t>3 человека</a:t>
            </a:r>
            <a:endParaRPr>
              <a:solidFill>
                <a:srgbClr val="F2F2F2"/>
              </a:solidFill>
            </a:endParaRPr>
          </a:p>
          <a:p>
            <a:pPr marL="144687" indent="-144687" defTabSz="578754">
              <a:lnSpc>
                <a:spcPct val="120000"/>
              </a:lnSpc>
              <a:buClr>
                <a:schemeClr val="accent1"/>
              </a:buClr>
              <a:buSzPct val="100000"/>
              <a:buChar char="▪"/>
              <a:defRPr b="1" sz="1400"/>
            </a:pPr>
            <a:r>
              <a:t>Краткое описание: мы перезнакомились на встречах для разработчиков</a:t>
            </a:r>
            <a:endParaRPr>
              <a:solidFill>
                <a:srgbClr val="F2F2F2"/>
              </a:solidFill>
            </a:endParaRPr>
          </a:p>
          <a:p>
            <a:pPr marL="144687" indent="-144687" defTabSz="578754">
              <a:lnSpc>
                <a:spcPct val="120000"/>
              </a:lnSpc>
              <a:buClr>
                <a:schemeClr val="accent1"/>
              </a:buClr>
              <a:buSzPct val="100000"/>
              <a:buChar char="▪"/>
              <a:defRPr b="1" sz="1400"/>
            </a:pPr>
            <a:r>
              <a:t>Город и регион: Москва</a:t>
            </a:r>
          </a:p>
        </p:txBody>
      </p:sp>
      <p:sp>
        <p:nvSpPr>
          <p:cNvPr id="316" name="Текст 8"/>
          <p:cNvSpPr txBox="1"/>
          <p:nvPr/>
        </p:nvSpPr>
        <p:spPr>
          <a:xfrm>
            <a:off x="380681" y="3484784"/>
            <a:ext cx="2898735" cy="35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578754">
              <a:spcBef>
                <a:spcPts val="600"/>
              </a:spcBef>
              <a:defRPr b="1" sz="1600">
                <a:solidFill>
                  <a:schemeClr val="accent5"/>
                </a:solidFill>
              </a:defRPr>
            </a:lvl1pPr>
          </a:lstStyle>
          <a:p>
            <a:pPr/>
            <a:r>
              <a:t>О команде</a:t>
            </a:r>
          </a:p>
        </p:txBody>
      </p:sp>
      <p:sp>
        <p:nvSpPr>
          <p:cNvPr id="317" name="Заголовок 6"/>
          <p:cNvSpPr txBox="1"/>
          <p:nvPr>
            <p:ph type="title"/>
          </p:nvPr>
        </p:nvSpPr>
        <p:spPr>
          <a:xfrm>
            <a:off x="6819902" y="1039235"/>
            <a:ext cx="4937762" cy="1015128"/>
          </a:xfrm>
          <a:prstGeom prst="rect">
            <a:avLst/>
          </a:prstGeom>
        </p:spPr>
        <p:txBody>
          <a:bodyPr/>
          <a:lstStyle/>
          <a:p>
            <a:pPr>
              <a:defRPr sz="3600">
                <a:solidFill>
                  <a:srgbClr val="520978"/>
                </a:solidFill>
              </a:defRPr>
            </a:pPr>
            <a:r>
              <a:t>Питомец Дзынь</a:t>
            </a:r>
          </a:p>
          <a:p>
            <a:pPr>
              <a:defRPr b="0" sz="1300">
                <a:solidFill>
                  <a:srgbClr val="5E5868"/>
                </a:solidFill>
              </a:defRPr>
            </a:pPr>
            <a:r>
              <a:t>финансовая грамотность через заботу о питомце</a:t>
            </a:r>
          </a:p>
        </p:txBody>
      </p:sp>
      <p:sp>
        <p:nvSpPr>
          <p:cNvPr id="318" name="Прямая соединительная линия 6"/>
          <p:cNvSpPr/>
          <p:nvPr/>
        </p:nvSpPr>
        <p:spPr>
          <a:xfrm>
            <a:off x="6880773" y="2240030"/>
            <a:ext cx="4884825" cy="1"/>
          </a:xfrm>
          <a:prstGeom prst="line">
            <a:avLst/>
          </a:prstGeom>
          <a:ln w="1270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Прямая соединительная линия 15"/>
          <p:cNvSpPr/>
          <p:nvPr/>
        </p:nvSpPr>
        <p:spPr>
          <a:xfrm>
            <a:off x="6897347" y="4437879"/>
            <a:ext cx="4884825" cy="1"/>
          </a:xfrm>
          <a:prstGeom prst="line">
            <a:avLst/>
          </a:prstGeom>
          <a:ln w="1270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Прямая соединительная линия 16"/>
          <p:cNvSpPr/>
          <p:nvPr/>
        </p:nvSpPr>
        <p:spPr>
          <a:xfrm>
            <a:off x="395832" y="3448639"/>
            <a:ext cx="5700169" cy="1"/>
          </a:xfrm>
          <a:prstGeom prst="line">
            <a:avLst/>
          </a:prstGeom>
          <a:ln w="635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Текст 8"/>
          <p:cNvSpPr txBox="1"/>
          <p:nvPr/>
        </p:nvSpPr>
        <p:spPr>
          <a:xfrm>
            <a:off x="6865623" y="4541737"/>
            <a:ext cx="4854125" cy="668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578754">
              <a:spcBef>
                <a:spcPts val="600"/>
              </a:spcBef>
              <a:defRPr b="1" sz="1600">
                <a:solidFill>
                  <a:schemeClr val="accent5"/>
                </a:solidFill>
              </a:defRPr>
            </a:lvl1pPr>
          </a:lstStyle>
          <a:p>
            <a:pPr/>
            <a:r>
              <a:t>Уникальность решения:</a:t>
            </a:r>
          </a:p>
        </p:txBody>
      </p:sp>
      <p:sp>
        <p:nvSpPr>
          <p:cNvPr id="322" name="Текст 8"/>
          <p:cNvSpPr txBox="1"/>
          <p:nvPr/>
        </p:nvSpPr>
        <p:spPr>
          <a:xfrm>
            <a:off x="6853746" y="2619903"/>
            <a:ext cx="4854127" cy="1253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578754">
              <a:lnSpc>
                <a:spcPct val="104999"/>
              </a:lnSpc>
              <a:spcBef>
                <a:spcPts val="400"/>
              </a:spcBef>
              <a:defRPr sz="1200">
                <a:solidFill>
                  <a:srgbClr val="1C1D22"/>
                </a:solidFill>
              </a:defRPr>
            </a:pPr>
            <a:r>
              <a:t>Мобильная игра для детей 6-12 лет на Android. Ребёнок заботится о питомце по имени Дзынь, выполняет задания и получает дзыньки, раскладывает их по мешочкам «Нужное», «Хочу», «Копилка» и копит на цели.</a:t>
            </a:r>
            <a:endParaRPr sz="1400">
              <a:solidFill>
                <a:srgbClr val="F2F2F2"/>
              </a:solidFill>
            </a:endParaRPr>
          </a:p>
          <a:p>
            <a:pPr defTabSz="578754">
              <a:lnSpc>
                <a:spcPct val="104999"/>
              </a:lnSpc>
              <a:defRPr b="1" sz="1200">
                <a:solidFill>
                  <a:srgbClr val="1C1D22"/>
                </a:solidFill>
              </a:defRPr>
            </a:pPr>
            <a:r>
              <a:t>Финансовая грамотность встроена в заботу о питомце: без уроков, тестов и оценок.</a:t>
            </a:r>
          </a:p>
        </p:txBody>
      </p:sp>
      <p:sp>
        <p:nvSpPr>
          <p:cNvPr id="323" name="Номер слайда 35"/>
          <p:cNvSpPr txBox="1"/>
          <p:nvPr>
            <p:ph type="sldNum" sz="quarter" idx="4294967295"/>
          </p:nvPr>
        </p:nvSpPr>
        <p:spPr>
          <a:xfrm>
            <a:off x="11598617" y="6356356"/>
            <a:ext cx="188899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t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Скругленный прямоугольник 55"/>
          <p:cNvSpPr/>
          <p:nvPr/>
        </p:nvSpPr>
        <p:spPr>
          <a:xfrm>
            <a:off x="2644906" y="1522006"/>
            <a:ext cx="2192714" cy="4834352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326" name="Скругленный прямоугольник 55"/>
          <p:cNvSpPr/>
          <p:nvPr/>
        </p:nvSpPr>
        <p:spPr>
          <a:xfrm>
            <a:off x="4956733" y="1522006"/>
            <a:ext cx="2192714" cy="4834352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327" name="Скругленный прямоугольник 55"/>
          <p:cNvSpPr/>
          <p:nvPr/>
        </p:nvSpPr>
        <p:spPr>
          <a:xfrm>
            <a:off x="7262041" y="1522006"/>
            <a:ext cx="2192714" cy="4834352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pic>
        <p:nvPicPr>
          <p:cNvPr id="328" name="DEV_ALENA.jpg" descr="DEV_ALENA.jpg"/>
          <p:cNvPicPr>
            <a:picLocks noChangeAspect="1"/>
          </p:cNvPicPr>
          <p:nvPr/>
        </p:nvPicPr>
        <p:blipFill>
          <a:blip r:embed="rId2">
            <a:extLst/>
          </a:blip>
          <a:srcRect l="4" t="525" r="0" b="6"/>
          <a:stretch>
            <a:fillRect/>
          </a:stretch>
        </p:blipFill>
        <p:spPr>
          <a:xfrm>
            <a:off x="2611150" y="1482318"/>
            <a:ext cx="2226301" cy="221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44" y="0"/>
                </a:moveTo>
                <a:cubicBezTo>
                  <a:pt x="1086" y="0"/>
                  <a:pt x="350" y="506"/>
                  <a:pt x="0" y="1235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1243"/>
                </a:lnTo>
                <a:cubicBezTo>
                  <a:pt x="21252" y="509"/>
                  <a:pt x="20514" y="0"/>
                  <a:pt x="19652" y="0"/>
                </a:cubicBezTo>
                <a:lnTo>
                  <a:pt x="19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29" name="Текст 8"/>
          <p:cNvSpPr txBox="1"/>
          <p:nvPr/>
        </p:nvSpPr>
        <p:spPr>
          <a:xfrm>
            <a:off x="2869398" y="4250028"/>
            <a:ext cx="1802915" cy="1624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44687" indent="-144687" defTabSz="57875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Лидер команды, разработчик</a:t>
            </a:r>
          </a:p>
          <a:p>
            <a:pPr marL="144687" indent="-144687" defTabSz="57875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@krautkraft</a:t>
            </a:r>
          </a:p>
          <a:p>
            <a:pPr marL="144687" indent="-144687" defTabSz="57875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СберДевайсы</a:t>
            </a:r>
          </a:p>
        </p:txBody>
      </p:sp>
      <p:sp>
        <p:nvSpPr>
          <p:cNvPr id="330" name="Текст 8"/>
          <p:cNvSpPr txBox="1"/>
          <p:nvPr/>
        </p:nvSpPr>
        <p:spPr>
          <a:xfrm>
            <a:off x="2869396" y="3693642"/>
            <a:ext cx="1631127" cy="62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578754">
              <a:lnSpc>
                <a:spcPct val="90000"/>
              </a:lnSpc>
              <a:spcBef>
                <a:spcPts val="600"/>
              </a:spcBef>
              <a:defRPr b="1" sz="1600">
                <a:solidFill>
                  <a:schemeClr val="accent5"/>
                </a:solidFill>
              </a:defRPr>
            </a:lvl1pPr>
          </a:lstStyle>
          <a:p>
            <a:pPr/>
            <a:r>
              <a:t>Борисовская Алёна</a:t>
            </a:r>
          </a:p>
        </p:txBody>
      </p:sp>
      <p:pic>
        <p:nvPicPr>
          <p:cNvPr id="331" name="DEV_JULIA.jpg" descr="DEV_JULIA.jpg"/>
          <p:cNvPicPr>
            <a:picLocks noChangeAspect="1"/>
          </p:cNvPicPr>
          <p:nvPr/>
        </p:nvPicPr>
        <p:blipFill>
          <a:blip r:embed="rId3">
            <a:extLst/>
          </a:blip>
          <a:srcRect l="1825" t="6177" r="1824" b="2"/>
          <a:stretch>
            <a:fillRect/>
          </a:stretch>
        </p:blipFill>
        <p:spPr>
          <a:xfrm>
            <a:off x="4956712" y="1522006"/>
            <a:ext cx="2192735" cy="2135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23" y="0"/>
                </a:moveTo>
                <a:cubicBezTo>
                  <a:pt x="951" y="0"/>
                  <a:pt x="0" y="977"/>
                  <a:pt x="0" y="218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2180"/>
                </a:lnTo>
                <a:cubicBezTo>
                  <a:pt x="21600" y="977"/>
                  <a:pt x="20649" y="0"/>
                  <a:pt x="19477" y="0"/>
                </a:cubicBezTo>
                <a:lnTo>
                  <a:pt x="212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32" name="Текст 8"/>
          <p:cNvSpPr txBox="1"/>
          <p:nvPr/>
        </p:nvSpPr>
        <p:spPr>
          <a:xfrm>
            <a:off x="5174715" y="4250028"/>
            <a:ext cx="1802915" cy="1624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44687" indent="-144687" defTabSz="57875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Гейм-дизайнер</a:t>
            </a:r>
          </a:p>
          <a:p>
            <a:pPr marL="144687" indent="-144687" defTabSz="57875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@yuliaplatova</a:t>
            </a:r>
          </a:p>
          <a:p>
            <a:pPr marL="144687" indent="-144687" defTabSz="578754">
              <a:lnSpc>
                <a:spcPct val="90000"/>
              </a:lnSpc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МФТИ</a:t>
            </a:r>
          </a:p>
        </p:txBody>
      </p:sp>
      <p:sp>
        <p:nvSpPr>
          <p:cNvPr id="333" name="Текст 8"/>
          <p:cNvSpPr txBox="1"/>
          <p:nvPr/>
        </p:nvSpPr>
        <p:spPr>
          <a:xfrm>
            <a:off x="5174717" y="3693642"/>
            <a:ext cx="1631127" cy="62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578754">
              <a:lnSpc>
                <a:spcPct val="90000"/>
              </a:lnSpc>
              <a:spcBef>
                <a:spcPts val="600"/>
              </a:spcBef>
              <a:defRPr b="1" sz="1600">
                <a:solidFill>
                  <a:schemeClr val="accent5"/>
                </a:solidFill>
              </a:defRPr>
            </a:lvl1pPr>
          </a:lstStyle>
          <a:p>
            <a:pPr/>
            <a:r>
              <a:t>Платова Юлия</a:t>
            </a:r>
          </a:p>
        </p:txBody>
      </p:sp>
      <p:pic>
        <p:nvPicPr>
          <p:cNvPr id="334" name="DEV_DENIS.jpg" descr="DEV_DENIS.jpg"/>
          <p:cNvPicPr>
            <a:picLocks noChangeAspect="1"/>
          </p:cNvPicPr>
          <p:nvPr/>
        </p:nvPicPr>
        <p:blipFill>
          <a:blip r:embed="rId4">
            <a:extLst/>
          </a:blip>
          <a:srcRect l="2608" t="8040" r="2607" b="7"/>
          <a:stretch>
            <a:fillRect/>
          </a:stretch>
        </p:blipFill>
        <p:spPr>
          <a:xfrm>
            <a:off x="7262031" y="1522006"/>
            <a:ext cx="2192735" cy="2127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23" y="0"/>
                </a:moveTo>
                <a:cubicBezTo>
                  <a:pt x="951" y="0"/>
                  <a:pt x="0" y="981"/>
                  <a:pt x="0" y="2188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2188"/>
                </a:lnTo>
                <a:cubicBezTo>
                  <a:pt x="21600" y="981"/>
                  <a:pt x="20649" y="0"/>
                  <a:pt x="19477" y="0"/>
                </a:cubicBezTo>
                <a:lnTo>
                  <a:pt x="212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35" name="Текст 8"/>
          <p:cNvSpPr txBox="1"/>
          <p:nvPr/>
        </p:nvSpPr>
        <p:spPr>
          <a:xfrm>
            <a:off x="7480035" y="4250028"/>
            <a:ext cx="1802915" cy="1624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44687" indent="-144687" defTabSz="57875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Архитектор</a:t>
            </a:r>
          </a:p>
          <a:p>
            <a:pPr marL="144687" indent="-144687" defTabSz="578754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@zalmek</a:t>
            </a:r>
            <a:endParaRPr sz="1400">
              <a:solidFill>
                <a:srgbClr val="F2F2F2"/>
              </a:solidFill>
            </a:endParaRPr>
          </a:p>
          <a:p>
            <a:pPr marL="144687" indent="-144687" defTabSz="578754">
              <a:lnSpc>
                <a:spcPct val="90000"/>
              </a:lnSpc>
              <a:buClr>
                <a:schemeClr val="accent1"/>
              </a:buClr>
              <a:buSzPct val="100000"/>
              <a:buFont typeface="Arial"/>
              <a:buChar char="•"/>
              <a:defRPr sz="1200"/>
            </a:pPr>
            <a:r>
              <a:t>Яндекс</a:t>
            </a:r>
          </a:p>
        </p:txBody>
      </p:sp>
      <p:sp>
        <p:nvSpPr>
          <p:cNvPr id="336" name="Текст 8"/>
          <p:cNvSpPr txBox="1"/>
          <p:nvPr/>
        </p:nvSpPr>
        <p:spPr>
          <a:xfrm>
            <a:off x="7480035" y="3693642"/>
            <a:ext cx="1631127" cy="62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578754">
              <a:lnSpc>
                <a:spcPct val="90000"/>
              </a:lnSpc>
              <a:spcBef>
                <a:spcPts val="600"/>
              </a:spcBef>
              <a:defRPr b="1" sz="1600">
                <a:solidFill>
                  <a:schemeClr val="accent5"/>
                </a:solidFill>
              </a:defRPr>
            </a:lvl1pPr>
          </a:lstStyle>
          <a:p>
            <a:pPr/>
            <a:r>
              <a:t>Толстолуцкий Денис</a:t>
            </a:r>
          </a:p>
        </p:txBody>
      </p:sp>
      <p:grpSp>
        <p:nvGrpSpPr>
          <p:cNvPr id="339" name="Скругленный прямоугольник 12"/>
          <p:cNvGrpSpPr/>
          <p:nvPr/>
        </p:nvGrpSpPr>
        <p:grpSpPr>
          <a:xfrm>
            <a:off x="346075" y="324561"/>
            <a:ext cx="1888236" cy="620920"/>
            <a:chOff x="0" y="0"/>
            <a:chExt cx="1888235" cy="620918"/>
          </a:xfrm>
        </p:grpSpPr>
        <p:sp>
          <p:nvSpPr>
            <p:cNvPr id="337" name="Rounded Rectangle"/>
            <p:cNvSpPr/>
            <p:nvPr/>
          </p:nvSpPr>
          <p:spPr>
            <a:xfrm>
              <a:off x="0" y="0"/>
              <a:ext cx="1888236" cy="620919"/>
            </a:xfrm>
            <a:prstGeom prst="roundRect">
              <a:avLst>
                <a:gd name="adj" fmla="val 1870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338" name="КОМАНДА"/>
            <p:cNvSpPr txBox="1"/>
            <p:nvPr/>
          </p:nvSpPr>
          <p:spPr>
            <a:xfrm>
              <a:off x="198610" y="139771"/>
              <a:ext cx="1379305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КОМАНДА</a:t>
              </a:r>
            </a:p>
          </p:txBody>
        </p:sp>
      </p:grpSp>
      <p:sp>
        <p:nvSpPr>
          <p:cNvPr id="340" name="Номер слайда 17"/>
          <p:cNvSpPr txBox="1"/>
          <p:nvPr>
            <p:ph type="sldNum" sz="quarter" idx="2"/>
          </p:nvPr>
        </p:nvSpPr>
        <p:spPr>
          <a:xfrm>
            <a:off x="11598617" y="6404299"/>
            <a:ext cx="188899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Скругленный прямоугольник 1"/>
          <p:cNvGrpSpPr/>
          <p:nvPr/>
        </p:nvGrpSpPr>
        <p:grpSpPr>
          <a:xfrm>
            <a:off x="346075" y="324561"/>
            <a:ext cx="3849624" cy="620920"/>
            <a:chOff x="0" y="0"/>
            <a:chExt cx="3849623" cy="620918"/>
          </a:xfrm>
        </p:grpSpPr>
        <p:sp>
          <p:nvSpPr>
            <p:cNvPr id="342" name="Rounded Rectangle"/>
            <p:cNvSpPr/>
            <p:nvPr/>
          </p:nvSpPr>
          <p:spPr>
            <a:xfrm>
              <a:off x="0" y="0"/>
              <a:ext cx="3849624" cy="620919"/>
            </a:xfrm>
            <a:prstGeom prst="roundRect">
              <a:avLst>
                <a:gd name="adj" fmla="val 1870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343" name="О КОМАНДЕ И ЗАДАЧЕ"/>
            <p:cNvSpPr txBox="1"/>
            <p:nvPr/>
          </p:nvSpPr>
          <p:spPr>
            <a:xfrm>
              <a:off x="198610" y="139771"/>
              <a:ext cx="3021995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О КОМАНДЕ И ЗАДАЧЕ</a:t>
              </a:r>
            </a:p>
          </p:txBody>
        </p:sp>
      </p:grpSp>
      <p:sp>
        <p:nvSpPr>
          <p:cNvPr id="345" name="Номер слайда 17"/>
          <p:cNvSpPr txBox="1"/>
          <p:nvPr>
            <p:ph type="sldNum" sz="quarter" idx="2"/>
          </p:nvPr>
        </p:nvSpPr>
        <p:spPr>
          <a:xfrm>
            <a:off x="11598617" y="6404299"/>
            <a:ext cx="188899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46" name="Текст 8"/>
          <p:cNvSpPr txBox="1"/>
          <p:nvPr>
            <p:ph type="body" sz="quarter" idx="1"/>
          </p:nvPr>
        </p:nvSpPr>
        <p:spPr>
          <a:xfrm>
            <a:off x="630936" y="1602273"/>
            <a:ext cx="5486401" cy="934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4999"/>
              </a:lnSpc>
              <a:spcBef>
                <a:spcPts val="0"/>
              </a:spcBef>
              <a:buSzTx/>
              <a:buFont typeface="Wingdings"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Собравшись на прошлом хакатоне и уже пройдя вместе несколько проектов, мы стали идеальным трио, где Алена спасает дедлайны гениальными питчами, Юля видит смещение пикселя за километр, а Денис чинит бэкенд просто строгим взглядом.</a:t>
            </a:r>
          </a:p>
        </p:txBody>
      </p:sp>
      <p:sp>
        <p:nvSpPr>
          <p:cNvPr id="347" name="Текст 8"/>
          <p:cNvSpPr txBox="1"/>
          <p:nvPr/>
        </p:nvSpPr>
        <p:spPr>
          <a:xfrm>
            <a:off x="630935" y="1325364"/>
            <a:ext cx="2898735" cy="26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578754">
              <a:spcBef>
                <a:spcPts val="600"/>
              </a:spcBef>
              <a:defRPr b="1" sz="1400">
                <a:solidFill>
                  <a:schemeClr val="accent5"/>
                </a:solidFill>
              </a:defRPr>
            </a:lvl1pPr>
          </a:lstStyle>
          <a:p>
            <a:pPr/>
            <a:r>
              <a:t>Краткая история команды:</a:t>
            </a:r>
          </a:p>
        </p:txBody>
      </p:sp>
      <p:sp>
        <p:nvSpPr>
          <p:cNvPr id="348" name="Текст 8"/>
          <p:cNvSpPr txBox="1"/>
          <p:nvPr/>
        </p:nvSpPr>
        <p:spPr>
          <a:xfrm>
            <a:off x="676655" y="4919471"/>
            <a:ext cx="10058402" cy="1070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46304" indent="-146304" defTabSz="578754">
              <a:lnSpc>
                <a:spcPct val="102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1" sz="1200">
                <a:solidFill>
                  <a:srgbClr val="520978"/>
                </a:solidFill>
              </a:defRPr>
            </a:pPr>
            <a:r>
              <a:t>Интерес на месяцы. </a:t>
            </a:r>
            <a:r>
              <a:rPr b="0">
                <a:solidFill>
                  <a:srgbClr val="1C1D22"/>
                </a:solidFill>
              </a:rPr>
              <a:t>Виртуальный тамагочи ребёнку быстро надоел. Поэтому каждая крупная цель открывает новое занятие, а питомец растёт по стадиям.</a:t>
            </a:r>
            <a:endParaRPr sz="1400">
              <a:solidFill>
                <a:srgbClr val="F2F2F2"/>
              </a:solidFill>
            </a:endParaRPr>
          </a:p>
          <a:p>
            <a:pPr marL="146304" indent="-146304" defTabSz="578754">
              <a:lnSpc>
                <a:spcPct val="102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1" sz="1200">
                <a:solidFill>
                  <a:srgbClr val="520978"/>
                </a:solidFill>
              </a:defRPr>
            </a:pPr>
            <a:r>
              <a:t>Одна экономика. </a:t>
            </a:r>
            <a:r>
              <a:rPr b="0">
                <a:solidFill>
                  <a:srgbClr val="1C1D22"/>
                </a:solidFill>
              </a:rPr>
              <a:t>Сначала доход и траты считали в нескольких моделях. Свели все числа в одну модель и расчётом проверили сроки накопления.</a:t>
            </a:r>
            <a:endParaRPr sz="1400">
              <a:solidFill>
                <a:srgbClr val="F2F2F2"/>
              </a:solidFill>
            </a:endParaRPr>
          </a:p>
          <a:p>
            <a:pPr marL="146304" indent="-146304" defTabSz="578754">
              <a:lnSpc>
                <a:spcPct val="102000"/>
              </a:lnSpc>
              <a:buClr>
                <a:schemeClr val="accent1"/>
              </a:buClr>
              <a:buSzPct val="100000"/>
              <a:buFont typeface="Arial"/>
              <a:buChar char="•"/>
              <a:defRPr b="1" sz="1200">
                <a:solidFill>
                  <a:srgbClr val="520978"/>
                </a:solidFill>
              </a:defRPr>
            </a:pPr>
            <a:r>
              <a:t>Учить без нотаций. </a:t>
            </a:r>
            <a:r>
              <a:rPr b="0">
                <a:solidFill>
                  <a:srgbClr val="1C1D22"/>
                </a:solidFill>
              </a:rPr>
              <a:t>Питомец говорит только о своих чувствах, числа показывает интерфейс, любой выбор ребёнка засчитывается.</a:t>
            </a:r>
          </a:p>
        </p:txBody>
      </p:sp>
      <p:sp>
        <p:nvSpPr>
          <p:cNvPr id="349" name="Текст 8"/>
          <p:cNvSpPr txBox="1"/>
          <p:nvPr/>
        </p:nvSpPr>
        <p:spPr>
          <a:xfrm>
            <a:off x="630936" y="4571472"/>
            <a:ext cx="10058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578754">
              <a:lnSpc>
                <a:spcPct val="90000"/>
              </a:lnSpc>
              <a:defRPr b="1" sz="1300">
                <a:solidFill>
                  <a:srgbClr val="520978"/>
                </a:solidFill>
              </a:defRPr>
            </a:lvl1pPr>
          </a:lstStyle>
          <a:p>
            <a:pPr/>
            <a:r>
              <a:t>С какими основными сложностями или вызовами вы столкнулись и как их преодолели?</a:t>
            </a:r>
          </a:p>
        </p:txBody>
      </p:sp>
      <p:sp>
        <p:nvSpPr>
          <p:cNvPr id="350" name="Текст 8"/>
          <p:cNvSpPr txBox="1"/>
          <p:nvPr/>
        </p:nvSpPr>
        <p:spPr>
          <a:xfrm>
            <a:off x="630935" y="3291840"/>
            <a:ext cx="10149842" cy="55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578754">
              <a:lnSpc>
                <a:spcPct val="104999"/>
              </a:lnSpc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Кастдев показал: знания о деньгах ребёнок получает только дома, семья говорит о них раз в месяц, и родителю труднее всего объяснить разницу между «хочу» и «надо». Мы хотим сделать эту разницу видимой в игре, к которой ребёнок возвращается сам, и соблюсти условия родителей: без рекламы, платных покупок и прямых советов.</a:t>
            </a:r>
          </a:p>
        </p:txBody>
      </p:sp>
      <p:sp>
        <p:nvSpPr>
          <p:cNvPr id="351" name="Текст 8"/>
          <p:cNvSpPr txBox="1"/>
          <p:nvPr/>
        </p:nvSpPr>
        <p:spPr>
          <a:xfrm>
            <a:off x="630936" y="2900090"/>
            <a:ext cx="10058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578754">
              <a:lnSpc>
                <a:spcPct val="90000"/>
              </a:lnSpc>
              <a:defRPr b="1" sz="1300">
                <a:solidFill>
                  <a:srgbClr val="520978"/>
                </a:solidFill>
              </a:defRPr>
            </a:lvl1pPr>
          </a:lstStyle>
          <a:p>
            <a:pPr/>
            <a:r>
              <a:t>Почему вы выбрали именно эту задачу из предложенных на хакатоне?</a:t>
            </a:r>
          </a:p>
        </p:txBody>
      </p:sp>
      <p:sp>
        <p:nvSpPr>
          <p:cNvPr id="352" name="Прямая соединительная линия 4"/>
          <p:cNvSpPr/>
          <p:nvPr/>
        </p:nvSpPr>
        <p:spPr>
          <a:xfrm>
            <a:off x="623887" y="2745689"/>
            <a:ext cx="11233152" cy="1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Прямая соединительная линия 5"/>
          <p:cNvSpPr/>
          <p:nvPr/>
        </p:nvSpPr>
        <p:spPr>
          <a:xfrm>
            <a:off x="623887" y="4407065"/>
            <a:ext cx="11233152" cy="1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Прямая соединительная линия 7"/>
          <p:cNvSpPr/>
          <p:nvPr/>
        </p:nvSpPr>
        <p:spPr>
          <a:xfrm>
            <a:off x="623887" y="1110074"/>
            <a:ext cx="11233152" cy="1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Текст 8"/>
          <p:cNvSpPr txBox="1"/>
          <p:nvPr/>
        </p:nvSpPr>
        <p:spPr>
          <a:xfrm>
            <a:off x="11061508" y="1279644"/>
            <a:ext cx="865399" cy="35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 defTabSz="578754">
              <a:lnSpc>
                <a:spcPct val="90000"/>
              </a:lnSpc>
              <a:spcBef>
                <a:spcPts val="600"/>
              </a:spcBef>
              <a:defRPr b="1" sz="1400">
                <a:solidFill>
                  <a:schemeClr val="accent5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56" name="Текст 8"/>
          <p:cNvSpPr txBox="1"/>
          <p:nvPr/>
        </p:nvSpPr>
        <p:spPr>
          <a:xfrm>
            <a:off x="11061508" y="2836083"/>
            <a:ext cx="839156" cy="528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 defTabSz="578754">
              <a:spcBef>
                <a:spcPts val="600"/>
              </a:spcBef>
              <a:defRPr b="1" sz="1400">
                <a:solidFill>
                  <a:schemeClr val="accent5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57" name="Текст 8"/>
          <p:cNvSpPr txBox="1"/>
          <p:nvPr/>
        </p:nvSpPr>
        <p:spPr>
          <a:xfrm>
            <a:off x="11061508" y="4507464"/>
            <a:ext cx="839157" cy="567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 defTabSz="578754">
              <a:spcBef>
                <a:spcPts val="600"/>
              </a:spcBef>
              <a:defRPr b="1" sz="1400">
                <a:solidFill>
                  <a:schemeClr val="accent5"/>
                </a:solidFill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Скругленный прямоугольник 9"/>
          <p:cNvSpPr/>
          <p:nvPr/>
        </p:nvSpPr>
        <p:spPr>
          <a:xfrm>
            <a:off x="346075" y="324561"/>
            <a:ext cx="3750911" cy="62092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360" name="Скругленный прямоугольник 23"/>
          <p:cNvSpPr/>
          <p:nvPr/>
        </p:nvSpPr>
        <p:spPr>
          <a:xfrm>
            <a:off x="6230773" y="1211284"/>
            <a:ext cx="5440314" cy="4989492"/>
          </a:xfrm>
          <a:prstGeom prst="roundRect">
            <a:avLst>
              <a:gd name="adj" fmla="val 3865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361" name="Скругленный прямоугольник 26"/>
          <p:cNvSpPr/>
          <p:nvPr/>
        </p:nvSpPr>
        <p:spPr>
          <a:xfrm>
            <a:off x="346075" y="1211284"/>
            <a:ext cx="5440314" cy="4989492"/>
          </a:xfrm>
          <a:prstGeom prst="roundRect">
            <a:avLst>
              <a:gd name="adj" fmla="val 3407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362" name="Номер слайда 20"/>
          <p:cNvSpPr txBox="1"/>
          <p:nvPr>
            <p:ph type="sldNum" sz="quarter" idx="2"/>
          </p:nvPr>
        </p:nvSpPr>
        <p:spPr>
          <a:xfrm>
            <a:off x="11598617" y="6404299"/>
            <a:ext cx="188899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63" name="Текст 2"/>
          <p:cNvSpPr txBox="1"/>
          <p:nvPr>
            <p:ph type="body" sz="half" idx="1"/>
          </p:nvPr>
        </p:nvSpPr>
        <p:spPr>
          <a:xfrm>
            <a:off x="589491" y="1920926"/>
            <a:ext cx="4929863" cy="3868582"/>
          </a:xfrm>
          <a:prstGeom prst="rect">
            <a:avLst/>
          </a:prstGeom>
        </p:spPr>
        <p:txBody>
          <a:bodyPr/>
          <a:lstStyle/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buSzPct val="100000"/>
              <a:buFont typeface="Arial"/>
              <a:buChar char="•"/>
              <a:defRPr b="0" sz="1300">
                <a:solidFill>
                  <a:srgbClr val="1C1D22"/>
                </a:solidFill>
              </a:defRPr>
            </a:pPr>
            <a:r>
              <a:t>Нативное Android-приложение: Kotlin и Jetpack Compose, модули core, data, domain, feature</a:t>
            </a:r>
            <a:endParaRPr sz="1400">
              <a:solidFill>
                <a:srgbClr val="F2F2F2"/>
              </a:solidFill>
            </a:endParaRP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buSzPct val="100000"/>
              <a:buFont typeface="Arial"/>
              <a:buChar char="•"/>
              <a:defRPr b="0" sz="1300">
                <a:solidFill>
                  <a:srgbClr val="1C1D22"/>
                </a:solidFill>
              </a:defRPr>
            </a:pPr>
            <a:r>
              <a:t>Офлайн-режим: локальная база Room, игра работает без сети до 14 дней, действия уходят на сервер из очереди</a:t>
            </a:r>
            <a:endParaRPr sz="1400">
              <a:solidFill>
                <a:srgbClr val="F2F2F2"/>
              </a:solidFill>
            </a:endParaRP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buSzPct val="100000"/>
              <a:buFont typeface="Arial"/>
              <a:buChar char="•"/>
              <a:defRPr b="0" sz="1300">
                <a:solidFill>
                  <a:srgbClr val="1C1D22"/>
                </a:solidFill>
              </a:defRPr>
            </a:pPr>
            <a:r>
              <a:t>Начисления считает сервер: идемпотентный журнал транзакций, защита от перевода часов и накрутки</a:t>
            </a:r>
            <a:endParaRPr sz="1400">
              <a:solidFill>
                <a:srgbClr val="F2F2F2"/>
              </a:solidFill>
            </a:endParaRP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buSzPct val="100000"/>
              <a:buFont typeface="Arial"/>
              <a:buChar char="•"/>
              <a:defRPr b="0" sz="1300">
                <a:solidFill>
                  <a:srgbClr val="1C1D22"/>
                </a:solidFill>
              </a:defRPr>
            </a:pPr>
            <a:r>
              <a:t>Вход без персональных данных: анонимный профиль и код переноса на новое устройство</a:t>
            </a:r>
            <a:endParaRPr sz="1400">
              <a:solidFill>
                <a:srgbClr val="F2F2F2"/>
              </a:solidFill>
            </a:endParaRP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buSzPct val="100000"/>
              <a:buFont typeface="Arial"/>
              <a:buChar char="•"/>
              <a:defRPr b="0" sz="1300">
                <a:solidFill>
                  <a:srgbClr val="1C1D22"/>
                </a:solidFill>
              </a:defRPr>
            </a:pPr>
            <a:r>
              <a:t>Баланс экономики настраивается на сервере без выпуска новой версии</a:t>
            </a:r>
            <a:endParaRPr sz="1400">
              <a:solidFill>
                <a:srgbClr val="F2F2F2"/>
              </a:solidFill>
            </a:endParaRP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buSzPct val="100000"/>
              <a:buFont typeface="Arial"/>
              <a:buChar char="•"/>
              <a:defRPr b="0" sz="1300">
                <a:solidFill>
                  <a:srgbClr val="1C1D22"/>
                </a:solidFill>
              </a:defRPr>
            </a:pPr>
            <a:r>
              <a:t>Публикация в RuStore, работа без сервисов Google</a:t>
            </a:r>
          </a:p>
        </p:txBody>
      </p:sp>
      <p:sp>
        <p:nvSpPr>
          <p:cNvPr id="364" name="Текст 6"/>
          <p:cNvSpPr/>
          <p:nvPr>
            <p:ph type="body" idx="25"/>
          </p:nvPr>
        </p:nvSpPr>
        <p:spPr>
          <a:xfrm>
            <a:off x="6513513" y="1920926"/>
            <a:ext cx="4957145" cy="38764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defRPr sz="1300">
                <a:solidFill>
                  <a:srgbClr val="1C1D22"/>
                </a:solidFill>
              </a:defRPr>
            </a:pPr>
            <a:r>
              <a:t>Аудитория: дети 6-12 лет со своим смартфоном на Android и их родители</a:t>
            </a: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defRPr sz="1300">
                <a:solidFill>
                  <a:srgbClr val="1C1D22"/>
                </a:solidFill>
              </a:defRPr>
            </a:pPr>
            <a:r>
              <a:t>Родитель одобряет установку: в FinPet нет рекламы, платных покупок и прямых советов</a:t>
            </a: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defRPr sz="1300">
                <a:solidFill>
                  <a:srgbClr val="1C1D22"/>
                </a:solidFill>
              </a:defRPr>
            </a:pPr>
            <a:r>
              <a:t>Сессия 5-12 минут помещается в час, который ребёнок проводит в телефоне</a:t>
            </a: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defRPr sz="1300">
                <a:solidFill>
                  <a:srgbClr val="1C1D22"/>
                </a:solidFill>
              </a:defRPr>
            </a:pPr>
            <a:r>
              <a:t>Затягивает прокачка: питомец растёт, крупная цель открывает новое занятие</a:t>
            </a: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defRPr sz="1300">
                <a:solidFill>
                  <a:srgbClr val="1C1D22"/>
                </a:solidFill>
              </a:defRPr>
            </a:pPr>
            <a:r>
              <a:t>Каналы: RuStore и школьная лицензия для классов</a:t>
            </a:r>
          </a:p>
          <a:p>
            <a:pPr marL="146304" indent="-146304">
              <a:lnSpc>
                <a:spcPct val="104999"/>
              </a:lnSpc>
              <a:spcBef>
                <a:spcPts val="1300"/>
              </a:spcBef>
              <a:buClr>
                <a:schemeClr val="accent1"/>
              </a:buClr>
              <a:defRPr sz="1300">
                <a:solidFill>
                  <a:srgbClr val="1C1D22"/>
                </a:solidFill>
              </a:defRPr>
            </a:pPr>
            <a:r>
              <a:t>Недельная сводка для родителя даёт повод поговорить о деньгах в семье</a:t>
            </a:r>
          </a:p>
        </p:txBody>
      </p:sp>
      <p:sp>
        <p:nvSpPr>
          <p:cNvPr id="365" name="Заголовок 13"/>
          <p:cNvSpPr txBox="1"/>
          <p:nvPr>
            <p:ph type="title"/>
          </p:nvPr>
        </p:nvSpPr>
        <p:spPr>
          <a:xfrm>
            <a:off x="525817" y="456850"/>
            <a:ext cx="9862734" cy="376139"/>
          </a:xfrm>
          <a:prstGeom prst="rect">
            <a:avLst/>
          </a:prstGeom>
        </p:spPr>
        <p:txBody>
          <a:bodyPr/>
          <a:lstStyle>
            <a:lvl1pPr defTabSz="561392">
              <a:defRPr sz="1940"/>
            </a:lvl1pPr>
          </a:lstStyle>
          <a:p>
            <a:pPr/>
            <a:r>
              <a:t>КОРОТКО О РЕШЕНИИ</a:t>
            </a:r>
          </a:p>
        </p:txBody>
      </p:sp>
      <p:sp>
        <p:nvSpPr>
          <p:cNvPr id="366" name="Текст 14"/>
          <p:cNvSpPr/>
          <p:nvPr>
            <p:ph type="body" idx="32"/>
          </p:nvPr>
        </p:nvSpPr>
        <p:spPr>
          <a:xfrm>
            <a:off x="578062" y="1476583"/>
            <a:ext cx="4929863" cy="5551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578754">
              <a:spcBef>
                <a:spcPts val="0"/>
              </a:spcBef>
              <a:defRPr b="1" sz="1600">
                <a:solidFill>
                  <a:srgbClr val="520978"/>
                </a:solidFill>
              </a:defRPr>
            </a:lvl1pPr>
          </a:lstStyle>
          <a:p>
            <a:pPr/>
            <a:r>
              <a:t>Техническая суть решения</a:t>
            </a:r>
          </a:p>
        </p:txBody>
      </p:sp>
      <p:sp>
        <p:nvSpPr>
          <p:cNvPr id="367" name="Текст 16"/>
          <p:cNvSpPr/>
          <p:nvPr>
            <p:ph type="body" idx="34"/>
          </p:nvPr>
        </p:nvSpPr>
        <p:spPr>
          <a:xfrm>
            <a:off x="6513513" y="1476583"/>
            <a:ext cx="5214725" cy="5615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578754">
              <a:spcBef>
                <a:spcPts val="0"/>
              </a:spcBef>
              <a:defRPr b="1" sz="1600">
                <a:solidFill>
                  <a:srgbClr val="520978"/>
                </a:solidFill>
              </a:defRPr>
            </a:lvl1pPr>
          </a:lstStyle>
          <a:p>
            <a:pPr/>
            <a:r>
              <a:t>Маркетинговая суть решения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Скругленный прямоугольник 7"/>
          <p:cNvSpPr/>
          <p:nvPr/>
        </p:nvSpPr>
        <p:spPr>
          <a:xfrm>
            <a:off x="429141" y="3008209"/>
            <a:ext cx="3728347" cy="3108961"/>
          </a:xfrm>
          <a:prstGeom prst="roundRect">
            <a:avLst>
              <a:gd name="adj" fmla="val 515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370" name="Скругленный прямоугольник 9"/>
          <p:cNvSpPr/>
          <p:nvPr/>
        </p:nvSpPr>
        <p:spPr>
          <a:xfrm>
            <a:off x="4327137" y="3008209"/>
            <a:ext cx="3728347" cy="3108961"/>
          </a:xfrm>
          <a:prstGeom prst="roundRect">
            <a:avLst>
              <a:gd name="adj" fmla="val 515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371" name="Скругленный прямоугольник 10"/>
          <p:cNvSpPr/>
          <p:nvPr/>
        </p:nvSpPr>
        <p:spPr>
          <a:xfrm>
            <a:off x="8225132" y="3008209"/>
            <a:ext cx="3728348" cy="3108961"/>
          </a:xfrm>
          <a:prstGeom prst="roundRect">
            <a:avLst>
              <a:gd name="adj" fmla="val 515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grpSp>
        <p:nvGrpSpPr>
          <p:cNvPr id="374" name="Скругленный прямоугольник 1"/>
          <p:cNvGrpSpPr/>
          <p:nvPr/>
        </p:nvGrpSpPr>
        <p:grpSpPr>
          <a:xfrm>
            <a:off x="346075" y="324561"/>
            <a:ext cx="3849624" cy="620920"/>
            <a:chOff x="0" y="0"/>
            <a:chExt cx="3849623" cy="620918"/>
          </a:xfrm>
        </p:grpSpPr>
        <p:sp>
          <p:nvSpPr>
            <p:cNvPr id="372" name="Rounded Rectangle"/>
            <p:cNvSpPr/>
            <p:nvPr/>
          </p:nvSpPr>
          <p:spPr>
            <a:xfrm>
              <a:off x="0" y="0"/>
              <a:ext cx="3849624" cy="620919"/>
            </a:xfrm>
            <a:prstGeom prst="roundRect">
              <a:avLst>
                <a:gd name="adj" fmla="val 1870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373" name="ПРОБЛЕМА И РЕШЕНИЕ"/>
            <p:cNvSpPr txBox="1"/>
            <p:nvPr/>
          </p:nvSpPr>
          <p:spPr>
            <a:xfrm>
              <a:off x="198610" y="139771"/>
              <a:ext cx="3138205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ПРОБЛЕМА И РЕШЕНИЕ</a:t>
              </a:r>
            </a:p>
          </p:txBody>
        </p:sp>
      </p:grpSp>
      <p:sp>
        <p:nvSpPr>
          <p:cNvPr id="375" name="Скругленный прямоугольник 16"/>
          <p:cNvSpPr/>
          <p:nvPr/>
        </p:nvSpPr>
        <p:spPr>
          <a:xfrm>
            <a:off x="5436273" y="1366572"/>
            <a:ext cx="1504596" cy="1401168"/>
          </a:xfrm>
          <a:prstGeom prst="roundRect">
            <a:avLst>
              <a:gd name="adj" fmla="val 16667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376" name="Скругленный прямоугольник 6"/>
          <p:cNvSpPr/>
          <p:nvPr/>
        </p:nvSpPr>
        <p:spPr>
          <a:xfrm>
            <a:off x="1541017" y="1366572"/>
            <a:ext cx="1504595" cy="1401168"/>
          </a:xfrm>
          <a:prstGeom prst="roundRect">
            <a:avLst>
              <a:gd name="adj" fmla="val 16667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377" name="Номер слайда 5"/>
          <p:cNvSpPr txBox="1"/>
          <p:nvPr>
            <p:ph type="sldNum" sz="quarter" idx="2"/>
          </p:nvPr>
        </p:nvSpPr>
        <p:spPr>
          <a:xfrm>
            <a:off x="11598617" y="6404299"/>
            <a:ext cx="188899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78" name="Текст 2"/>
          <p:cNvSpPr txBox="1"/>
          <p:nvPr>
            <p:ph type="body" sz="quarter" idx="1"/>
          </p:nvPr>
        </p:nvSpPr>
        <p:spPr>
          <a:xfrm>
            <a:off x="616303" y="3246120"/>
            <a:ext cx="3264115" cy="2743201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ts val="1000"/>
              </a:spcBef>
              <a:defRPr b="1" sz="2000">
                <a:solidFill>
                  <a:srgbClr val="520978"/>
                </a:solidFill>
              </a:defRPr>
            </a:pPr>
            <a:r>
              <a:t>Проблема</a:t>
            </a:r>
          </a:p>
          <a:p>
            <a:pPr>
              <a:lnSpc>
                <a:spcPct val="110000"/>
              </a:lnSpc>
              <a:spcBef>
                <a:spcPts val="0"/>
              </a:spcBef>
              <a:defRPr>
                <a:solidFill>
                  <a:srgbClr val="1C1D22"/>
                </a:solidFill>
              </a:defRPr>
            </a:pPr>
            <a:r>
              <a:t>Ребёнок 7-8 лет уже распоряжается своими деньгами: наличными и детской банковской картой. Знания о деньгах он получает только дома, семья говорит о них раз в месяц. Разницу между «хочу» и «надо» объяснить труднее всего.</a:t>
            </a:r>
          </a:p>
        </p:txBody>
      </p:sp>
      <p:sp>
        <p:nvSpPr>
          <p:cNvPr id="379" name="Текст 3"/>
          <p:cNvSpPr/>
          <p:nvPr>
            <p:ph type="body" idx="21"/>
          </p:nvPr>
        </p:nvSpPr>
        <p:spPr>
          <a:xfrm>
            <a:off x="4569889" y="3246120"/>
            <a:ext cx="3264115" cy="274320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>
              <a:spcBef>
                <a:spcPts val="1000"/>
              </a:spcBef>
              <a:defRPr b="1" sz="2000">
                <a:solidFill>
                  <a:srgbClr val="520978"/>
                </a:solidFill>
              </a:defRPr>
            </a:pPr>
            <a:r>
              <a:t>Решение</a:t>
            </a:r>
          </a:p>
          <a:p>
            <a:pPr>
              <a:lnSpc>
                <a:spcPct val="110000"/>
              </a:lnSpc>
              <a:spcBef>
                <a:spcPts val="0"/>
              </a:spcBef>
              <a:defRPr>
                <a:solidFill>
                  <a:srgbClr val="1C1D22"/>
                </a:solidFill>
              </a:defRPr>
            </a:pPr>
            <a:r>
              <a:t>Мобильная игра, где деньги нужны для заботы о питомце. Доход раскладывается по трём мешочкам, цена и последствие видны до нажатия, копилка вознаграждает за терпение.</a:t>
            </a:r>
          </a:p>
        </p:txBody>
      </p:sp>
      <p:sp>
        <p:nvSpPr>
          <p:cNvPr id="380" name="Текст 4"/>
          <p:cNvSpPr/>
          <p:nvPr>
            <p:ph type="body" idx="22"/>
          </p:nvPr>
        </p:nvSpPr>
        <p:spPr>
          <a:xfrm>
            <a:off x="8405080" y="3246120"/>
            <a:ext cx="3264114" cy="274320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>
              <a:spcBef>
                <a:spcPts val="1000"/>
              </a:spcBef>
              <a:defRPr b="1" sz="2000">
                <a:solidFill>
                  <a:srgbClr val="520978"/>
                </a:solidFill>
              </a:defRPr>
            </a:pPr>
            <a:r>
              <a:t>Результат для семьи</a:t>
            </a:r>
          </a:p>
          <a:p>
            <a:pPr>
              <a:lnSpc>
                <a:spcPct val="110000"/>
              </a:lnSpc>
              <a:spcBef>
                <a:spcPts val="0"/>
              </a:spcBef>
              <a:defRPr>
                <a:solidFill>
                  <a:srgbClr val="1C1D22"/>
                </a:solidFill>
              </a:defRPr>
            </a:pPr>
            <a:r>
              <a:t>Ребёнок сам планирует бюджет недели, копит на цель, замечает мошенничество и рекламные уловки. Родитель получает безопасное приложение и повод поговорить о деньгах.</a:t>
            </a:r>
          </a:p>
        </p:txBody>
      </p:sp>
      <p:sp>
        <p:nvSpPr>
          <p:cNvPr id="381" name="Google Shape;2799;p94"/>
          <p:cNvSpPr/>
          <p:nvPr/>
        </p:nvSpPr>
        <p:spPr>
          <a:xfrm flipV="1">
            <a:off x="3041994" y="2120994"/>
            <a:ext cx="2394280" cy="1148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96" name="Google Shape;2829;p94"/>
          <p:cNvGrpSpPr/>
          <p:nvPr/>
        </p:nvGrpSpPr>
        <p:grpSpPr>
          <a:xfrm>
            <a:off x="1899159" y="1753306"/>
            <a:ext cx="738459" cy="687762"/>
            <a:chOff x="0" y="0"/>
            <a:chExt cx="738458" cy="687760"/>
          </a:xfrm>
        </p:grpSpPr>
        <p:sp>
          <p:nvSpPr>
            <p:cNvPr id="382" name="Google Shape;2830;p94"/>
            <p:cNvSpPr/>
            <p:nvPr/>
          </p:nvSpPr>
          <p:spPr>
            <a:xfrm>
              <a:off x="0" y="0"/>
              <a:ext cx="738459" cy="687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430" y="719"/>
                  </a:moveTo>
                  <a:cubicBezTo>
                    <a:pt x="20736" y="719"/>
                    <a:pt x="20938" y="942"/>
                    <a:pt x="20938" y="1275"/>
                  </a:cubicBezTo>
                  <a:lnTo>
                    <a:pt x="20938" y="13183"/>
                  </a:lnTo>
                  <a:lnTo>
                    <a:pt x="18399" y="13183"/>
                  </a:lnTo>
                  <a:cubicBezTo>
                    <a:pt x="18245" y="13183"/>
                    <a:pt x="18094" y="13348"/>
                    <a:pt x="18094" y="13515"/>
                  </a:cubicBezTo>
                  <a:cubicBezTo>
                    <a:pt x="18094" y="13736"/>
                    <a:pt x="18245" y="13901"/>
                    <a:pt x="18399" y="13901"/>
                  </a:cubicBezTo>
                  <a:lnTo>
                    <a:pt x="20938" y="13901"/>
                  </a:lnTo>
                  <a:lnTo>
                    <a:pt x="20938" y="15011"/>
                  </a:lnTo>
                  <a:cubicBezTo>
                    <a:pt x="20938" y="15341"/>
                    <a:pt x="20736" y="15620"/>
                    <a:pt x="20430" y="15620"/>
                  </a:cubicBezTo>
                  <a:lnTo>
                    <a:pt x="1170" y="15620"/>
                  </a:lnTo>
                  <a:cubicBezTo>
                    <a:pt x="864" y="15620"/>
                    <a:pt x="610" y="15341"/>
                    <a:pt x="610" y="15011"/>
                  </a:cubicBezTo>
                  <a:lnTo>
                    <a:pt x="610" y="13901"/>
                  </a:lnTo>
                  <a:lnTo>
                    <a:pt x="17026" y="13901"/>
                  </a:lnTo>
                  <a:cubicBezTo>
                    <a:pt x="17178" y="13901"/>
                    <a:pt x="17332" y="13736"/>
                    <a:pt x="17332" y="13515"/>
                  </a:cubicBezTo>
                  <a:cubicBezTo>
                    <a:pt x="17332" y="13348"/>
                    <a:pt x="17178" y="13183"/>
                    <a:pt x="17026" y="13183"/>
                  </a:cubicBezTo>
                  <a:lnTo>
                    <a:pt x="13264" y="13183"/>
                  </a:lnTo>
                  <a:lnTo>
                    <a:pt x="13264" y="719"/>
                  </a:lnTo>
                  <a:close/>
                  <a:moveTo>
                    <a:pt x="11384" y="16283"/>
                  </a:moveTo>
                  <a:lnTo>
                    <a:pt x="11384" y="16727"/>
                  </a:lnTo>
                  <a:cubicBezTo>
                    <a:pt x="11384" y="17116"/>
                    <a:pt x="11130" y="17393"/>
                    <a:pt x="10773" y="17393"/>
                  </a:cubicBezTo>
                  <a:cubicBezTo>
                    <a:pt x="10470" y="17393"/>
                    <a:pt x="10165" y="17116"/>
                    <a:pt x="10165" y="16727"/>
                  </a:cubicBezTo>
                  <a:lnTo>
                    <a:pt x="10165" y="16283"/>
                  </a:lnTo>
                  <a:close/>
                  <a:moveTo>
                    <a:pt x="12959" y="16283"/>
                  </a:moveTo>
                  <a:lnTo>
                    <a:pt x="13164" y="19165"/>
                  </a:lnTo>
                  <a:lnTo>
                    <a:pt x="8436" y="19165"/>
                  </a:lnTo>
                  <a:lnTo>
                    <a:pt x="8639" y="16283"/>
                  </a:lnTo>
                  <a:lnTo>
                    <a:pt x="9555" y="16283"/>
                  </a:lnTo>
                  <a:lnTo>
                    <a:pt x="9555" y="16727"/>
                  </a:lnTo>
                  <a:cubicBezTo>
                    <a:pt x="9555" y="17502"/>
                    <a:pt x="10114" y="18111"/>
                    <a:pt x="10773" y="18111"/>
                  </a:cubicBezTo>
                  <a:cubicBezTo>
                    <a:pt x="11486" y="18111"/>
                    <a:pt x="12045" y="17502"/>
                    <a:pt x="12045" y="16727"/>
                  </a:cubicBezTo>
                  <a:lnTo>
                    <a:pt x="12045" y="16283"/>
                  </a:lnTo>
                  <a:close/>
                  <a:moveTo>
                    <a:pt x="14636" y="19828"/>
                  </a:moveTo>
                  <a:cubicBezTo>
                    <a:pt x="14687" y="19828"/>
                    <a:pt x="14739" y="19884"/>
                    <a:pt x="14739" y="19939"/>
                  </a:cubicBezTo>
                  <a:lnTo>
                    <a:pt x="14739" y="20825"/>
                  </a:lnTo>
                  <a:cubicBezTo>
                    <a:pt x="14739" y="20881"/>
                    <a:pt x="14687" y="20937"/>
                    <a:pt x="14636" y="20937"/>
                  </a:cubicBezTo>
                  <a:lnTo>
                    <a:pt x="6962" y="20937"/>
                  </a:lnTo>
                  <a:cubicBezTo>
                    <a:pt x="6913" y="20937"/>
                    <a:pt x="6861" y="20881"/>
                    <a:pt x="6861" y="20825"/>
                  </a:cubicBezTo>
                  <a:lnTo>
                    <a:pt x="6861" y="19939"/>
                  </a:lnTo>
                  <a:cubicBezTo>
                    <a:pt x="6861" y="19884"/>
                    <a:pt x="6913" y="19828"/>
                    <a:pt x="6962" y="19828"/>
                  </a:cubicBezTo>
                  <a:close/>
                  <a:moveTo>
                    <a:pt x="1170" y="0"/>
                  </a:moveTo>
                  <a:cubicBezTo>
                    <a:pt x="508" y="0"/>
                    <a:pt x="0" y="554"/>
                    <a:pt x="0" y="1275"/>
                  </a:cubicBezTo>
                  <a:lnTo>
                    <a:pt x="0" y="3433"/>
                  </a:lnTo>
                  <a:cubicBezTo>
                    <a:pt x="0" y="3656"/>
                    <a:pt x="152" y="3821"/>
                    <a:pt x="305" y="3821"/>
                  </a:cubicBezTo>
                  <a:cubicBezTo>
                    <a:pt x="457" y="3821"/>
                    <a:pt x="610" y="3656"/>
                    <a:pt x="610" y="3433"/>
                  </a:cubicBezTo>
                  <a:lnTo>
                    <a:pt x="610" y="1275"/>
                  </a:lnTo>
                  <a:cubicBezTo>
                    <a:pt x="610" y="942"/>
                    <a:pt x="864" y="719"/>
                    <a:pt x="1170" y="719"/>
                  </a:cubicBezTo>
                  <a:lnTo>
                    <a:pt x="12604" y="719"/>
                  </a:lnTo>
                  <a:lnTo>
                    <a:pt x="12604" y="13183"/>
                  </a:lnTo>
                  <a:lnTo>
                    <a:pt x="610" y="13183"/>
                  </a:lnTo>
                  <a:lnTo>
                    <a:pt x="610" y="4984"/>
                  </a:lnTo>
                  <a:cubicBezTo>
                    <a:pt x="610" y="4763"/>
                    <a:pt x="508" y="4652"/>
                    <a:pt x="305" y="4652"/>
                  </a:cubicBezTo>
                  <a:cubicBezTo>
                    <a:pt x="152" y="4652"/>
                    <a:pt x="0" y="4763"/>
                    <a:pt x="0" y="4984"/>
                  </a:cubicBezTo>
                  <a:lnTo>
                    <a:pt x="0" y="15011"/>
                  </a:lnTo>
                  <a:cubicBezTo>
                    <a:pt x="0" y="15730"/>
                    <a:pt x="508" y="16283"/>
                    <a:pt x="1170" y="16283"/>
                  </a:cubicBezTo>
                  <a:lnTo>
                    <a:pt x="8029" y="16283"/>
                  </a:lnTo>
                  <a:lnTo>
                    <a:pt x="7775" y="19165"/>
                  </a:lnTo>
                  <a:lnTo>
                    <a:pt x="6962" y="19165"/>
                  </a:lnTo>
                  <a:cubicBezTo>
                    <a:pt x="6556" y="19165"/>
                    <a:pt x="6251" y="19497"/>
                    <a:pt x="6251" y="19939"/>
                  </a:cubicBezTo>
                  <a:lnTo>
                    <a:pt x="6251" y="20825"/>
                  </a:lnTo>
                  <a:cubicBezTo>
                    <a:pt x="6251" y="21270"/>
                    <a:pt x="6556" y="21600"/>
                    <a:pt x="6962" y="21600"/>
                  </a:cubicBezTo>
                  <a:lnTo>
                    <a:pt x="14636" y="21600"/>
                  </a:lnTo>
                  <a:cubicBezTo>
                    <a:pt x="15044" y="21600"/>
                    <a:pt x="15349" y="21270"/>
                    <a:pt x="15349" y="20825"/>
                  </a:cubicBezTo>
                  <a:lnTo>
                    <a:pt x="15349" y="19939"/>
                  </a:lnTo>
                  <a:cubicBezTo>
                    <a:pt x="15349" y="19497"/>
                    <a:pt x="15044" y="19165"/>
                    <a:pt x="14636" y="19165"/>
                  </a:cubicBezTo>
                  <a:lnTo>
                    <a:pt x="13823" y="19165"/>
                  </a:lnTo>
                  <a:lnTo>
                    <a:pt x="13569" y="16283"/>
                  </a:lnTo>
                  <a:lnTo>
                    <a:pt x="20430" y="16283"/>
                  </a:lnTo>
                  <a:cubicBezTo>
                    <a:pt x="21041" y="16283"/>
                    <a:pt x="21600" y="15730"/>
                    <a:pt x="21600" y="15011"/>
                  </a:cubicBezTo>
                  <a:lnTo>
                    <a:pt x="21600" y="1275"/>
                  </a:lnTo>
                  <a:cubicBezTo>
                    <a:pt x="21600" y="554"/>
                    <a:pt x="21092" y="0"/>
                    <a:pt x="20430" y="0"/>
                  </a:cubicBezTo>
                  <a:close/>
                </a:path>
              </a:pathLst>
            </a:custGeom>
            <a:solidFill>
              <a:srgbClr val="FD0C5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83" name="Google Shape;2831;p94"/>
            <p:cNvSpPr/>
            <p:nvPr/>
          </p:nvSpPr>
          <p:spPr>
            <a:xfrm>
              <a:off x="76465" y="135078"/>
              <a:ext cx="310970" cy="2440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45" y="0"/>
                  </a:moveTo>
                  <a:cubicBezTo>
                    <a:pt x="19497" y="0"/>
                    <a:pt x="19279" y="144"/>
                    <a:pt x="19188" y="374"/>
                  </a:cubicBezTo>
                  <a:lnTo>
                    <a:pt x="14363" y="7707"/>
                  </a:lnTo>
                  <a:lnTo>
                    <a:pt x="13152" y="6462"/>
                  </a:lnTo>
                  <a:cubicBezTo>
                    <a:pt x="13035" y="6304"/>
                    <a:pt x="12853" y="6226"/>
                    <a:pt x="12670" y="6226"/>
                  </a:cubicBezTo>
                  <a:cubicBezTo>
                    <a:pt x="12488" y="6226"/>
                    <a:pt x="12310" y="6304"/>
                    <a:pt x="12189" y="6462"/>
                  </a:cubicBezTo>
                  <a:lnTo>
                    <a:pt x="9173" y="10675"/>
                  </a:lnTo>
                  <a:lnTo>
                    <a:pt x="5550" y="8958"/>
                  </a:lnTo>
                  <a:cubicBezTo>
                    <a:pt x="5489" y="8880"/>
                    <a:pt x="5397" y="8841"/>
                    <a:pt x="5291" y="8841"/>
                  </a:cubicBezTo>
                  <a:cubicBezTo>
                    <a:pt x="5190" y="8841"/>
                    <a:pt x="5068" y="8880"/>
                    <a:pt x="4946" y="8958"/>
                  </a:cubicBezTo>
                  <a:lnTo>
                    <a:pt x="1444" y="11613"/>
                  </a:lnTo>
                  <a:lnTo>
                    <a:pt x="1444" y="3028"/>
                  </a:lnTo>
                  <a:cubicBezTo>
                    <a:pt x="1444" y="2562"/>
                    <a:pt x="1206" y="2091"/>
                    <a:pt x="725" y="2091"/>
                  </a:cubicBezTo>
                  <a:cubicBezTo>
                    <a:pt x="360" y="2091"/>
                    <a:pt x="0" y="2562"/>
                    <a:pt x="0" y="3028"/>
                  </a:cubicBezTo>
                  <a:lnTo>
                    <a:pt x="0" y="20663"/>
                  </a:lnTo>
                  <a:cubicBezTo>
                    <a:pt x="0" y="21135"/>
                    <a:pt x="360" y="21600"/>
                    <a:pt x="725" y="21600"/>
                  </a:cubicBezTo>
                  <a:lnTo>
                    <a:pt x="20880" y="21600"/>
                  </a:lnTo>
                  <a:cubicBezTo>
                    <a:pt x="21240" y="21600"/>
                    <a:pt x="21600" y="21135"/>
                    <a:pt x="21600" y="20663"/>
                  </a:cubicBezTo>
                  <a:cubicBezTo>
                    <a:pt x="21600" y="20198"/>
                    <a:pt x="21362" y="19726"/>
                    <a:pt x="20880" y="19726"/>
                  </a:cubicBezTo>
                  <a:lnTo>
                    <a:pt x="20515" y="19726"/>
                  </a:lnTo>
                  <a:lnTo>
                    <a:pt x="20515" y="14417"/>
                  </a:lnTo>
                  <a:cubicBezTo>
                    <a:pt x="20515" y="13795"/>
                    <a:pt x="20156" y="13330"/>
                    <a:pt x="19791" y="13330"/>
                  </a:cubicBezTo>
                  <a:cubicBezTo>
                    <a:pt x="19309" y="13330"/>
                    <a:pt x="18944" y="13795"/>
                    <a:pt x="18944" y="14417"/>
                  </a:cubicBezTo>
                  <a:lnTo>
                    <a:pt x="18944" y="19726"/>
                  </a:lnTo>
                  <a:lnTo>
                    <a:pt x="17135" y="19726"/>
                  </a:lnTo>
                  <a:lnTo>
                    <a:pt x="17135" y="18946"/>
                  </a:lnTo>
                  <a:cubicBezTo>
                    <a:pt x="17135" y="18481"/>
                    <a:pt x="16775" y="18009"/>
                    <a:pt x="16410" y="18009"/>
                  </a:cubicBezTo>
                  <a:cubicBezTo>
                    <a:pt x="15929" y="18009"/>
                    <a:pt x="15569" y="18323"/>
                    <a:pt x="15569" y="18946"/>
                  </a:cubicBezTo>
                  <a:lnTo>
                    <a:pt x="15569" y="19726"/>
                  </a:lnTo>
                  <a:lnTo>
                    <a:pt x="13035" y="19726"/>
                  </a:lnTo>
                  <a:lnTo>
                    <a:pt x="13035" y="18946"/>
                  </a:lnTo>
                  <a:cubicBezTo>
                    <a:pt x="13035" y="18481"/>
                    <a:pt x="12792" y="18009"/>
                    <a:pt x="12310" y="18009"/>
                  </a:cubicBezTo>
                  <a:cubicBezTo>
                    <a:pt x="11945" y="18009"/>
                    <a:pt x="11586" y="18323"/>
                    <a:pt x="11586" y="18946"/>
                  </a:cubicBezTo>
                  <a:lnTo>
                    <a:pt x="11586" y="19726"/>
                  </a:lnTo>
                  <a:lnTo>
                    <a:pt x="9052" y="19726"/>
                  </a:lnTo>
                  <a:lnTo>
                    <a:pt x="9052" y="18946"/>
                  </a:lnTo>
                  <a:cubicBezTo>
                    <a:pt x="9052" y="18481"/>
                    <a:pt x="8687" y="18009"/>
                    <a:pt x="8327" y="18009"/>
                  </a:cubicBezTo>
                  <a:cubicBezTo>
                    <a:pt x="7845" y="18009"/>
                    <a:pt x="7602" y="18323"/>
                    <a:pt x="7602" y="18946"/>
                  </a:cubicBezTo>
                  <a:lnTo>
                    <a:pt x="7602" y="19726"/>
                  </a:lnTo>
                  <a:lnTo>
                    <a:pt x="5068" y="19726"/>
                  </a:lnTo>
                  <a:lnTo>
                    <a:pt x="5068" y="18946"/>
                  </a:lnTo>
                  <a:cubicBezTo>
                    <a:pt x="5068" y="18481"/>
                    <a:pt x="4703" y="18009"/>
                    <a:pt x="4222" y="18009"/>
                  </a:cubicBezTo>
                  <a:cubicBezTo>
                    <a:pt x="3862" y="18009"/>
                    <a:pt x="3497" y="18323"/>
                    <a:pt x="3497" y="18946"/>
                  </a:cubicBezTo>
                  <a:lnTo>
                    <a:pt x="3497" y="19726"/>
                  </a:lnTo>
                  <a:lnTo>
                    <a:pt x="1444" y="19726"/>
                  </a:lnTo>
                  <a:lnTo>
                    <a:pt x="1444" y="13795"/>
                  </a:lnTo>
                  <a:lnTo>
                    <a:pt x="5306" y="10833"/>
                  </a:lnTo>
                  <a:lnTo>
                    <a:pt x="9173" y="12858"/>
                  </a:lnTo>
                  <a:cubicBezTo>
                    <a:pt x="9234" y="12904"/>
                    <a:pt x="9310" y="12923"/>
                    <a:pt x="9386" y="12923"/>
                  </a:cubicBezTo>
                  <a:cubicBezTo>
                    <a:pt x="9589" y="12923"/>
                    <a:pt x="9807" y="12779"/>
                    <a:pt x="9893" y="12550"/>
                  </a:cubicBezTo>
                  <a:lnTo>
                    <a:pt x="12792" y="8493"/>
                  </a:lnTo>
                  <a:lnTo>
                    <a:pt x="13998" y="9738"/>
                  </a:lnTo>
                  <a:cubicBezTo>
                    <a:pt x="14160" y="9948"/>
                    <a:pt x="14327" y="10033"/>
                    <a:pt x="14490" y="10033"/>
                  </a:cubicBezTo>
                  <a:cubicBezTo>
                    <a:pt x="14687" y="10033"/>
                    <a:pt x="14885" y="9909"/>
                    <a:pt x="15082" y="9738"/>
                  </a:cubicBezTo>
                  <a:lnTo>
                    <a:pt x="18944" y="3650"/>
                  </a:lnTo>
                  <a:lnTo>
                    <a:pt x="18944" y="10053"/>
                  </a:lnTo>
                  <a:cubicBezTo>
                    <a:pt x="18944" y="10675"/>
                    <a:pt x="19309" y="10990"/>
                    <a:pt x="19669" y="10990"/>
                  </a:cubicBezTo>
                  <a:cubicBezTo>
                    <a:pt x="20156" y="10990"/>
                    <a:pt x="20515" y="10675"/>
                    <a:pt x="20515" y="10053"/>
                  </a:cubicBezTo>
                  <a:lnTo>
                    <a:pt x="20515" y="996"/>
                  </a:lnTo>
                  <a:cubicBezTo>
                    <a:pt x="20515" y="531"/>
                    <a:pt x="20272" y="216"/>
                    <a:pt x="20034" y="66"/>
                  </a:cubicBezTo>
                  <a:cubicBezTo>
                    <a:pt x="19938" y="20"/>
                    <a:pt x="19841" y="0"/>
                    <a:pt x="19745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84" name="Google Shape;2832;p94"/>
            <p:cNvSpPr/>
            <p:nvPr/>
          </p:nvSpPr>
          <p:spPr>
            <a:xfrm>
              <a:off x="142499" y="185139"/>
              <a:ext cx="20796" cy="2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62" y="0"/>
                  </a:moveTo>
                  <a:cubicBezTo>
                    <a:pt x="5381" y="0"/>
                    <a:pt x="0" y="3840"/>
                    <a:pt x="0" y="8907"/>
                  </a:cubicBezTo>
                  <a:lnTo>
                    <a:pt x="0" y="13973"/>
                  </a:lnTo>
                  <a:cubicBezTo>
                    <a:pt x="0" y="19093"/>
                    <a:pt x="5381" y="21600"/>
                    <a:pt x="10762" y="21600"/>
                  </a:cubicBezTo>
                  <a:cubicBezTo>
                    <a:pt x="18038" y="21600"/>
                    <a:pt x="21600" y="19093"/>
                    <a:pt x="21600" y="13973"/>
                  </a:cubicBezTo>
                  <a:lnTo>
                    <a:pt x="21600" y="8907"/>
                  </a:lnTo>
                  <a:cubicBezTo>
                    <a:pt x="21600" y="3840"/>
                    <a:pt x="18038" y="0"/>
                    <a:pt x="10762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85" name="Google Shape;2833;p94"/>
            <p:cNvSpPr/>
            <p:nvPr/>
          </p:nvSpPr>
          <p:spPr>
            <a:xfrm>
              <a:off x="248441" y="155220"/>
              <a:ext cx="22619" cy="29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964" y="0"/>
                  </a:moveTo>
                  <a:cubicBezTo>
                    <a:pt x="5017" y="0"/>
                    <a:pt x="0" y="3796"/>
                    <a:pt x="0" y="7592"/>
                  </a:cubicBezTo>
                  <a:lnTo>
                    <a:pt x="0" y="13954"/>
                  </a:lnTo>
                  <a:cubicBezTo>
                    <a:pt x="0" y="17804"/>
                    <a:pt x="5017" y="21600"/>
                    <a:pt x="9964" y="21600"/>
                  </a:cubicBezTo>
                  <a:cubicBezTo>
                    <a:pt x="16583" y="21600"/>
                    <a:pt x="21600" y="17804"/>
                    <a:pt x="21600" y="13954"/>
                  </a:cubicBezTo>
                  <a:lnTo>
                    <a:pt x="21600" y="7592"/>
                  </a:lnTo>
                  <a:cubicBezTo>
                    <a:pt x="21600" y="3796"/>
                    <a:pt x="16583" y="0"/>
                    <a:pt x="9964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86" name="Google Shape;2834;p94"/>
            <p:cNvSpPr/>
            <p:nvPr/>
          </p:nvSpPr>
          <p:spPr>
            <a:xfrm>
              <a:off x="349203" y="89904"/>
              <a:ext cx="22620" cy="2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636" y="0"/>
                  </a:moveTo>
                  <a:cubicBezTo>
                    <a:pt x="5017" y="0"/>
                    <a:pt x="0" y="2560"/>
                    <a:pt x="0" y="7627"/>
                  </a:cubicBezTo>
                  <a:lnTo>
                    <a:pt x="0" y="12747"/>
                  </a:lnTo>
                  <a:cubicBezTo>
                    <a:pt x="0" y="17813"/>
                    <a:pt x="5017" y="21600"/>
                    <a:pt x="11636" y="21600"/>
                  </a:cubicBezTo>
                  <a:cubicBezTo>
                    <a:pt x="16653" y="21600"/>
                    <a:pt x="21600" y="17813"/>
                    <a:pt x="21600" y="12747"/>
                  </a:cubicBezTo>
                  <a:lnTo>
                    <a:pt x="21600" y="7627"/>
                  </a:lnTo>
                  <a:cubicBezTo>
                    <a:pt x="21600" y="2560"/>
                    <a:pt x="16653" y="0"/>
                    <a:pt x="11636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87" name="Google Shape;2835;p94"/>
            <p:cNvSpPr/>
            <p:nvPr/>
          </p:nvSpPr>
          <p:spPr>
            <a:xfrm>
              <a:off x="76465" y="58207"/>
              <a:ext cx="59028" cy="21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18" y="0"/>
                  </a:moveTo>
                  <a:cubicBezTo>
                    <a:pt x="1896" y="0"/>
                    <a:pt x="0" y="5362"/>
                    <a:pt x="0" y="10800"/>
                  </a:cubicBezTo>
                  <a:cubicBezTo>
                    <a:pt x="0" y="17975"/>
                    <a:pt x="1896" y="21600"/>
                    <a:pt x="3818" y="21600"/>
                  </a:cubicBezTo>
                  <a:lnTo>
                    <a:pt x="17782" y="21600"/>
                  </a:lnTo>
                  <a:cubicBezTo>
                    <a:pt x="19704" y="21600"/>
                    <a:pt x="21600" y="17975"/>
                    <a:pt x="21600" y="10800"/>
                  </a:cubicBezTo>
                  <a:cubicBezTo>
                    <a:pt x="21600" y="5362"/>
                    <a:pt x="19704" y="0"/>
                    <a:pt x="17782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88" name="Google Shape;2836;p94"/>
            <p:cNvSpPr/>
            <p:nvPr/>
          </p:nvSpPr>
          <p:spPr>
            <a:xfrm>
              <a:off x="76465" y="98715"/>
              <a:ext cx="102515" cy="22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98" y="0"/>
                  </a:moveTo>
                  <a:cubicBezTo>
                    <a:pt x="1092" y="0"/>
                    <a:pt x="0" y="5017"/>
                    <a:pt x="0" y="9964"/>
                  </a:cubicBezTo>
                  <a:cubicBezTo>
                    <a:pt x="0" y="16653"/>
                    <a:pt x="1092" y="21600"/>
                    <a:pt x="2198" y="21600"/>
                  </a:cubicBezTo>
                  <a:lnTo>
                    <a:pt x="19033" y="21600"/>
                  </a:lnTo>
                  <a:cubicBezTo>
                    <a:pt x="20493" y="21600"/>
                    <a:pt x="21600" y="16653"/>
                    <a:pt x="21600" y="9964"/>
                  </a:cubicBezTo>
                  <a:cubicBezTo>
                    <a:pt x="21600" y="5017"/>
                    <a:pt x="20493" y="0"/>
                    <a:pt x="19033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89" name="Google Shape;2837;p94"/>
            <p:cNvSpPr/>
            <p:nvPr/>
          </p:nvSpPr>
          <p:spPr>
            <a:xfrm>
              <a:off x="552551" y="93458"/>
              <a:ext cx="67783" cy="116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509" y="0"/>
                  </a:moveTo>
                  <a:cubicBezTo>
                    <a:pt x="8859" y="0"/>
                    <a:pt x="7184" y="660"/>
                    <a:pt x="7184" y="1965"/>
                  </a:cubicBezTo>
                  <a:lnTo>
                    <a:pt x="7184" y="2295"/>
                  </a:lnTo>
                  <a:cubicBezTo>
                    <a:pt x="3325" y="2940"/>
                    <a:pt x="0" y="4905"/>
                    <a:pt x="0" y="7530"/>
                  </a:cubicBezTo>
                  <a:cubicBezTo>
                    <a:pt x="0" y="10470"/>
                    <a:pt x="3860" y="12765"/>
                    <a:pt x="8859" y="12765"/>
                  </a:cubicBezTo>
                  <a:lnTo>
                    <a:pt x="12183" y="12765"/>
                  </a:lnTo>
                  <a:cubicBezTo>
                    <a:pt x="13276" y="12765"/>
                    <a:pt x="14392" y="13411"/>
                    <a:pt x="14392" y="14070"/>
                  </a:cubicBezTo>
                  <a:cubicBezTo>
                    <a:pt x="14392" y="14730"/>
                    <a:pt x="13276" y="15376"/>
                    <a:pt x="12183" y="15376"/>
                  </a:cubicBezTo>
                  <a:lnTo>
                    <a:pt x="8859" y="15376"/>
                  </a:lnTo>
                  <a:cubicBezTo>
                    <a:pt x="8301" y="15376"/>
                    <a:pt x="7184" y="15046"/>
                    <a:pt x="7184" y="14400"/>
                  </a:cubicBezTo>
                  <a:cubicBezTo>
                    <a:pt x="6789" y="13658"/>
                    <a:pt x="5417" y="13287"/>
                    <a:pt x="4069" y="13287"/>
                  </a:cubicBezTo>
                  <a:cubicBezTo>
                    <a:pt x="3627" y="13287"/>
                    <a:pt x="3185" y="13328"/>
                    <a:pt x="2767" y="13411"/>
                  </a:cubicBezTo>
                  <a:cubicBezTo>
                    <a:pt x="1093" y="14070"/>
                    <a:pt x="0" y="15046"/>
                    <a:pt x="1093" y="16035"/>
                  </a:cubicBezTo>
                  <a:cubicBezTo>
                    <a:pt x="2209" y="17670"/>
                    <a:pt x="4418" y="18976"/>
                    <a:pt x="7184" y="19305"/>
                  </a:cubicBezTo>
                  <a:cubicBezTo>
                    <a:pt x="7184" y="20611"/>
                    <a:pt x="8859" y="21600"/>
                    <a:pt x="10509" y="21600"/>
                  </a:cubicBezTo>
                  <a:cubicBezTo>
                    <a:pt x="12741" y="21600"/>
                    <a:pt x="14392" y="20611"/>
                    <a:pt x="14392" y="19305"/>
                  </a:cubicBezTo>
                  <a:cubicBezTo>
                    <a:pt x="18275" y="18646"/>
                    <a:pt x="21600" y="16695"/>
                    <a:pt x="21600" y="14070"/>
                  </a:cubicBezTo>
                  <a:cubicBezTo>
                    <a:pt x="21600" y="11130"/>
                    <a:pt x="17159" y="8835"/>
                    <a:pt x="12183" y="8835"/>
                  </a:cubicBezTo>
                  <a:lnTo>
                    <a:pt x="8859" y="8835"/>
                  </a:lnTo>
                  <a:cubicBezTo>
                    <a:pt x="7743" y="8835"/>
                    <a:pt x="7184" y="8176"/>
                    <a:pt x="7184" y="7530"/>
                  </a:cubicBezTo>
                  <a:cubicBezTo>
                    <a:pt x="7184" y="6870"/>
                    <a:pt x="7743" y="6224"/>
                    <a:pt x="8859" y="6224"/>
                  </a:cubicBezTo>
                  <a:lnTo>
                    <a:pt x="12183" y="6224"/>
                  </a:lnTo>
                  <a:cubicBezTo>
                    <a:pt x="13276" y="6224"/>
                    <a:pt x="13834" y="6540"/>
                    <a:pt x="14392" y="6870"/>
                  </a:cubicBezTo>
                  <a:cubicBezTo>
                    <a:pt x="14741" y="7502"/>
                    <a:pt x="15811" y="7873"/>
                    <a:pt x="16950" y="7873"/>
                  </a:cubicBezTo>
                  <a:cubicBezTo>
                    <a:pt x="17578" y="7873"/>
                    <a:pt x="18229" y="7763"/>
                    <a:pt x="18810" y="7530"/>
                  </a:cubicBezTo>
                  <a:cubicBezTo>
                    <a:pt x="20484" y="6870"/>
                    <a:pt x="21042" y="5565"/>
                    <a:pt x="19926" y="4576"/>
                  </a:cubicBezTo>
                  <a:cubicBezTo>
                    <a:pt x="18275" y="3270"/>
                    <a:pt x="16601" y="2624"/>
                    <a:pt x="14392" y="2295"/>
                  </a:cubicBezTo>
                  <a:lnTo>
                    <a:pt x="14392" y="1965"/>
                  </a:lnTo>
                  <a:cubicBezTo>
                    <a:pt x="14392" y="660"/>
                    <a:pt x="12741" y="0"/>
                    <a:pt x="10509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90" name="Google Shape;2838;p94"/>
            <p:cNvSpPr/>
            <p:nvPr/>
          </p:nvSpPr>
          <p:spPr>
            <a:xfrm>
              <a:off x="495202" y="58207"/>
              <a:ext cx="182408" cy="185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96" y="2471"/>
                  </a:moveTo>
                  <a:cubicBezTo>
                    <a:pt x="15224" y="2471"/>
                    <a:pt x="19138" y="6169"/>
                    <a:pt x="19138" y="10904"/>
                  </a:cubicBezTo>
                  <a:cubicBezTo>
                    <a:pt x="19138" y="15431"/>
                    <a:pt x="15431" y="19129"/>
                    <a:pt x="10696" y="19129"/>
                  </a:cubicBezTo>
                  <a:cubicBezTo>
                    <a:pt x="6169" y="19129"/>
                    <a:pt x="2471" y="15431"/>
                    <a:pt x="2471" y="10904"/>
                  </a:cubicBezTo>
                  <a:cubicBezTo>
                    <a:pt x="2471" y="6169"/>
                    <a:pt x="6169" y="2471"/>
                    <a:pt x="10696" y="2471"/>
                  </a:cubicBezTo>
                  <a:close/>
                  <a:moveTo>
                    <a:pt x="10696" y="0"/>
                  </a:moveTo>
                  <a:cubicBezTo>
                    <a:pt x="4735" y="0"/>
                    <a:pt x="0" y="4726"/>
                    <a:pt x="0" y="10696"/>
                  </a:cubicBezTo>
                  <a:cubicBezTo>
                    <a:pt x="0" y="16874"/>
                    <a:pt x="4735" y="21600"/>
                    <a:pt x="10696" y="21600"/>
                  </a:cubicBezTo>
                  <a:cubicBezTo>
                    <a:pt x="16667" y="21600"/>
                    <a:pt x="21600" y="16874"/>
                    <a:pt x="21600" y="10696"/>
                  </a:cubicBezTo>
                  <a:cubicBezTo>
                    <a:pt x="21600" y="4933"/>
                    <a:pt x="16667" y="0"/>
                    <a:pt x="10696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91" name="Google Shape;2839;p94"/>
            <p:cNvSpPr/>
            <p:nvPr/>
          </p:nvSpPr>
          <p:spPr>
            <a:xfrm>
              <a:off x="486520" y="269785"/>
              <a:ext cx="99012" cy="22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276" y="0"/>
                  </a:moveTo>
                  <a:cubicBezTo>
                    <a:pt x="748" y="0"/>
                    <a:pt x="0" y="5017"/>
                    <a:pt x="0" y="9964"/>
                  </a:cubicBezTo>
                  <a:cubicBezTo>
                    <a:pt x="0" y="16653"/>
                    <a:pt x="748" y="21600"/>
                    <a:pt x="2276" y="21600"/>
                  </a:cubicBezTo>
                  <a:lnTo>
                    <a:pt x="19324" y="21600"/>
                  </a:lnTo>
                  <a:cubicBezTo>
                    <a:pt x="20470" y="21600"/>
                    <a:pt x="21600" y="16653"/>
                    <a:pt x="21600" y="9964"/>
                  </a:cubicBezTo>
                  <a:cubicBezTo>
                    <a:pt x="21600" y="5017"/>
                    <a:pt x="20852" y="0"/>
                    <a:pt x="19324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92" name="Google Shape;2840;p94"/>
            <p:cNvSpPr/>
            <p:nvPr/>
          </p:nvSpPr>
          <p:spPr>
            <a:xfrm>
              <a:off x="620334" y="313922"/>
              <a:ext cx="55598" cy="21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025" y="0"/>
                  </a:moveTo>
                  <a:cubicBezTo>
                    <a:pt x="1332" y="0"/>
                    <a:pt x="0" y="3550"/>
                    <a:pt x="0" y="10800"/>
                  </a:cubicBezTo>
                  <a:cubicBezTo>
                    <a:pt x="0" y="16162"/>
                    <a:pt x="1332" y="21600"/>
                    <a:pt x="4025" y="21600"/>
                  </a:cubicBezTo>
                  <a:lnTo>
                    <a:pt x="16866" y="21600"/>
                  </a:lnTo>
                  <a:cubicBezTo>
                    <a:pt x="19559" y="21600"/>
                    <a:pt x="21600" y="16162"/>
                    <a:pt x="21600" y="10800"/>
                  </a:cubicBezTo>
                  <a:cubicBezTo>
                    <a:pt x="21600" y="5362"/>
                    <a:pt x="19559" y="0"/>
                    <a:pt x="16866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93" name="Google Shape;2841;p94"/>
            <p:cNvSpPr/>
            <p:nvPr/>
          </p:nvSpPr>
          <p:spPr>
            <a:xfrm>
              <a:off x="486520" y="313922"/>
              <a:ext cx="62531" cy="21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604" y="0"/>
                  </a:moveTo>
                  <a:cubicBezTo>
                    <a:pt x="1185" y="0"/>
                    <a:pt x="0" y="3550"/>
                    <a:pt x="0" y="10800"/>
                  </a:cubicBezTo>
                  <a:cubicBezTo>
                    <a:pt x="0" y="16162"/>
                    <a:pt x="1185" y="21600"/>
                    <a:pt x="3604" y="21600"/>
                  </a:cubicBezTo>
                  <a:lnTo>
                    <a:pt x="17996" y="21600"/>
                  </a:lnTo>
                  <a:cubicBezTo>
                    <a:pt x="19811" y="21600"/>
                    <a:pt x="21600" y="16162"/>
                    <a:pt x="21600" y="10800"/>
                  </a:cubicBezTo>
                  <a:cubicBezTo>
                    <a:pt x="21600" y="5362"/>
                    <a:pt x="20415" y="0"/>
                    <a:pt x="17996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94" name="Google Shape;2842;p94"/>
            <p:cNvSpPr/>
            <p:nvPr/>
          </p:nvSpPr>
          <p:spPr>
            <a:xfrm>
              <a:off x="564663" y="313922"/>
              <a:ext cx="41734" cy="21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0"/>
                  </a:moveTo>
                  <a:cubicBezTo>
                    <a:pt x="2719" y="0"/>
                    <a:pt x="0" y="3550"/>
                    <a:pt x="0" y="10800"/>
                  </a:cubicBezTo>
                  <a:cubicBezTo>
                    <a:pt x="0" y="16162"/>
                    <a:pt x="2719" y="21600"/>
                    <a:pt x="5400" y="21600"/>
                  </a:cubicBezTo>
                  <a:lnTo>
                    <a:pt x="16200" y="21600"/>
                  </a:lnTo>
                  <a:cubicBezTo>
                    <a:pt x="18919" y="21600"/>
                    <a:pt x="21600" y="16162"/>
                    <a:pt x="21600" y="10800"/>
                  </a:cubicBezTo>
                  <a:cubicBezTo>
                    <a:pt x="21600" y="5362"/>
                    <a:pt x="18919" y="0"/>
                    <a:pt x="16200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95" name="Google Shape;2843;p94"/>
            <p:cNvSpPr/>
            <p:nvPr/>
          </p:nvSpPr>
          <p:spPr>
            <a:xfrm>
              <a:off x="486520" y="356209"/>
              <a:ext cx="187662" cy="22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1" y="0"/>
                  </a:moveTo>
                  <a:cubicBezTo>
                    <a:pt x="395" y="0"/>
                    <a:pt x="0" y="5017"/>
                    <a:pt x="0" y="9964"/>
                  </a:cubicBezTo>
                  <a:cubicBezTo>
                    <a:pt x="0" y="16653"/>
                    <a:pt x="395" y="21600"/>
                    <a:pt x="1201" y="21600"/>
                  </a:cubicBezTo>
                  <a:lnTo>
                    <a:pt x="20399" y="21600"/>
                  </a:lnTo>
                  <a:cubicBezTo>
                    <a:pt x="21197" y="21600"/>
                    <a:pt x="21600" y="16653"/>
                    <a:pt x="21600" y="9964"/>
                  </a:cubicBezTo>
                  <a:cubicBezTo>
                    <a:pt x="21600" y="5017"/>
                    <a:pt x="21197" y="0"/>
                    <a:pt x="20399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406" name="Google Shape;2818;p94"/>
          <p:cNvGrpSpPr/>
          <p:nvPr/>
        </p:nvGrpSpPr>
        <p:grpSpPr>
          <a:xfrm>
            <a:off x="5806499" y="1722646"/>
            <a:ext cx="738459" cy="731455"/>
            <a:chOff x="0" y="0"/>
            <a:chExt cx="738458" cy="731453"/>
          </a:xfrm>
        </p:grpSpPr>
        <p:sp>
          <p:nvSpPr>
            <p:cNvPr id="397" name="Google Shape;2819;p94"/>
            <p:cNvSpPr/>
            <p:nvPr/>
          </p:nvSpPr>
          <p:spPr>
            <a:xfrm>
              <a:off x="411177" y="191361"/>
              <a:ext cx="35860" cy="28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8" h="21600" fill="norm" stroke="1" extrusionOk="0">
                  <a:moveTo>
                    <a:pt x="13735" y="0"/>
                  </a:moveTo>
                  <a:cubicBezTo>
                    <a:pt x="13198" y="0"/>
                    <a:pt x="12703" y="112"/>
                    <a:pt x="12166" y="335"/>
                  </a:cubicBezTo>
                  <a:lnTo>
                    <a:pt x="3328" y="5637"/>
                  </a:lnTo>
                  <a:cubicBezTo>
                    <a:pt x="354" y="6977"/>
                    <a:pt x="-596" y="12279"/>
                    <a:pt x="354" y="16298"/>
                  </a:cubicBezTo>
                  <a:cubicBezTo>
                    <a:pt x="1345" y="18921"/>
                    <a:pt x="3328" y="21600"/>
                    <a:pt x="5269" y="21600"/>
                  </a:cubicBezTo>
                  <a:cubicBezTo>
                    <a:pt x="6260" y="21600"/>
                    <a:pt x="7251" y="21600"/>
                    <a:pt x="8242" y="20260"/>
                  </a:cubicBezTo>
                  <a:lnTo>
                    <a:pt x="16089" y="16298"/>
                  </a:lnTo>
                  <a:cubicBezTo>
                    <a:pt x="19063" y="14958"/>
                    <a:pt x="21004" y="9656"/>
                    <a:pt x="20054" y="5637"/>
                  </a:cubicBezTo>
                  <a:cubicBezTo>
                    <a:pt x="18402" y="2400"/>
                    <a:pt x="16131" y="0"/>
                    <a:pt x="13735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98" name="Google Shape;2820;p94"/>
            <p:cNvSpPr/>
            <p:nvPr/>
          </p:nvSpPr>
          <p:spPr>
            <a:xfrm>
              <a:off x="389184" y="150554"/>
              <a:ext cx="31397" cy="342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26" h="21600" fill="norm" stroke="1" extrusionOk="0">
                  <a:moveTo>
                    <a:pt x="12434" y="0"/>
                  </a:moveTo>
                  <a:cubicBezTo>
                    <a:pt x="10619" y="0"/>
                    <a:pt x="8804" y="842"/>
                    <a:pt x="7579" y="2665"/>
                  </a:cubicBezTo>
                  <a:lnTo>
                    <a:pt x="1135" y="10473"/>
                  </a:lnTo>
                  <a:cubicBezTo>
                    <a:pt x="-1043" y="13792"/>
                    <a:pt x="46" y="18234"/>
                    <a:pt x="3268" y="20478"/>
                  </a:cubicBezTo>
                  <a:cubicBezTo>
                    <a:pt x="4357" y="21600"/>
                    <a:pt x="5446" y="21600"/>
                    <a:pt x="6535" y="21600"/>
                  </a:cubicBezTo>
                  <a:cubicBezTo>
                    <a:pt x="8668" y="21600"/>
                    <a:pt x="10846" y="20478"/>
                    <a:pt x="11935" y="19356"/>
                  </a:cubicBezTo>
                  <a:lnTo>
                    <a:pt x="18424" y="10473"/>
                  </a:lnTo>
                  <a:cubicBezTo>
                    <a:pt x="20557" y="8229"/>
                    <a:pt x="19468" y="3787"/>
                    <a:pt x="16246" y="1543"/>
                  </a:cubicBezTo>
                  <a:cubicBezTo>
                    <a:pt x="15293" y="561"/>
                    <a:pt x="13886" y="0"/>
                    <a:pt x="12434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399" name="Google Shape;2821;p94"/>
            <p:cNvSpPr/>
            <p:nvPr/>
          </p:nvSpPr>
          <p:spPr>
            <a:xfrm>
              <a:off x="420064" y="237645"/>
              <a:ext cx="36977" cy="24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0" h="21600" fill="norm" stroke="1" extrusionOk="0">
                  <a:moveTo>
                    <a:pt x="7122" y="0"/>
                  </a:moveTo>
                  <a:cubicBezTo>
                    <a:pt x="3206" y="0"/>
                    <a:pt x="238" y="3104"/>
                    <a:pt x="238" y="7696"/>
                  </a:cubicBezTo>
                  <a:cubicBezTo>
                    <a:pt x="-710" y="13904"/>
                    <a:pt x="1227" y="18496"/>
                    <a:pt x="5143" y="18496"/>
                  </a:cubicBezTo>
                  <a:lnTo>
                    <a:pt x="14006" y="21600"/>
                  </a:lnTo>
                  <a:lnTo>
                    <a:pt x="14995" y="21600"/>
                  </a:lnTo>
                  <a:cubicBezTo>
                    <a:pt x="17922" y="21600"/>
                    <a:pt x="19901" y="18496"/>
                    <a:pt x="20890" y="13904"/>
                  </a:cubicBezTo>
                  <a:cubicBezTo>
                    <a:pt x="20890" y="7696"/>
                    <a:pt x="18911" y="3104"/>
                    <a:pt x="15943" y="3104"/>
                  </a:cubicBezTo>
                  <a:lnTo>
                    <a:pt x="7122" y="0"/>
                  </a:ln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00" name="Google Shape;2822;p94"/>
            <p:cNvSpPr/>
            <p:nvPr/>
          </p:nvSpPr>
          <p:spPr>
            <a:xfrm>
              <a:off x="-1" y="-1"/>
              <a:ext cx="738460" cy="7314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216" y="925"/>
                  </a:moveTo>
                  <a:lnTo>
                    <a:pt x="13164" y="2174"/>
                  </a:lnTo>
                  <a:lnTo>
                    <a:pt x="11183" y="3009"/>
                  </a:lnTo>
                  <a:cubicBezTo>
                    <a:pt x="11168" y="3022"/>
                    <a:pt x="11153" y="3029"/>
                    <a:pt x="11138" y="3029"/>
                  </a:cubicBezTo>
                  <a:cubicBezTo>
                    <a:pt x="11102" y="3029"/>
                    <a:pt x="11066" y="2994"/>
                    <a:pt x="11029" y="2957"/>
                  </a:cubicBezTo>
                  <a:lnTo>
                    <a:pt x="10216" y="925"/>
                  </a:lnTo>
                  <a:close/>
                  <a:moveTo>
                    <a:pt x="17534" y="4518"/>
                  </a:moveTo>
                  <a:cubicBezTo>
                    <a:pt x="17637" y="4518"/>
                    <a:pt x="17739" y="4571"/>
                    <a:pt x="17739" y="4676"/>
                  </a:cubicBezTo>
                  <a:lnTo>
                    <a:pt x="17739" y="5612"/>
                  </a:lnTo>
                  <a:cubicBezTo>
                    <a:pt x="17739" y="5717"/>
                    <a:pt x="17637" y="5819"/>
                    <a:pt x="17534" y="5819"/>
                  </a:cubicBezTo>
                  <a:lnTo>
                    <a:pt x="15808" y="5819"/>
                  </a:lnTo>
                  <a:lnTo>
                    <a:pt x="15298" y="4518"/>
                  </a:lnTo>
                  <a:close/>
                  <a:moveTo>
                    <a:pt x="18755" y="2799"/>
                  </a:moveTo>
                  <a:cubicBezTo>
                    <a:pt x="19060" y="2799"/>
                    <a:pt x="19314" y="3059"/>
                    <a:pt x="19314" y="3372"/>
                  </a:cubicBezTo>
                  <a:lnTo>
                    <a:pt x="19314" y="8581"/>
                  </a:lnTo>
                  <a:lnTo>
                    <a:pt x="16975" y="8581"/>
                  </a:lnTo>
                  <a:lnTo>
                    <a:pt x="16113" y="6445"/>
                  </a:lnTo>
                  <a:lnTo>
                    <a:pt x="17534" y="6445"/>
                  </a:lnTo>
                  <a:cubicBezTo>
                    <a:pt x="17993" y="6445"/>
                    <a:pt x="18348" y="6082"/>
                    <a:pt x="18348" y="5612"/>
                  </a:cubicBezTo>
                  <a:lnTo>
                    <a:pt x="18348" y="4676"/>
                  </a:lnTo>
                  <a:cubicBezTo>
                    <a:pt x="18348" y="4205"/>
                    <a:pt x="17993" y="3842"/>
                    <a:pt x="17534" y="3842"/>
                  </a:cubicBezTo>
                  <a:lnTo>
                    <a:pt x="15044" y="3842"/>
                  </a:lnTo>
                  <a:lnTo>
                    <a:pt x="14587" y="2799"/>
                  </a:lnTo>
                  <a:close/>
                  <a:moveTo>
                    <a:pt x="9454" y="770"/>
                  </a:moveTo>
                  <a:lnTo>
                    <a:pt x="10470" y="3217"/>
                  </a:lnTo>
                  <a:cubicBezTo>
                    <a:pt x="10573" y="3530"/>
                    <a:pt x="10827" y="3685"/>
                    <a:pt x="11132" y="3685"/>
                  </a:cubicBezTo>
                  <a:cubicBezTo>
                    <a:pt x="11232" y="3685"/>
                    <a:pt x="11335" y="3685"/>
                    <a:pt x="11437" y="3632"/>
                  </a:cubicBezTo>
                  <a:lnTo>
                    <a:pt x="13825" y="2591"/>
                  </a:lnTo>
                  <a:lnTo>
                    <a:pt x="16265" y="8632"/>
                  </a:lnTo>
                  <a:lnTo>
                    <a:pt x="14741" y="8632"/>
                  </a:lnTo>
                  <a:cubicBezTo>
                    <a:pt x="14587" y="8632"/>
                    <a:pt x="14436" y="8737"/>
                    <a:pt x="14436" y="8944"/>
                  </a:cubicBezTo>
                  <a:cubicBezTo>
                    <a:pt x="14436" y="9102"/>
                    <a:pt x="14587" y="9257"/>
                    <a:pt x="14741" y="9257"/>
                  </a:cubicBezTo>
                  <a:lnTo>
                    <a:pt x="20433" y="9257"/>
                  </a:lnTo>
                  <a:cubicBezTo>
                    <a:pt x="20738" y="9257"/>
                    <a:pt x="20941" y="9517"/>
                    <a:pt x="20941" y="9778"/>
                  </a:cubicBezTo>
                  <a:lnTo>
                    <a:pt x="20941" y="19621"/>
                  </a:lnTo>
                  <a:cubicBezTo>
                    <a:pt x="20941" y="20404"/>
                    <a:pt x="20381" y="20975"/>
                    <a:pt x="19619" y="20975"/>
                  </a:cubicBezTo>
                  <a:lnTo>
                    <a:pt x="3406" y="20975"/>
                  </a:lnTo>
                  <a:cubicBezTo>
                    <a:pt x="3711" y="20612"/>
                    <a:pt x="3914" y="20141"/>
                    <a:pt x="3914" y="19621"/>
                  </a:cubicBezTo>
                  <a:lnTo>
                    <a:pt x="3914" y="16080"/>
                  </a:lnTo>
                  <a:cubicBezTo>
                    <a:pt x="3914" y="15923"/>
                    <a:pt x="3763" y="15768"/>
                    <a:pt x="3558" y="15768"/>
                  </a:cubicBezTo>
                  <a:cubicBezTo>
                    <a:pt x="3406" y="15768"/>
                    <a:pt x="3252" y="15923"/>
                    <a:pt x="3252" y="16080"/>
                  </a:cubicBezTo>
                  <a:lnTo>
                    <a:pt x="3252" y="19621"/>
                  </a:lnTo>
                  <a:cubicBezTo>
                    <a:pt x="3252" y="20404"/>
                    <a:pt x="2693" y="20975"/>
                    <a:pt x="1931" y="20975"/>
                  </a:cubicBezTo>
                  <a:cubicBezTo>
                    <a:pt x="1221" y="20975"/>
                    <a:pt x="610" y="20404"/>
                    <a:pt x="610" y="19621"/>
                  </a:cubicBezTo>
                  <a:lnTo>
                    <a:pt x="610" y="5664"/>
                  </a:lnTo>
                  <a:cubicBezTo>
                    <a:pt x="610" y="5351"/>
                    <a:pt x="864" y="5091"/>
                    <a:pt x="1170" y="5091"/>
                  </a:cubicBezTo>
                  <a:lnTo>
                    <a:pt x="1780" y="5091"/>
                  </a:lnTo>
                  <a:lnTo>
                    <a:pt x="2390" y="6705"/>
                  </a:lnTo>
                  <a:cubicBezTo>
                    <a:pt x="2465" y="6823"/>
                    <a:pt x="2570" y="6882"/>
                    <a:pt x="2683" y="6882"/>
                  </a:cubicBezTo>
                  <a:cubicBezTo>
                    <a:pt x="2719" y="6882"/>
                    <a:pt x="2757" y="6876"/>
                    <a:pt x="2796" y="6862"/>
                  </a:cubicBezTo>
                  <a:cubicBezTo>
                    <a:pt x="2949" y="6810"/>
                    <a:pt x="3050" y="6602"/>
                    <a:pt x="2999" y="6445"/>
                  </a:cubicBezTo>
                  <a:lnTo>
                    <a:pt x="2034" y="4103"/>
                  </a:lnTo>
                  <a:cubicBezTo>
                    <a:pt x="1983" y="4050"/>
                    <a:pt x="2034" y="3945"/>
                    <a:pt x="2085" y="3945"/>
                  </a:cubicBezTo>
                  <a:lnTo>
                    <a:pt x="9454" y="770"/>
                  </a:lnTo>
                  <a:close/>
                  <a:moveTo>
                    <a:pt x="9632" y="0"/>
                  </a:moveTo>
                  <a:cubicBezTo>
                    <a:pt x="9593" y="0"/>
                    <a:pt x="9555" y="13"/>
                    <a:pt x="9506" y="39"/>
                  </a:cubicBezTo>
                  <a:lnTo>
                    <a:pt x="1831" y="3320"/>
                  </a:lnTo>
                  <a:cubicBezTo>
                    <a:pt x="1475" y="3477"/>
                    <a:pt x="1272" y="3945"/>
                    <a:pt x="1423" y="4310"/>
                  </a:cubicBezTo>
                  <a:lnTo>
                    <a:pt x="1475" y="4466"/>
                  </a:lnTo>
                  <a:lnTo>
                    <a:pt x="1170" y="4466"/>
                  </a:lnTo>
                  <a:cubicBezTo>
                    <a:pt x="508" y="4466"/>
                    <a:pt x="0" y="4986"/>
                    <a:pt x="0" y="5664"/>
                  </a:cubicBezTo>
                  <a:lnTo>
                    <a:pt x="0" y="19621"/>
                  </a:lnTo>
                  <a:cubicBezTo>
                    <a:pt x="0" y="20714"/>
                    <a:pt x="864" y="21600"/>
                    <a:pt x="1931" y="21600"/>
                  </a:cubicBezTo>
                  <a:lnTo>
                    <a:pt x="19619" y="21600"/>
                  </a:lnTo>
                  <a:cubicBezTo>
                    <a:pt x="20738" y="21600"/>
                    <a:pt x="21600" y="20714"/>
                    <a:pt x="21600" y="19621"/>
                  </a:cubicBezTo>
                  <a:lnTo>
                    <a:pt x="21600" y="9778"/>
                  </a:lnTo>
                  <a:cubicBezTo>
                    <a:pt x="21600" y="9102"/>
                    <a:pt x="21043" y="8581"/>
                    <a:pt x="20433" y="8581"/>
                  </a:cubicBezTo>
                  <a:lnTo>
                    <a:pt x="19925" y="8581"/>
                  </a:lnTo>
                  <a:lnTo>
                    <a:pt x="19925" y="3372"/>
                  </a:lnTo>
                  <a:cubicBezTo>
                    <a:pt x="19925" y="2696"/>
                    <a:pt x="19415" y="2174"/>
                    <a:pt x="18755" y="2174"/>
                  </a:cubicBezTo>
                  <a:lnTo>
                    <a:pt x="14333" y="2174"/>
                  </a:lnTo>
                  <a:lnTo>
                    <a:pt x="14282" y="2019"/>
                  </a:lnTo>
                  <a:cubicBezTo>
                    <a:pt x="14231" y="1966"/>
                    <a:pt x="14182" y="1863"/>
                    <a:pt x="14130" y="1863"/>
                  </a:cubicBezTo>
                  <a:lnTo>
                    <a:pt x="9760" y="39"/>
                  </a:lnTo>
                  <a:cubicBezTo>
                    <a:pt x="9708" y="13"/>
                    <a:pt x="9670" y="0"/>
                    <a:pt x="963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01" name="Google Shape;2823;p94"/>
            <p:cNvSpPr/>
            <p:nvPr/>
          </p:nvSpPr>
          <p:spPr>
            <a:xfrm>
              <a:off x="99425" y="159145"/>
              <a:ext cx="367977" cy="348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8" h="21600" fill="norm" stroke="1" extrusionOk="0">
                  <a:moveTo>
                    <a:pt x="11628" y="1382"/>
                  </a:moveTo>
                  <a:cubicBezTo>
                    <a:pt x="12190" y="1382"/>
                    <a:pt x="12739" y="1492"/>
                    <a:pt x="13263" y="1699"/>
                  </a:cubicBezTo>
                  <a:cubicBezTo>
                    <a:pt x="14481" y="2245"/>
                    <a:pt x="15397" y="3228"/>
                    <a:pt x="15801" y="4431"/>
                  </a:cubicBezTo>
                  <a:cubicBezTo>
                    <a:pt x="16308" y="5634"/>
                    <a:pt x="16308" y="6947"/>
                    <a:pt x="15903" y="8151"/>
                  </a:cubicBezTo>
                  <a:lnTo>
                    <a:pt x="13872" y="8151"/>
                  </a:lnTo>
                  <a:cubicBezTo>
                    <a:pt x="14076" y="7710"/>
                    <a:pt x="14179" y="7163"/>
                    <a:pt x="13974" y="6617"/>
                  </a:cubicBezTo>
                  <a:cubicBezTo>
                    <a:pt x="13774" y="6181"/>
                    <a:pt x="13365" y="5855"/>
                    <a:pt x="12961" y="5634"/>
                  </a:cubicBezTo>
                  <a:cubicBezTo>
                    <a:pt x="12756" y="5524"/>
                    <a:pt x="12531" y="5469"/>
                    <a:pt x="12301" y="5469"/>
                  </a:cubicBezTo>
                  <a:cubicBezTo>
                    <a:pt x="12075" y="5469"/>
                    <a:pt x="11845" y="5524"/>
                    <a:pt x="11640" y="5634"/>
                  </a:cubicBezTo>
                  <a:lnTo>
                    <a:pt x="11036" y="5960"/>
                  </a:lnTo>
                  <a:cubicBezTo>
                    <a:pt x="10976" y="5983"/>
                    <a:pt x="10921" y="5992"/>
                    <a:pt x="10865" y="5992"/>
                  </a:cubicBezTo>
                  <a:cubicBezTo>
                    <a:pt x="10623" y="5992"/>
                    <a:pt x="10405" y="5813"/>
                    <a:pt x="10325" y="5634"/>
                  </a:cubicBezTo>
                  <a:cubicBezTo>
                    <a:pt x="10222" y="5304"/>
                    <a:pt x="10427" y="5088"/>
                    <a:pt x="10627" y="4978"/>
                  </a:cubicBezTo>
                  <a:lnTo>
                    <a:pt x="11236" y="4652"/>
                  </a:lnTo>
                  <a:cubicBezTo>
                    <a:pt x="11338" y="4596"/>
                    <a:pt x="11415" y="4569"/>
                    <a:pt x="11491" y="4569"/>
                  </a:cubicBezTo>
                  <a:cubicBezTo>
                    <a:pt x="11568" y="4569"/>
                    <a:pt x="11640" y="4596"/>
                    <a:pt x="11743" y="4652"/>
                  </a:cubicBezTo>
                  <a:cubicBezTo>
                    <a:pt x="11862" y="4734"/>
                    <a:pt x="11977" y="4771"/>
                    <a:pt x="12088" y="4771"/>
                  </a:cubicBezTo>
                  <a:cubicBezTo>
                    <a:pt x="12266" y="4771"/>
                    <a:pt x="12428" y="4674"/>
                    <a:pt x="12556" y="4541"/>
                  </a:cubicBezTo>
                  <a:cubicBezTo>
                    <a:pt x="12756" y="4211"/>
                    <a:pt x="12658" y="3774"/>
                    <a:pt x="12454" y="3554"/>
                  </a:cubicBezTo>
                  <a:cubicBezTo>
                    <a:pt x="12190" y="3343"/>
                    <a:pt x="11887" y="3223"/>
                    <a:pt x="11568" y="3223"/>
                  </a:cubicBezTo>
                  <a:cubicBezTo>
                    <a:pt x="11393" y="3223"/>
                    <a:pt x="11215" y="3260"/>
                    <a:pt x="11036" y="3338"/>
                  </a:cubicBezTo>
                  <a:lnTo>
                    <a:pt x="10934" y="3118"/>
                  </a:lnTo>
                  <a:cubicBezTo>
                    <a:pt x="10848" y="2847"/>
                    <a:pt x="10559" y="2654"/>
                    <a:pt x="10290" y="2654"/>
                  </a:cubicBezTo>
                  <a:cubicBezTo>
                    <a:pt x="10231" y="2654"/>
                    <a:pt x="10175" y="2663"/>
                    <a:pt x="10120" y="2682"/>
                  </a:cubicBezTo>
                  <a:cubicBezTo>
                    <a:pt x="9818" y="2902"/>
                    <a:pt x="9716" y="3228"/>
                    <a:pt x="9818" y="3554"/>
                  </a:cubicBezTo>
                  <a:lnTo>
                    <a:pt x="9920" y="3774"/>
                  </a:lnTo>
                  <a:cubicBezTo>
                    <a:pt x="9209" y="4321"/>
                    <a:pt x="8902" y="5304"/>
                    <a:pt x="9209" y="6181"/>
                  </a:cubicBezTo>
                  <a:cubicBezTo>
                    <a:pt x="9515" y="6842"/>
                    <a:pt x="10171" y="7319"/>
                    <a:pt x="10870" y="7319"/>
                  </a:cubicBezTo>
                  <a:cubicBezTo>
                    <a:pt x="11095" y="7319"/>
                    <a:pt x="11321" y="7269"/>
                    <a:pt x="11543" y="7163"/>
                  </a:cubicBezTo>
                  <a:lnTo>
                    <a:pt x="12147" y="6837"/>
                  </a:lnTo>
                  <a:lnTo>
                    <a:pt x="12556" y="6837"/>
                  </a:lnTo>
                  <a:cubicBezTo>
                    <a:pt x="12658" y="6947"/>
                    <a:pt x="12756" y="7058"/>
                    <a:pt x="12756" y="7163"/>
                  </a:cubicBezTo>
                  <a:cubicBezTo>
                    <a:pt x="12858" y="7384"/>
                    <a:pt x="12756" y="7710"/>
                    <a:pt x="12556" y="7820"/>
                  </a:cubicBezTo>
                  <a:lnTo>
                    <a:pt x="11845" y="8151"/>
                  </a:lnTo>
                  <a:lnTo>
                    <a:pt x="11640" y="8151"/>
                  </a:lnTo>
                  <a:cubicBezTo>
                    <a:pt x="11543" y="8151"/>
                    <a:pt x="11440" y="8151"/>
                    <a:pt x="11338" y="8040"/>
                  </a:cubicBezTo>
                  <a:cubicBezTo>
                    <a:pt x="11236" y="7875"/>
                    <a:pt x="11083" y="7792"/>
                    <a:pt x="10921" y="7792"/>
                  </a:cubicBezTo>
                  <a:cubicBezTo>
                    <a:pt x="10755" y="7792"/>
                    <a:pt x="10576" y="7875"/>
                    <a:pt x="10427" y="8040"/>
                  </a:cubicBezTo>
                  <a:cubicBezTo>
                    <a:pt x="10427" y="8040"/>
                    <a:pt x="10427" y="8151"/>
                    <a:pt x="10325" y="8151"/>
                  </a:cubicBezTo>
                  <a:lnTo>
                    <a:pt x="7280" y="8151"/>
                  </a:lnTo>
                  <a:cubicBezTo>
                    <a:pt x="6773" y="6947"/>
                    <a:pt x="6773" y="5634"/>
                    <a:pt x="7280" y="4431"/>
                  </a:cubicBezTo>
                  <a:cubicBezTo>
                    <a:pt x="7688" y="3228"/>
                    <a:pt x="8600" y="2245"/>
                    <a:pt x="9716" y="1805"/>
                  </a:cubicBezTo>
                  <a:cubicBezTo>
                    <a:pt x="10359" y="1520"/>
                    <a:pt x="11002" y="1382"/>
                    <a:pt x="11628" y="1382"/>
                  </a:cubicBezTo>
                  <a:close/>
                  <a:moveTo>
                    <a:pt x="11543" y="0"/>
                  </a:moveTo>
                  <a:cubicBezTo>
                    <a:pt x="10780" y="0"/>
                    <a:pt x="10018" y="165"/>
                    <a:pt x="9311" y="496"/>
                  </a:cubicBezTo>
                  <a:cubicBezTo>
                    <a:pt x="7786" y="1153"/>
                    <a:pt x="6671" y="2351"/>
                    <a:pt x="6066" y="3885"/>
                  </a:cubicBezTo>
                  <a:cubicBezTo>
                    <a:pt x="5559" y="5304"/>
                    <a:pt x="5457" y="6837"/>
                    <a:pt x="5861" y="8151"/>
                  </a:cubicBezTo>
                  <a:lnTo>
                    <a:pt x="3021" y="8151"/>
                  </a:lnTo>
                  <a:cubicBezTo>
                    <a:pt x="2616" y="8151"/>
                    <a:pt x="2310" y="8256"/>
                    <a:pt x="2007" y="8366"/>
                  </a:cubicBezTo>
                  <a:lnTo>
                    <a:pt x="1198" y="6401"/>
                  </a:lnTo>
                  <a:cubicBezTo>
                    <a:pt x="1122" y="6162"/>
                    <a:pt x="892" y="5983"/>
                    <a:pt x="653" y="5983"/>
                  </a:cubicBezTo>
                  <a:cubicBezTo>
                    <a:pt x="564" y="5983"/>
                    <a:pt x="470" y="6011"/>
                    <a:pt x="385" y="6070"/>
                  </a:cubicBezTo>
                  <a:cubicBezTo>
                    <a:pt x="82" y="6181"/>
                    <a:pt x="-122" y="6617"/>
                    <a:pt x="82" y="6947"/>
                  </a:cubicBezTo>
                  <a:lnTo>
                    <a:pt x="994" y="9354"/>
                  </a:lnTo>
                  <a:cubicBezTo>
                    <a:pt x="789" y="9790"/>
                    <a:pt x="687" y="10226"/>
                    <a:pt x="687" y="10662"/>
                  </a:cubicBezTo>
                  <a:lnTo>
                    <a:pt x="687" y="20833"/>
                  </a:lnTo>
                  <a:cubicBezTo>
                    <a:pt x="687" y="21269"/>
                    <a:pt x="994" y="21600"/>
                    <a:pt x="1296" y="21600"/>
                  </a:cubicBezTo>
                  <a:cubicBezTo>
                    <a:pt x="1705" y="21600"/>
                    <a:pt x="2007" y="21269"/>
                    <a:pt x="2007" y="20833"/>
                  </a:cubicBezTo>
                  <a:lnTo>
                    <a:pt x="2007" y="10662"/>
                  </a:lnTo>
                  <a:cubicBezTo>
                    <a:pt x="2007" y="10006"/>
                    <a:pt x="2412" y="9569"/>
                    <a:pt x="3021" y="9569"/>
                  </a:cubicBezTo>
                  <a:lnTo>
                    <a:pt x="20771" y="9569"/>
                  </a:lnTo>
                  <a:cubicBezTo>
                    <a:pt x="21176" y="9569"/>
                    <a:pt x="21478" y="9243"/>
                    <a:pt x="21478" y="8807"/>
                  </a:cubicBezTo>
                  <a:cubicBezTo>
                    <a:pt x="21478" y="8477"/>
                    <a:pt x="21176" y="8151"/>
                    <a:pt x="20771" y="8151"/>
                  </a:cubicBezTo>
                  <a:lnTo>
                    <a:pt x="17219" y="8151"/>
                  </a:lnTo>
                  <a:cubicBezTo>
                    <a:pt x="17624" y="6727"/>
                    <a:pt x="17526" y="5304"/>
                    <a:pt x="17019" y="3885"/>
                  </a:cubicBezTo>
                  <a:cubicBezTo>
                    <a:pt x="16410" y="2351"/>
                    <a:pt x="15192" y="1153"/>
                    <a:pt x="13774" y="496"/>
                  </a:cubicBezTo>
                  <a:cubicBezTo>
                    <a:pt x="13063" y="165"/>
                    <a:pt x="12301" y="0"/>
                    <a:pt x="11543" y="0"/>
                  </a:cubicBezTo>
                  <a:close/>
                </a:path>
              </a:pathLst>
            </a:custGeom>
            <a:solidFill>
              <a:srgbClr val="FD0C5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02" name="Google Shape;2824;p94"/>
            <p:cNvSpPr/>
            <p:nvPr/>
          </p:nvSpPr>
          <p:spPr>
            <a:xfrm>
              <a:off x="114242" y="115526"/>
              <a:ext cx="99168" cy="55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5" h="21600" fill="norm" stroke="1" extrusionOk="0">
                  <a:moveTo>
                    <a:pt x="18283" y="0"/>
                  </a:moveTo>
                  <a:cubicBezTo>
                    <a:pt x="18068" y="0"/>
                    <a:pt x="17868" y="58"/>
                    <a:pt x="17668" y="174"/>
                  </a:cubicBezTo>
                  <a:lnTo>
                    <a:pt x="1556" y="13326"/>
                  </a:lnTo>
                  <a:cubicBezTo>
                    <a:pt x="465" y="13994"/>
                    <a:pt x="-273" y="16781"/>
                    <a:pt x="96" y="18842"/>
                  </a:cubicBezTo>
                  <a:cubicBezTo>
                    <a:pt x="465" y="20903"/>
                    <a:pt x="1556" y="21600"/>
                    <a:pt x="2294" y="21600"/>
                  </a:cubicBezTo>
                  <a:lnTo>
                    <a:pt x="3032" y="21600"/>
                  </a:lnTo>
                  <a:lnTo>
                    <a:pt x="19498" y="8477"/>
                  </a:lnTo>
                  <a:cubicBezTo>
                    <a:pt x="20604" y="7781"/>
                    <a:pt x="21327" y="5023"/>
                    <a:pt x="20604" y="2932"/>
                  </a:cubicBezTo>
                  <a:cubicBezTo>
                    <a:pt x="20297" y="1248"/>
                    <a:pt x="19252" y="0"/>
                    <a:pt x="18283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03" name="Google Shape;2825;p94"/>
            <p:cNvSpPr/>
            <p:nvPr/>
          </p:nvSpPr>
          <p:spPr>
            <a:xfrm>
              <a:off x="129686" y="169218"/>
              <a:ext cx="53251" cy="34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88" h="21600" fill="norm" stroke="1" extrusionOk="0">
                  <a:moveTo>
                    <a:pt x="16542" y="0"/>
                  </a:moveTo>
                  <a:cubicBezTo>
                    <a:pt x="15890" y="0"/>
                    <a:pt x="15182" y="275"/>
                    <a:pt x="14445" y="869"/>
                  </a:cubicBezTo>
                  <a:lnTo>
                    <a:pt x="2284" y="8512"/>
                  </a:lnTo>
                  <a:cubicBezTo>
                    <a:pt x="243" y="10708"/>
                    <a:pt x="-409" y="13958"/>
                    <a:pt x="243" y="17207"/>
                  </a:cubicBezTo>
                  <a:cubicBezTo>
                    <a:pt x="923" y="20502"/>
                    <a:pt x="2284" y="21600"/>
                    <a:pt x="4297" y="21600"/>
                  </a:cubicBezTo>
                  <a:lnTo>
                    <a:pt x="5657" y="21600"/>
                  </a:lnTo>
                  <a:lnTo>
                    <a:pt x="17818" y="12859"/>
                  </a:lnTo>
                  <a:cubicBezTo>
                    <a:pt x="19830" y="11761"/>
                    <a:pt x="21191" y="7414"/>
                    <a:pt x="20511" y="4164"/>
                  </a:cubicBezTo>
                  <a:cubicBezTo>
                    <a:pt x="19547" y="1785"/>
                    <a:pt x="18215" y="0"/>
                    <a:pt x="16542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04" name="Google Shape;2826;p94"/>
            <p:cNvSpPr/>
            <p:nvPr/>
          </p:nvSpPr>
          <p:spPr>
            <a:xfrm>
              <a:off x="178978" y="613333"/>
              <a:ext cx="76465" cy="21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47" y="0"/>
                  </a:moveTo>
                  <a:cubicBezTo>
                    <a:pt x="1484" y="0"/>
                    <a:pt x="0" y="3562"/>
                    <a:pt x="0" y="10838"/>
                  </a:cubicBezTo>
                  <a:cubicBezTo>
                    <a:pt x="0" y="16219"/>
                    <a:pt x="1484" y="21600"/>
                    <a:pt x="2947" y="21600"/>
                  </a:cubicBezTo>
                  <a:lnTo>
                    <a:pt x="18653" y="21600"/>
                  </a:lnTo>
                  <a:cubicBezTo>
                    <a:pt x="20137" y="21600"/>
                    <a:pt x="21600" y="16219"/>
                    <a:pt x="21600" y="10838"/>
                  </a:cubicBezTo>
                  <a:cubicBezTo>
                    <a:pt x="21600" y="3562"/>
                    <a:pt x="20137" y="0"/>
                    <a:pt x="18653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05" name="Google Shape;2827;p94"/>
            <p:cNvSpPr/>
            <p:nvPr/>
          </p:nvSpPr>
          <p:spPr>
            <a:xfrm>
              <a:off x="178978" y="652140"/>
              <a:ext cx="177227" cy="22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72" y="0"/>
                  </a:moveTo>
                  <a:cubicBezTo>
                    <a:pt x="640" y="0"/>
                    <a:pt x="0" y="4963"/>
                    <a:pt x="0" y="9926"/>
                  </a:cubicBezTo>
                  <a:cubicBezTo>
                    <a:pt x="0" y="16637"/>
                    <a:pt x="640" y="21600"/>
                    <a:pt x="1272" y="21600"/>
                  </a:cubicBezTo>
                  <a:lnTo>
                    <a:pt x="20328" y="21600"/>
                  </a:lnTo>
                  <a:cubicBezTo>
                    <a:pt x="20969" y="21600"/>
                    <a:pt x="21600" y="16637"/>
                    <a:pt x="21600" y="9926"/>
                  </a:cubicBezTo>
                  <a:cubicBezTo>
                    <a:pt x="21600" y="4963"/>
                    <a:pt x="20969" y="0"/>
                    <a:pt x="20328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418" name="Google Shape;2805;p94"/>
          <p:cNvGrpSpPr/>
          <p:nvPr/>
        </p:nvGrpSpPr>
        <p:grpSpPr>
          <a:xfrm>
            <a:off x="9757396" y="1713139"/>
            <a:ext cx="738459" cy="694870"/>
            <a:chOff x="0" y="0"/>
            <a:chExt cx="738458" cy="694869"/>
          </a:xfrm>
        </p:grpSpPr>
        <p:sp>
          <p:nvSpPr>
            <p:cNvPr id="407" name="Google Shape;2806;p94"/>
            <p:cNvSpPr/>
            <p:nvPr/>
          </p:nvSpPr>
          <p:spPr>
            <a:xfrm>
              <a:off x="0" y="0"/>
              <a:ext cx="738459" cy="6948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25" y="19682"/>
                  </a:moveTo>
                  <a:cubicBezTo>
                    <a:pt x="11130" y="19682"/>
                    <a:pt x="11384" y="19956"/>
                    <a:pt x="11384" y="20286"/>
                  </a:cubicBezTo>
                  <a:cubicBezTo>
                    <a:pt x="11384" y="20612"/>
                    <a:pt x="11130" y="20942"/>
                    <a:pt x="10825" y="20942"/>
                  </a:cubicBezTo>
                  <a:cubicBezTo>
                    <a:pt x="10470" y="20942"/>
                    <a:pt x="10216" y="20612"/>
                    <a:pt x="10216" y="20286"/>
                  </a:cubicBezTo>
                  <a:cubicBezTo>
                    <a:pt x="10216" y="19956"/>
                    <a:pt x="10470" y="19682"/>
                    <a:pt x="10825" y="19682"/>
                  </a:cubicBezTo>
                  <a:close/>
                  <a:moveTo>
                    <a:pt x="762" y="0"/>
                  </a:moveTo>
                  <a:cubicBezTo>
                    <a:pt x="356" y="0"/>
                    <a:pt x="0" y="384"/>
                    <a:pt x="0" y="822"/>
                  </a:cubicBezTo>
                  <a:lnTo>
                    <a:pt x="0" y="2194"/>
                  </a:lnTo>
                  <a:cubicBezTo>
                    <a:pt x="0" y="2631"/>
                    <a:pt x="305" y="2960"/>
                    <a:pt x="711" y="2960"/>
                  </a:cubicBezTo>
                  <a:lnTo>
                    <a:pt x="711" y="11897"/>
                  </a:lnTo>
                  <a:cubicBezTo>
                    <a:pt x="711" y="12060"/>
                    <a:pt x="864" y="12226"/>
                    <a:pt x="1016" y="12226"/>
                  </a:cubicBezTo>
                  <a:cubicBezTo>
                    <a:pt x="1219" y="12226"/>
                    <a:pt x="1372" y="12116"/>
                    <a:pt x="1372" y="11897"/>
                  </a:cubicBezTo>
                  <a:lnTo>
                    <a:pt x="1372" y="2960"/>
                  </a:lnTo>
                  <a:lnTo>
                    <a:pt x="16519" y="2960"/>
                  </a:lnTo>
                  <a:cubicBezTo>
                    <a:pt x="16670" y="2960"/>
                    <a:pt x="16824" y="2852"/>
                    <a:pt x="16824" y="2631"/>
                  </a:cubicBezTo>
                  <a:cubicBezTo>
                    <a:pt x="16824" y="2468"/>
                    <a:pt x="16670" y="2302"/>
                    <a:pt x="16519" y="2302"/>
                  </a:cubicBezTo>
                  <a:lnTo>
                    <a:pt x="762" y="2302"/>
                  </a:lnTo>
                  <a:cubicBezTo>
                    <a:pt x="711" y="2302"/>
                    <a:pt x="662" y="2249"/>
                    <a:pt x="662" y="2194"/>
                  </a:cubicBezTo>
                  <a:lnTo>
                    <a:pt x="662" y="822"/>
                  </a:lnTo>
                  <a:cubicBezTo>
                    <a:pt x="662" y="714"/>
                    <a:pt x="711" y="658"/>
                    <a:pt x="762" y="658"/>
                  </a:cubicBezTo>
                  <a:lnTo>
                    <a:pt x="20889" y="658"/>
                  </a:lnTo>
                  <a:cubicBezTo>
                    <a:pt x="20938" y="658"/>
                    <a:pt x="20990" y="769"/>
                    <a:pt x="20990" y="822"/>
                  </a:cubicBezTo>
                  <a:lnTo>
                    <a:pt x="20990" y="2194"/>
                  </a:lnTo>
                  <a:cubicBezTo>
                    <a:pt x="20990" y="2249"/>
                    <a:pt x="20938" y="2302"/>
                    <a:pt x="20889" y="2302"/>
                  </a:cubicBezTo>
                  <a:lnTo>
                    <a:pt x="17940" y="2302"/>
                  </a:lnTo>
                  <a:cubicBezTo>
                    <a:pt x="17737" y="2302"/>
                    <a:pt x="17586" y="2468"/>
                    <a:pt x="17586" y="2631"/>
                  </a:cubicBezTo>
                  <a:cubicBezTo>
                    <a:pt x="17586" y="2852"/>
                    <a:pt x="17737" y="2960"/>
                    <a:pt x="17940" y="2960"/>
                  </a:cubicBezTo>
                  <a:lnTo>
                    <a:pt x="20279" y="2960"/>
                  </a:lnTo>
                  <a:lnTo>
                    <a:pt x="20279" y="16885"/>
                  </a:lnTo>
                  <a:cubicBezTo>
                    <a:pt x="20279" y="16941"/>
                    <a:pt x="20228" y="16996"/>
                    <a:pt x="20177" y="16996"/>
                  </a:cubicBezTo>
                  <a:lnTo>
                    <a:pt x="1475" y="16996"/>
                  </a:lnTo>
                  <a:cubicBezTo>
                    <a:pt x="1423" y="16996"/>
                    <a:pt x="1372" y="16941"/>
                    <a:pt x="1372" y="16885"/>
                  </a:cubicBezTo>
                  <a:lnTo>
                    <a:pt x="1372" y="13432"/>
                  </a:lnTo>
                  <a:cubicBezTo>
                    <a:pt x="1372" y="13214"/>
                    <a:pt x="1219" y="13103"/>
                    <a:pt x="1016" y="13103"/>
                  </a:cubicBezTo>
                  <a:cubicBezTo>
                    <a:pt x="864" y="13103"/>
                    <a:pt x="711" y="13214"/>
                    <a:pt x="711" y="13432"/>
                  </a:cubicBezTo>
                  <a:lnTo>
                    <a:pt x="711" y="16885"/>
                  </a:lnTo>
                  <a:cubicBezTo>
                    <a:pt x="711" y="17325"/>
                    <a:pt x="1067" y="17652"/>
                    <a:pt x="1475" y="17652"/>
                  </a:cubicBezTo>
                  <a:lnTo>
                    <a:pt x="10470" y="17652"/>
                  </a:lnTo>
                  <a:lnTo>
                    <a:pt x="10470" y="19024"/>
                  </a:lnTo>
                  <a:cubicBezTo>
                    <a:pt x="9962" y="19187"/>
                    <a:pt x="9606" y="19682"/>
                    <a:pt x="9606" y="20286"/>
                  </a:cubicBezTo>
                  <a:cubicBezTo>
                    <a:pt x="9606" y="20997"/>
                    <a:pt x="10114" y="21600"/>
                    <a:pt x="10825" y="21600"/>
                  </a:cubicBezTo>
                  <a:cubicBezTo>
                    <a:pt x="11486" y="21600"/>
                    <a:pt x="11994" y="20997"/>
                    <a:pt x="11994" y="20286"/>
                  </a:cubicBezTo>
                  <a:cubicBezTo>
                    <a:pt x="11994" y="19682"/>
                    <a:pt x="11638" y="19187"/>
                    <a:pt x="11130" y="19024"/>
                  </a:cubicBezTo>
                  <a:lnTo>
                    <a:pt x="11130" y="17652"/>
                  </a:lnTo>
                  <a:lnTo>
                    <a:pt x="20125" y="17652"/>
                  </a:lnTo>
                  <a:cubicBezTo>
                    <a:pt x="20533" y="17652"/>
                    <a:pt x="20889" y="17325"/>
                    <a:pt x="20889" y="16885"/>
                  </a:cubicBezTo>
                  <a:lnTo>
                    <a:pt x="20889" y="2960"/>
                  </a:lnTo>
                  <a:cubicBezTo>
                    <a:pt x="21295" y="2960"/>
                    <a:pt x="21600" y="2631"/>
                    <a:pt x="21600" y="2194"/>
                  </a:cubicBezTo>
                  <a:lnTo>
                    <a:pt x="21600" y="822"/>
                  </a:lnTo>
                  <a:cubicBezTo>
                    <a:pt x="21600" y="384"/>
                    <a:pt x="21295" y="0"/>
                    <a:pt x="20889" y="0"/>
                  </a:cubicBezTo>
                  <a:close/>
                </a:path>
              </a:pathLst>
            </a:custGeom>
            <a:solidFill>
              <a:srgbClr val="FD0C5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08" name="Google Shape;2807;p94"/>
            <p:cNvSpPr/>
            <p:nvPr/>
          </p:nvSpPr>
          <p:spPr>
            <a:xfrm>
              <a:off x="557728" y="442708"/>
              <a:ext cx="99085" cy="21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56" y="0"/>
                  </a:moveTo>
                  <a:cubicBezTo>
                    <a:pt x="1145" y="0"/>
                    <a:pt x="0" y="5381"/>
                    <a:pt x="0" y="10838"/>
                  </a:cubicBezTo>
                  <a:cubicBezTo>
                    <a:pt x="0" y="18038"/>
                    <a:pt x="1145" y="21600"/>
                    <a:pt x="2656" y="21600"/>
                  </a:cubicBezTo>
                  <a:lnTo>
                    <a:pt x="18944" y="21600"/>
                  </a:lnTo>
                  <a:cubicBezTo>
                    <a:pt x="20455" y="21600"/>
                    <a:pt x="21600" y="18038"/>
                    <a:pt x="21600" y="10838"/>
                  </a:cubicBezTo>
                  <a:cubicBezTo>
                    <a:pt x="21218" y="5381"/>
                    <a:pt x="20455" y="0"/>
                    <a:pt x="18944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09" name="Google Shape;2808;p94"/>
            <p:cNvSpPr/>
            <p:nvPr/>
          </p:nvSpPr>
          <p:spPr>
            <a:xfrm>
              <a:off x="483015" y="481512"/>
              <a:ext cx="173798" cy="22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97" y="0"/>
                  </a:moveTo>
                  <a:cubicBezTo>
                    <a:pt x="653" y="0"/>
                    <a:pt x="0" y="4963"/>
                    <a:pt x="0" y="9926"/>
                  </a:cubicBezTo>
                  <a:cubicBezTo>
                    <a:pt x="0" y="16637"/>
                    <a:pt x="653" y="21600"/>
                    <a:pt x="1297" y="21600"/>
                  </a:cubicBezTo>
                  <a:lnTo>
                    <a:pt x="20086" y="21600"/>
                  </a:lnTo>
                  <a:cubicBezTo>
                    <a:pt x="20947" y="21600"/>
                    <a:pt x="21600" y="16637"/>
                    <a:pt x="21600" y="9926"/>
                  </a:cubicBezTo>
                  <a:cubicBezTo>
                    <a:pt x="21600" y="4963"/>
                    <a:pt x="20947" y="0"/>
                    <a:pt x="20086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10" name="Google Shape;2809;p94"/>
            <p:cNvSpPr/>
            <p:nvPr/>
          </p:nvSpPr>
          <p:spPr>
            <a:xfrm>
              <a:off x="483015" y="153444"/>
              <a:ext cx="36483" cy="22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178" y="0"/>
                  </a:moveTo>
                  <a:cubicBezTo>
                    <a:pt x="3110" y="0"/>
                    <a:pt x="0" y="5017"/>
                    <a:pt x="0" y="9964"/>
                  </a:cubicBezTo>
                  <a:cubicBezTo>
                    <a:pt x="0" y="16583"/>
                    <a:pt x="3110" y="21600"/>
                    <a:pt x="6178" y="21600"/>
                  </a:cubicBezTo>
                  <a:lnTo>
                    <a:pt x="14429" y="21600"/>
                  </a:lnTo>
                  <a:cubicBezTo>
                    <a:pt x="18533" y="21600"/>
                    <a:pt x="21600" y="16583"/>
                    <a:pt x="21600" y="9964"/>
                  </a:cubicBezTo>
                  <a:cubicBezTo>
                    <a:pt x="21600" y="5017"/>
                    <a:pt x="18533" y="0"/>
                    <a:pt x="14429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11" name="Google Shape;2810;p94"/>
            <p:cNvSpPr/>
            <p:nvPr/>
          </p:nvSpPr>
          <p:spPr>
            <a:xfrm>
              <a:off x="536934" y="153444"/>
              <a:ext cx="119879" cy="22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67" y="0"/>
                  </a:moveTo>
                  <a:cubicBezTo>
                    <a:pt x="933" y="0"/>
                    <a:pt x="0" y="5017"/>
                    <a:pt x="0" y="9964"/>
                  </a:cubicBezTo>
                  <a:cubicBezTo>
                    <a:pt x="0" y="16583"/>
                    <a:pt x="933" y="21600"/>
                    <a:pt x="1867" y="21600"/>
                  </a:cubicBezTo>
                  <a:lnTo>
                    <a:pt x="19405" y="21600"/>
                  </a:lnTo>
                  <a:cubicBezTo>
                    <a:pt x="20653" y="21600"/>
                    <a:pt x="21600" y="16583"/>
                    <a:pt x="21600" y="9964"/>
                  </a:cubicBezTo>
                  <a:cubicBezTo>
                    <a:pt x="21600" y="5017"/>
                    <a:pt x="20653" y="0"/>
                    <a:pt x="19405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12" name="Google Shape;2811;p94"/>
            <p:cNvSpPr/>
            <p:nvPr/>
          </p:nvSpPr>
          <p:spPr>
            <a:xfrm>
              <a:off x="483015" y="194028"/>
              <a:ext cx="173798" cy="21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97" y="0"/>
                  </a:moveTo>
                  <a:cubicBezTo>
                    <a:pt x="653" y="0"/>
                    <a:pt x="0" y="3550"/>
                    <a:pt x="0" y="10800"/>
                  </a:cubicBezTo>
                  <a:cubicBezTo>
                    <a:pt x="0" y="16162"/>
                    <a:pt x="653" y="21600"/>
                    <a:pt x="1297" y="21600"/>
                  </a:cubicBezTo>
                  <a:lnTo>
                    <a:pt x="20086" y="21600"/>
                  </a:lnTo>
                  <a:cubicBezTo>
                    <a:pt x="20947" y="21600"/>
                    <a:pt x="21600" y="16162"/>
                    <a:pt x="21600" y="10800"/>
                  </a:cubicBezTo>
                  <a:cubicBezTo>
                    <a:pt x="21600" y="3550"/>
                    <a:pt x="20947" y="0"/>
                    <a:pt x="20086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13" name="Google Shape;2812;p94"/>
            <p:cNvSpPr/>
            <p:nvPr/>
          </p:nvSpPr>
          <p:spPr>
            <a:xfrm>
              <a:off x="483015" y="259270"/>
              <a:ext cx="173798" cy="141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97" y="0"/>
                  </a:moveTo>
                  <a:cubicBezTo>
                    <a:pt x="435" y="0"/>
                    <a:pt x="0" y="544"/>
                    <a:pt x="0" y="1621"/>
                  </a:cubicBezTo>
                  <a:lnTo>
                    <a:pt x="0" y="19979"/>
                  </a:lnTo>
                  <a:cubicBezTo>
                    <a:pt x="0" y="20795"/>
                    <a:pt x="653" y="21600"/>
                    <a:pt x="1297" y="21600"/>
                  </a:cubicBezTo>
                  <a:lnTo>
                    <a:pt x="20086" y="21600"/>
                  </a:lnTo>
                  <a:cubicBezTo>
                    <a:pt x="20947" y="21600"/>
                    <a:pt x="21600" y="20795"/>
                    <a:pt x="21600" y="19979"/>
                  </a:cubicBezTo>
                  <a:cubicBezTo>
                    <a:pt x="21600" y="18901"/>
                    <a:pt x="20947" y="18096"/>
                    <a:pt x="20086" y="18096"/>
                  </a:cubicBezTo>
                  <a:lnTo>
                    <a:pt x="16848" y="18096"/>
                  </a:lnTo>
                  <a:lnTo>
                    <a:pt x="16848" y="3515"/>
                  </a:lnTo>
                  <a:cubicBezTo>
                    <a:pt x="16848" y="2699"/>
                    <a:pt x="16195" y="1894"/>
                    <a:pt x="15552" y="1894"/>
                  </a:cubicBezTo>
                  <a:cubicBezTo>
                    <a:pt x="14908" y="1894"/>
                    <a:pt x="14255" y="2699"/>
                    <a:pt x="14255" y="3515"/>
                  </a:cubicBezTo>
                  <a:lnTo>
                    <a:pt x="14255" y="18096"/>
                  </a:lnTo>
                  <a:lnTo>
                    <a:pt x="12097" y="18096"/>
                  </a:lnTo>
                  <a:lnTo>
                    <a:pt x="12097" y="12688"/>
                  </a:lnTo>
                  <a:cubicBezTo>
                    <a:pt x="12097" y="11883"/>
                    <a:pt x="11453" y="11066"/>
                    <a:pt x="10800" y="11066"/>
                  </a:cubicBezTo>
                  <a:cubicBezTo>
                    <a:pt x="9939" y="11066"/>
                    <a:pt x="9286" y="11883"/>
                    <a:pt x="9286" y="12688"/>
                  </a:cubicBezTo>
                  <a:lnTo>
                    <a:pt x="9286" y="18096"/>
                  </a:lnTo>
                  <a:lnTo>
                    <a:pt x="7127" y="18096"/>
                  </a:lnTo>
                  <a:lnTo>
                    <a:pt x="7127" y="8640"/>
                  </a:lnTo>
                  <a:cubicBezTo>
                    <a:pt x="7127" y="7563"/>
                    <a:pt x="6701" y="6746"/>
                    <a:pt x="5831" y="6746"/>
                  </a:cubicBezTo>
                  <a:cubicBezTo>
                    <a:pt x="5187" y="6746"/>
                    <a:pt x="4534" y="7563"/>
                    <a:pt x="4534" y="8640"/>
                  </a:cubicBezTo>
                  <a:lnTo>
                    <a:pt x="4534" y="18096"/>
                  </a:lnTo>
                  <a:lnTo>
                    <a:pt x="2593" y="18096"/>
                  </a:lnTo>
                  <a:lnTo>
                    <a:pt x="2593" y="1621"/>
                  </a:lnTo>
                  <a:cubicBezTo>
                    <a:pt x="2593" y="805"/>
                    <a:pt x="1950" y="0"/>
                    <a:pt x="1297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14" name="Google Shape;2813;p94"/>
            <p:cNvSpPr/>
            <p:nvPr/>
          </p:nvSpPr>
          <p:spPr>
            <a:xfrm>
              <a:off x="76465" y="135818"/>
              <a:ext cx="364886" cy="370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8" y="5243"/>
                  </a:moveTo>
                  <a:cubicBezTo>
                    <a:pt x="13886" y="5243"/>
                    <a:pt x="16456" y="7714"/>
                    <a:pt x="16456" y="10798"/>
                  </a:cubicBezTo>
                  <a:cubicBezTo>
                    <a:pt x="16456" y="13990"/>
                    <a:pt x="13886" y="16456"/>
                    <a:pt x="10798" y="16456"/>
                  </a:cubicBezTo>
                  <a:cubicBezTo>
                    <a:pt x="7714" y="16456"/>
                    <a:pt x="5243" y="13886"/>
                    <a:pt x="5243" y="10798"/>
                  </a:cubicBezTo>
                  <a:cubicBezTo>
                    <a:pt x="5243" y="7714"/>
                    <a:pt x="7714" y="5243"/>
                    <a:pt x="10798" y="5243"/>
                  </a:cubicBezTo>
                  <a:close/>
                  <a:moveTo>
                    <a:pt x="20261" y="11519"/>
                  </a:moveTo>
                  <a:cubicBezTo>
                    <a:pt x="20157" y="13476"/>
                    <a:pt x="19440" y="15324"/>
                    <a:pt x="18205" y="16767"/>
                  </a:cubicBezTo>
                  <a:lnTo>
                    <a:pt x="16352" y="14914"/>
                  </a:lnTo>
                  <a:cubicBezTo>
                    <a:pt x="17074" y="13886"/>
                    <a:pt x="17588" y="12754"/>
                    <a:pt x="17691" y="11519"/>
                  </a:cubicBezTo>
                  <a:close/>
                  <a:moveTo>
                    <a:pt x="10180" y="1339"/>
                  </a:moveTo>
                  <a:lnTo>
                    <a:pt x="10180" y="4012"/>
                  </a:lnTo>
                  <a:cubicBezTo>
                    <a:pt x="6686" y="4319"/>
                    <a:pt x="3909" y="7304"/>
                    <a:pt x="3909" y="10798"/>
                  </a:cubicBezTo>
                  <a:cubicBezTo>
                    <a:pt x="3909" y="14607"/>
                    <a:pt x="6993" y="17691"/>
                    <a:pt x="10798" y="17691"/>
                  </a:cubicBezTo>
                  <a:cubicBezTo>
                    <a:pt x="12651" y="17691"/>
                    <a:pt x="14296" y="17074"/>
                    <a:pt x="15532" y="15838"/>
                  </a:cubicBezTo>
                  <a:cubicBezTo>
                    <a:pt x="16149" y="16456"/>
                    <a:pt x="16767" y="17074"/>
                    <a:pt x="17380" y="17691"/>
                  </a:cubicBezTo>
                  <a:cubicBezTo>
                    <a:pt x="15735" y="19337"/>
                    <a:pt x="13372" y="20365"/>
                    <a:pt x="10798" y="20365"/>
                  </a:cubicBezTo>
                  <a:cubicBezTo>
                    <a:pt x="5554" y="20365"/>
                    <a:pt x="1335" y="16046"/>
                    <a:pt x="1335" y="10798"/>
                  </a:cubicBezTo>
                  <a:cubicBezTo>
                    <a:pt x="1335" y="5762"/>
                    <a:pt x="5243" y="1646"/>
                    <a:pt x="10180" y="1339"/>
                  </a:cubicBezTo>
                  <a:close/>
                  <a:moveTo>
                    <a:pt x="10798" y="0"/>
                  </a:moveTo>
                  <a:cubicBezTo>
                    <a:pt x="4833" y="0"/>
                    <a:pt x="0" y="4937"/>
                    <a:pt x="0" y="10798"/>
                  </a:cubicBezTo>
                  <a:cubicBezTo>
                    <a:pt x="0" y="16767"/>
                    <a:pt x="4833" y="21600"/>
                    <a:pt x="10798" y="21600"/>
                  </a:cubicBezTo>
                  <a:cubicBezTo>
                    <a:pt x="16767" y="21600"/>
                    <a:pt x="21600" y="16767"/>
                    <a:pt x="21600" y="10798"/>
                  </a:cubicBezTo>
                  <a:cubicBezTo>
                    <a:pt x="21600" y="8539"/>
                    <a:pt x="20879" y="6375"/>
                    <a:pt x="19544" y="4526"/>
                  </a:cubicBezTo>
                  <a:cubicBezTo>
                    <a:pt x="19427" y="4354"/>
                    <a:pt x="19255" y="4280"/>
                    <a:pt x="19065" y="4280"/>
                  </a:cubicBezTo>
                  <a:cubicBezTo>
                    <a:pt x="18913" y="4280"/>
                    <a:pt x="18754" y="4332"/>
                    <a:pt x="18615" y="4423"/>
                  </a:cubicBezTo>
                  <a:cubicBezTo>
                    <a:pt x="18412" y="4630"/>
                    <a:pt x="18309" y="4937"/>
                    <a:pt x="18512" y="5243"/>
                  </a:cubicBezTo>
                  <a:cubicBezTo>
                    <a:pt x="19544" y="6686"/>
                    <a:pt x="20157" y="8435"/>
                    <a:pt x="20261" y="10185"/>
                  </a:cubicBezTo>
                  <a:lnTo>
                    <a:pt x="17691" y="10185"/>
                  </a:lnTo>
                  <a:cubicBezTo>
                    <a:pt x="17380" y="6893"/>
                    <a:pt x="14707" y="4319"/>
                    <a:pt x="11415" y="4012"/>
                  </a:cubicBezTo>
                  <a:lnTo>
                    <a:pt x="11415" y="1339"/>
                  </a:lnTo>
                  <a:cubicBezTo>
                    <a:pt x="13372" y="1438"/>
                    <a:pt x="15117" y="2160"/>
                    <a:pt x="16663" y="3395"/>
                  </a:cubicBezTo>
                  <a:cubicBezTo>
                    <a:pt x="16780" y="3473"/>
                    <a:pt x="16914" y="3507"/>
                    <a:pt x="17043" y="3507"/>
                  </a:cubicBezTo>
                  <a:cubicBezTo>
                    <a:pt x="17255" y="3507"/>
                    <a:pt x="17462" y="3416"/>
                    <a:pt x="17588" y="3291"/>
                  </a:cubicBezTo>
                  <a:cubicBezTo>
                    <a:pt x="17795" y="2985"/>
                    <a:pt x="17795" y="2570"/>
                    <a:pt x="17484" y="2367"/>
                  </a:cubicBezTo>
                  <a:cubicBezTo>
                    <a:pt x="15532" y="821"/>
                    <a:pt x="13268" y="0"/>
                    <a:pt x="10798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15" name="Google Shape;2814;p94"/>
            <p:cNvSpPr/>
            <p:nvPr/>
          </p:nvSpPr>
          <p:spPr>
            <a:xfrm>
              <a:off x="88195" y="477514"/>
              <a:ext cx="49925" cy="37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00" h="21600" fill="norm" stroke="1" extrusionOk="0">
                  <a:moveTo>
                    <a:pt x="4485" y="0"/>
                  </a:moveTo>
                  <a:cubicBezTo>
                    <a:pt x="3426" y="0"/>
                    <a:pt x="2337" y="768"/>
                    <a:pt x="1611" y="2305"/>
                  </a:cubicBezTo>
                  <a:cubicBezTo>
                    <a:pt x="-537" y="4311"/>
                    <a:pt x="-537" y="8367"/>
                    <a:pt x="1611" y="10416"/>
                  </a:cubicBezTo>
                  <a:lnTo>
                    <a:pt x="7389" y="19551"/>
                  </a:lnTo>
                  <a:cubicBezTo>
                    <a:pt x="8085" y="20575"/>
                    <a:pt x="9537" y="21600"/>
                    <a:pt x="10263" y="21600"/>
                  </a:cubicBezTo>
                  <a:cubicBezTo>
                    <a:pt x="11685" y="21600"/>
                    <a:pt x="12411" y="20575"/>
                    <a:pt x="13863" y="19551"/>
                  </a:cubicBezTo>
                  <a:lnTo>
                    <a:pt x="19611" y="10416"/>
                  </a:lnTo>
                  <a:cubicBezTo>
                    <a:pt x="21063" y="8367"/>
                    <a:pt x="21063" y="4311"/>
                    <a:pt x="19611" y="2305"/>
                  </a:cubicBezTo>
                  <a:cubicBezTo>
                    <a:pt x="18552" y="768"/>
                    <a:pt x="17281" y="0"/>
                    <a:pt x="16102" y="0"/>
                  </a:cubicBezTo>
                  <a:cubicBezTo>
                    <a:pt x="14952" y="0"/>
                    <a:pt x="13863" y="768"/>
                    <a:pt x="13137" y="2305"/>
                  </a:cubicBezTo>
                  <a:lnTo>
                    <a:pt x="10263" y="6360"/>
                  </a:lnTo>
                  <a:lnTo>
                    <a:pt x="7389" y="2305"/>
                  </a:lnTo>
                  <a:cubicBezTo>
                    <a:pt x="6663" y="768"/>
                    <a:pt x="5574" y="0"/>
                    <a:pt x="4485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16" name="Google Shape;2815;p94"/>
            <p:cNvSpPr/>
            <p:nvPr/>
          </p:nvSpPr>
          <p:spPr>
            <a:xfrm>
              <a:off x="280616" y="325402"/>
              <a:ext cx="50362" cy="36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2" h="21600" fill="norm" stroke="1" extrusionOk="0">
                  <a:moveTo>
                    <a:pt x="4598" y="0"/>
                  </a:moveTo>
                  <a:cubicBezTo>
                    <a:pt x="3419" y="0"/>
                    <a:pt x="2148" y="531"/>
                    <a:pt x="1089" y="1593"/>
                  </a:cubicBezTo>
                  <a:cubicBezTo>
                    <a:pt x="-363" y="3674"/>
                    <a:pt x="-363" y="7923"/>
                    <a:pt x="1089" y="11066"/>
                  </a:cubicBezTo>
                  <a:lnTo>
                    <a:pt x="6837" y="19520"/>
                  </a:lnTo>
                  <a:cubicBezTo>
                    <a:pt x="8289" y="20538"/>
                    <a:pt x="9015" y="21600"/>
                    <a:pt x="10437" y="21600"/>
                  </a:cubicBezTo>
                  <a:cubicBezTo>
                    <a:pt x="11163" y="21600"/>
                    <a:pt x="12615" y="20538"/>
                    <a:pt x="13341" y="19520"/>
                  </a:cubicBezTo>
                  <a:lnTo>
                    <a:pt x="19815" y="11066"/>
                  </a:lnTo>
                  <a:cubicBezTo>
                    <a:pt x="21237" y="7923"/>
                    <a:pt x="21237" y="3674"/>
                    <a:pt x="19815" y="1593"/>
                  </a:cubicBezTo>
                  <a:cubicBezTo>
                    <a:pt x="18726" y="531"/>
                    <a:pt x="17455" y="0"/>
                    <a:pt x="16306" y="0"/>
                  </a:cubicBezTo>
                  <a:cubicBezTo>
                    <a:pt x="15126" y="0"/>
                    <a:pt x="14037" y="531"/>
                    <a:pt x="13341" y="1593"/>
                  </a:cubicBezTo>
                  <a:lnTo>
                    <a:pt x="10437" y="5798"/>
                  </a:lnTo>
                  <a:lnTo>
                    <a:pt x="7563" y="1593"/>
                  </a:lnTo>
                  <a:cubicBezTo>
                    <a:pt x="6837" y="531"/>
                    <a:pt x="5748" y="0"/>
                    <a:pt x="4598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417" name="Google Shape;2816;p94"/>
            <p:cNvSpPr/>
            <p:nvPr/>
          </p:nvSpPr>
          <p:spPr>
            <a:xfrm>
              <a:off x="395732" y="156110"/>
              <a:ext cx="49944" cy="36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08" h="21600" fill="norm" stroke="1" extrusionOk="0">
                  <a:moveTo>
                    <a:pt x="4515" y="0"/>
                  </a:moveTo>
                  <a:cubicBezTo>
                    <a:pt x="3426" y="0"/>
                    <a:pt x="2337" y="531"/>
                    <a:pt x="1611" y="1593"/>
                  </a:cubicBezTo>
                  <a:cubicBezTo>
                    <a:pt x="-537" y="3674"/>
                    <a:pt x="-537" y="7879"/>
                    <a:pt x="1611" y="11066"/>
                  </a:cubicBezTo>
                  <a:lnTo>
                    <a:pt x="7389" y="19475"/>
                  </a:lnTo>
                  <a:cubicBezTo>
                    <a:pt x="8115" y="20538"/>
                    <a:pt x="8811" y="21600"/>
                    <a:pt x="10263" y="21600"/>
                  </a:cubicBezTo>
                  <a:cubicBezTo>
                    <a:pt x="11715" y="21600"/>
                    <a:pt x="12411" y="20538"/>
                    <a:pt x="13137" y="19475"/>
                  </a:cubicBezTo>
                  <a:lnTo>
                    <a:pt x="19641" y="11066"/>
                  </a:lnTo>
                  <a:cubicBezTo>
                    <a:pt x="21063" y="7879"/>
                    <a:pt x="21063" y="3674"/>
                    <a:pt x="19641" y="1593"/>
                  </a:cubicBezTo>
                  <a:cubicBezTo>
                    <a:pt x="18552" y="531"/>
                    <a:pt x="17281" y="0"/>
                    <a:pt x="16132" y="0"/>
                  </a:cubicBezTo>
                  <a:cubicBezTo>
                    <a:pt x="14952" y="0"/>
                    <a:pt x="13863" y="531"/>
                    <a:pt x="13137" y="1593"/>
                  </a:cubicBezTo>
                  <a:lnTo>
                    <a:pt x="10263" y="5798"/>
                  </a:lnTo>
                  <a:lnTo>
                    <a:pt x="7389" y="1593"/>
                  </a:lnTo>
                  <a:cubicBezTo>
                    <a:pt x="6663" y="531"/>
                    <a:pt x="5574" y="0"/>
                    <a:pt x="4515" y="0"/>
                  </a:cubicBezTo>
                  <a:close/>
                </a:path>
              </a:pathLst>
            </a:custGeom>
            <a:solidFill>
              <a:srgbClr val="E4EA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419" name="Скругленный прямоугольник 17"/>
          <p:cNvSpPr/>
          <p:nvPr/>
        </p:nvSpPr>
        <p:spPr>
          <a:xfrm>
            <a:off x="9337009" y="1360026"/>
            <a:ext cx="1504595" cy="1401169"/>
          </a:xfrm>
          <a:prstGeom prst="roundRect">
            <a:avLst>
              <a:gd name="adj" fmla="val 16667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420" name="Google Shape;2799;p94"/>
          <p:cNvSpPr/>
          <p:nvPr/>
        </p:nvSpPr>
        <p:spPr>
          <a:xfrm flipV="1">
            <a:off x="6940867" y="2119165"/>
            <a:ext cx="2396143" cy="1249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Скругленный прямоугольник 9"/>
          <p:cNvGrpSpPr/>
          <p:nvPr/>
        </p:nvGrpSpPr>
        <p:grpSpPr>
          <a:xfrm>
            <a:off x="346075" y="324561"/>
            <a:ext cx="4027933" cy="620920"/>
            <a:chOff x="0" y="0"/>
            <a:chExt cx="4027932" cy="620918"/>
          </a:xfrm>
        </p:grpSpPr>
        <p:sp>
          <p:nvSpPr>
            <p:cNvPr id="422" name="Rounded Rectangle"/>
            <p:cNvSpPr/>
            <p:nvPr/>
          </p:nvSpPr>
          <p:spPr>
            <a:xfrm>
              <a:off x="0" y="0"/>
              <a:ext cx="4027933" cy="620919"/>
            </a:xfrm>
            <a:prstGeom prst="roundRect">
              <a:avLst>
                <a:gd name="adj" fmla="val 1870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23" name="РЕЗУЛЬТАТЫ КАСТДЕВА"/>
            <p:cNvSpPr txBox="1"/>
            <p:nvPr/>
          </p:nvSpPr>
          <p:spPr>
            <a:xfrm>
              <a:off x="198611" y="139771"/>
              <a:ext cx="3314814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РЕЗУЛЬТАТЫ КАСТДЕВА</a:t>
              </a:r>
            </a:p>
          </p:txBody>
        </p:sp>
      </p:grpSp>
      <p:sp>
        <p:nvSpPr>
          <p:cNvPr id="425" name="Скругленный прямоугольник 22"/>
          <p:cNvSpPr/>
          <p:nvPr/>
        </p:nvSpPr>
        <p:spPr>
          <a:xfrm>
            <a:off x="3288424" y="1234439"/>
            <a:ext cx="2672802" cy="3886201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426" name="Скругленный прямоугольник 23"/>
          <p:cNvSpPr/>
          <p:nvPr/>
        </p:nvSpPr>
        <p:spPr>
          <a:xfrm>
            <a:off x="6230773" y="1234439"/>
            <a:ext cx="2672802" cy="3886201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427" name="Скругленный прямоугольник 24"/>
          <p:cNvSpPr/>
          <p:nvPr/>
        </p:nvSpPr>
        <p:spPr>
          <a:xfrm>
            <a:off x="9173123" y="1234439"/>
            <a:ext cx="2672802" cy="3886201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428" name="Скругленный прямоугольник 26"/>
          <p:cNvSpPr/>
          <p:nvPr/>
        </p:nvSpPr>
        <p:spPr>
          <a:xfrm>
            <a:off x="346075" y="1234439"/>
            <a:ext cx="2672802" cy="3886201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429" name="Номер слайда 20"/>
          <p:cNvSpPr txBox="1"/>
          <p:nvPr>
            <p:ph type="sldNum" sz="quarter" idx="2"/>
          </p:nvPr>
        </p:nvSpPr>
        <p:spPr>
          <a:xfrm>
            <a:off x="11598617" y="6404299"/>
            <a:ext cx="188899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30" name="TextBox 1931334109"/>
          <p:cNvSpPr txBox="1"/>
          <p:nvPr/>
        </p:nvSpPr>
        <p:spPr>
          <a:xfrm>
            <a:off x="548640" y="1417319"/>
            <a:ext cx="22860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1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31" name="TextBox 1931334110"/>
          <p:cNvSpPr txBox="1"/>
          <p:nvPr/>
        </p:nvSpPr>
        <p:spPr>
          <a:xfrm>
            <a:off x="548640" y="1874518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520978"/>
                </a:solidFill>
              </a:defRPr>
            </a:lvl1pPr>
          </a:lstStyle>
          <a:p>
            <a:pPr/>
            <a:r>
              <a:t>Ребёнок и деньги</a:t>
            </a:r>
          </a:p>
        </p:txBody>
      </p:sp>
      <p:sp>
        <p:nvSpPr>
          <p:cNvPr id="432" name="TextBox 1931334111"/>
          <p:cNvSpPr txBox="1"/>
          <p:nvPr/>
        </p:nvSpPr>
        <p:spPr>
          <a:xfrm>
            <a:off x="548639" y="2331720"/>
            <a:ext cx="2304290" cy="1211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7-8 лет, свой смартфон на Android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Деньги получает в подарок и когда попросит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Наличные и детская банковская карта</a:t>
            </a:r>
          </a:p>
        </p:txBody>
      </p:sp>
      <p:sp>
        <p:nvSpPr>
          <p:cNvPr id="433" name="TextBox 1931334112"/>
          <p:cNvSpPr txBox="1"/>
          <p:nvPr/>
        </p:nvSpPr>
        <p:spPr>
          <a:xfrm>
            <a:off x="3493008" y="1417319"/>
            <a:ext cx="22860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1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34" name="TextBox 1931334113"/>
          <p:cNvSpPr txBox="1"/>
          <p:nvPr/>
        </p:nvSpPr>
        <p:spPr>
          <a:xfrm>
            <a:off x="3493008" y="1874518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520978"/>
                </a:solidFill>
              </a:defRPr>
            </a:lvl1pPr>
          </a:lstStyle>
          <a:p>
            <a:pPr/>
            <a:r>
              <a:t>Траты и цели</a:t>
            </a:r>
          </a:p>
        </p:txBody>
      </p:sp>
      <p:sp>
        <p:nvSpPr>
          <p:cNvPr id="435" name="TextBox 1931334114"/>
          <p:cNvSpPr txBox="1"/>
          <p:nvPr/>
        </p:nvSpPr>
        <p:spPr>
          <a:xfrm>
            <a:off x="3493008" y="2331720"/>
            <a:ext cx="2304289" cy="1392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Последняя покупка: игрушка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Копит на что-то конкретное и просит добавить, если не хватает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Самое сложное для родителя: объяснить разницу между «хочу» и «надо»</a:t>
            </a:r>
          </a:p>
        </p:txBody>
      </p:sp>
      <p:sp>
        <p:nvSpPr>
          <p:cNvPr id="436" name="TextBox 1931334115"/>
          <p:cNvSpPr txBox="1"/>
          <p:nvPr/>
        </p:nvSpPr>
        <p:spPr>
          <a:xfrm>
            <a:off x="6428230" y="1417319"/>
            <a:ext cx="22860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1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7" name="TextBox 1931334116"/>
          <p:cNvSpPr txBox="1"/>
          <p:nvPr/>
        </p:nvSpPr>
        <p:spPr>
          <a:xfrm>
            <a:off x="6428230" y="1874518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520978"/>
                </a:solidFill>
              </a:defRPr>
            </a:lvl1pPr>
          </a:lstStyle>
          <a:p>
            <a:pPr/>
            <a:r>
              <a:t>Семья</a:t>
            </a:r>
          </a:p>
        </p:txBody>
      </p:sp>
      <p:sp>
        <p:nvSpPr>
          <p:cNvPr id="438" name="TextBox 1931334117"/>
          <p:cNvSpPr txBox="1"/>
          <p:nvPr/>
        </p:nvSpPr>
        <p:spPr>
          <a:xfrm>
            <a:off x="6428230" y="2331720"/>
            <a:ext cx="2304289" cy="1574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О деньгах говорят раз в месяц: откуда они берутся, реклама, безопасность, сравнение цен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Знания о деньгах получает только дома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Блогеров смотреть не разрешают</a:t>
            </a:r>
          </a:p>
        </p:txBody>
      </p:sp>
      <p:sp>
        <p:nvSpPr>
          <p:cNvPr id="439" name="TextBox 1931334118"/>
          <p:cNvSpPr txBox="1"/>
          <p:nvPr/>
        </p:nvSpPr>
        <p:spPr>
          <a:xfrm>
            <a:off x="9372600" y="1417319"/>
            <a:ext cx="228600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1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40" name="TextBox 1931334119"/>
          <p:cNvSpPr txBox="1"/>
          <p:nvPr/>
        </p:nvSpPr>
        <p:spPr>
          <a:xfrm>
            <a:off x="9372600" y="1874518"/>
            <a:ext cx="22860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520978"/>
                </a:solidFill>
              </a:defRPr>
            </a:lvl1pPr>
          </a:lstStyle>
          <a:p>
            <a:pPr/>
            <a:r>
              <a:t>Телефон и игры</a:t>
            </a:r>
          </a:p>
        </p:txBody>
      </p:sp>
      <p:sp>
        <p:nvSpPr>
          <p:cNvPr id="441" name="TextBox 1931334120"/>
          <p:cNvSpPr txBox="1"/>
          <p:nvPr/>
        </p:nvSpPr>
        <p:spPr>
          <a:xfrm>
            <a:off x="9372599" y="2331720"/>
            <a:ext cx="2304290" cy="2000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Около часа в день: YouTube, онлайн-кинотеатр, приложения для учёбы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Любимые игры: экшн, шутеры, строительство, головоломки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Затягивает прокачка героя и соревнование</a:t>
            </a:r>
          </a:p>
          <a:p>
            <a:pPr marL="146304" indent="-146304">
              <a:lnSpc>
                <a:spcPct val="102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  <a:defRPr sz="1200">
                <a:solidFill>
                  <a:srgbClr val="1C1D22"/>
                </a:solidFill>
              </a:defRPr>
            </a:pPr>
            <a:r>
              <a:t>Виртуальный тамагочи быстро надоел</a:t>
            </a:r>
          </a:p>
        </p:txBody>
      </p:sp>
      <p:grpSp>
        <p:nvGrpSpPr>
          <p:cNvPr id="444" name="Rounded Rectangle 1931334121"/>
          <p:cNvGrpSpPr/>
          <p:nvPr/>
        </p:nvGrpSpPr>
        <p:grpSpPr>
          <a:xfrm>
            <a:off x="347472" y="5303520"/>
            <a:ext cx="11494008" cy="896113"/>
            <a:chOff x="0" y="0"/>
            <a:chExt cx="11494007" cy="896111"/>
          </a:xfrm>
        </p:grpSpPr>
        <p:sp>
          <p:nvSpPr>
            <p:cNvPr id="442" name="Rounded Rectangle"/>
            <p:cNvSpPr/>
            <p:nvPr/>
          </p:nvSpPr>
          <p:spPr>
            <a:xfrm>
              <a:off x="0" y="0"/>
              <a:ext cx="11494008" cy="896112"/>
            </a:xfrm>
            <a:prstGeom prst="roundRect">
              <a:avLst>
                <a:gd name="adj" fmla="val 1600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43" name="Требования родителя к приложению…"/>
            <p:cNvSpPr txBox="1"/>
            <p:nvPr/>
          </p:nvSpPr>
          <p:spPr>
            <a:xfrm>
              <a:off x="270594" y="180086"/>
              <a:ext cx="10952820" cy="535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spcBef>
                  <a:spcPts val="200"/>
                </a:spcBef>
                <a:defRPr b="1" sz="14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Требования родителя к приложению</a:t>
              </a:r>
            </a:p>
            <a:p>
              <a:pPr>
                <a:defRPr sz="13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установка с разрешения родителя   •   без рекламы   •   без платных покупок   •   без прямых советов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Скругленный прямоугольник 1"/>
          <p:cNvGrpSpPr/>
          <p:nvPr/>
        </p:nvGrpSpPr>
        <p:grpSpPr>
          <a:xfrm>
            <a:off x="346075" y="324561"/>
            <a:ext cx="4919472" cy="620920"/>
            <a:chOff x="0" y="0"/>
            <a:chExt cx="4919471" cy="620918"/>
          </a:xfrm>
        </p:grpSpPr>
        <p:sp>
          <p:nvSpPr>
            <p:cNvPr id="446" name="Rounded Rectangle"/>
            <p:cNvSpPr/>
            <p:nvPr/>
          </p:nvSpPr>
          <p:spPr>
            <a:xfrm>
              <a:off x="0" y="0"/>
              <a:ext cx="4919472" cy="620919"/>
            </a:xfrm>
            <a:prstGeom prst="roundRect">
              <a:avLst>
                <a:gd name="adj" fmla="val 18706"/>
              </a:avLst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47" name="ЧТО МЫ ВЗЯЛИ ИЗ КАСТДЕВА"/>
            <p:cNvSpPr txBox="1"/>
            <p:nvPr/>
          </p:nvSpPr>
          <p:spPr>
            <a:xfrm>
              <a:off x="198611" y="139771"/>
              <a:ext cx="3993966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ЧТО МЫ ВЗЯЛИ ИЗ КАСТДЕВА</a:t>
              </a:r>
            </a:p>
          </p:txBody>
        </p:sp>
      </p:grpSp>
      <p:sp>
        <p:nvSpPr>
          <p:cNvPr id="449" name="Скругленный прямоугольник 16"/>
          <p:cNvSpPr/>
          <p:nvPr/>
        </p:nvSpPr>
        <p:spPr>
          <a:xfrm>
            <a:off x="5951744" y="1366422"/>
            <a:ext cx="5905294" cy="791669"/>
          </a:xfrm>
          <a:prstGeom prst="roundRect">
            <a:avLst>
              <a:gd name="adj" fmla="val 16339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450" name="Скругленный прямоугольник 17"/>
          <p:cNvSpPr/>
          <p:nvPr/>
        </p:nvSpPr>
        <p:spPr>
          <a:xfrm>
            <a:off x="5951744" y="2377094"/>
            <a:ext cx="5905294" cy="791669"/>
          </a:xfrm>
          <a:prstGeom prst="roundRect">
            <a:avLst>
              <a:gd name="adj" fmla="val 16339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451" name="Скругленный прямоугольник 18"/>
          <p:cNvSpPr/>
          <p:nvPr/>
        </p:nvSpPr>
        <p:spPr>
          <a:xfrm>
            <a:off x="5951744" y="3387764"/>
            <a:ext cx="5905294" cy="791669"/>
          </a:xfrm>
          <a:prstGeom prst="roundRect">
            <a:avLst>
              <a:gd name="adj" fmla="val 16339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452" name="Скругленный прямоугольник 22"/>
          <p:cNvSpPr/>
          <p:nvPr/>
        </p:nvSpPr>
        <p:spPr>
          <a:xfrm>
            <a:off x="5951744" y="4398436"/>
            <a:ext cx="5905294" cy="791669"/>
          </a:xfrm>
          <a:prstGeom prst="roundRect">
            <a:avLst>
              <a:gd name="adj" fmla="val 16339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453" name="Скругленный прямоугольник 23"/>
          <p:cNvSpPr/>
          <p:nvPr/>
        </p:nvSpPr>
        <p:spPr>
          <a:xfrm>
            <a:off x="5951744" y="5409107"/>
            <a:ext cx="5905294" cy="791669"/>
          </a:xfrm>
          <a:prstGeom prst="roundRect">
            <a:avLst>
              <a:gd name="adj" fmla="val 16339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454" name="Скругленный прямоугольник 14"/>
          <p:cNvSpPr/>
          <p:nvPr/>
        </p:nvSpPr>
        <p:spPr>
          <a:xfrm>
            <a:off x="346075" y="1366422"/>
            <a:ext cx="5389564" cy="4834353"/>
          </a:xfrm>
          <a:prstGeom prst="roundRect">
            <a:avLst>
              <a:gd name="adj" fmla="val 2919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455" name="Текст 3"/>
          <p:cNvSpPr txBox="1"/>
          <p:nvPr>
            <p:ph type="body" sz="half" idx="1"/>
          </p:nvPr>
        </p:nvSpPr>
        <p:spPr>
          <a:xfrm>
            <a:off x="640080" y="1600199"/>
            <a:ext cx="4800601" cy="4434842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spcBef>
                <a:spcPts val="800"/>
              </a:spcBef>
              <a:defRPr b="1" sz="1300">
                <a:solidFill>
                  <a:schemeClr val="accent1"/>
                </a:solidFill>
              </a:defRPr>
            </a:pPr>
            <a:r>
              <a:t>Главный инсайт кастдева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defRPr b="1" sz="2600">
                <a:solidFill>
                  <a:srgbClr val="520978"/>
                </a:solidFill>
              </a:defRPr>
            </a:pPr>
            <a:r>
              <a:t>Самое сложное: объяснить ребенку разницу между «хочу» и «надо»</a:t>
            </a:r>
          </a:p>
          <a:p>
            <a:pPr algn="l">
              <a:lnSpc>
                <a:spcPct val="110000"/>
              </a:lnSpc>
              <a:spcBef>
                <a:spcPts val="3000"/>
              </a:spcBef>
              <a:defRPr>
                <a:solidFill>
                  <a:srgbClr val="1C1D22"/>
                </a:solidFill>
              </a:defRPr>
            </a:pPr>
            <a:r>
              <a:t>Поэтому каждая дзынька в FinPet проходит через выбор мешочка: «Нужное», «Хочу» или «Копилка». Питомец подсказывает доли, решает ребёнок.</a:t>
            </a:r>
          </a:p>
          <a:p>
            <a:pPr algn="l">
              <a:spcBef>
                <a:spcPts val="1400"/>
              </a:spcBef>
              <a:defRPr b="1" sz="1300">
                <a:solidFill>
                  <a:srgbClr val="520978"/>
                </a:solidFill>
              </a:defRPr>
            </a:pPr>
            <a:r>
              <a:t>1 час в день в телефоне</a:t>
            </a:r>
            <a:r>
              <a:rPr b="0">
                <a:solidFill>
                  <a:srgbClr val="1C1D22"/>
                </a:solidFill>
              </a:rPr>
              <a:t>  →  сессия 5-12 минут</a:t>
            </a:r>
            <a:endParaRPr b="0">
              <a:solidFill>
                <a:srgbClr val="1C1D22"/>
              </a:solidFill>
            </a:endParaRPr>
          </a:p>
          <a:p>
            <a:pPr algn="l">
              <a:lnSpc>
                <a:spcPct val="104999"/>
              </a:lnSpc>
              <a:spcBef>
                <a:spcPts val="0"/>
              </a:spcBef>
              <a:defRPr b="1" sz="1300">
                <a:solidFill>
                  <a:srgbClr val="520978"/>
                </a:solidFill>
              </a:defRPr>
            </a:pPr>
            <a:r>
              <a:t>Поддержка Android-смартфонов</a:t>
            </a:r>
            <a:r>
              <a:rPr b="0">
                <a:solidFill>
                  <a:srgbClr val="1C1D22"/>
                </a:solidFill>
              </a:rPr>
              <a:t>  →  приложение доступно в RuStore для недорогих телефонов</a:t>
            </a:r>
          </a:p>
        </p:txBody>
      </p:sp>
      <p:sp>
        <p:nvSpPr>
          <p:cNvPr id="456" name="Текст 4"/>
          <p:cNvSpPr/>
          <p:nvPr>
            <p:ph type="body" idx="21"/>
          </p:nvPr>
        </p:nvSpPr>
        <p:spPr>
          <a:xfrm>
            <a:off x="6172199" y="1445504"/>
            <a:ext cx="5532122" cy="6001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 marL="0" indent="0">
              <a:spcBef>
                <a:spcPts val="200"/>
              </a:spcBef>
              <a:buSzTx/>
              <a:buFontTx/>
              <a:buNone/>
              <a:defRPr b="1" sz="1200">
                <a:solidFill>
                  <a:srgbClr val="520978"/>
                </a:solidFill>
              </a:defRPr>
            </a:pPr>
            <a:r>
              <a:t>Копит на конкретную вещь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100">
                <a:solidFill>
                  <a:srgbClr val="1C1D22"/>
                </a:solidFill>
              </a:defRPr>
            </a:pPr>
            <a:r>
              <a:t>Цель в копилке: накоплено, осталось, срок при текущем темпе</a:t>
            </a:r>
          </a:p>
        </p:txBody>
      </p:sp>
      <p:sp>
        <p:nvSpPr>
          <p:cNvPr id="457" name="Текст 5"/>
          <p:cNvSpPr/>
          <p:nvPr>
            <p:ph type="body" idx="22"/>
          </p:nvPr>
        </p:nvSpPr>
        <p:spPr>
          <a:xfrm>
            <a:off x="6172199" y="2472871"/>
            <a:ext cx="5532122" cy="6001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 marL="0" indent="0">
              <a:spcBef>
                <a:spcPts val="200"/>
              </a:spcBef>
              <a:buSzTx/>
              <a:buFontTx/>
              <a:buNone/>
              <a:defRPr b="1" sz="1200">
                <a:solidFill>
                  <a:srgbClr val="520978"/>
                </a:solidFill>
              </a:defRPr>
            </a:pPr>
            <a:r>
              <a:t>Тамагочи надоел, затягивает прокачка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100">
                <a:solidFill>
                  <a:srgbClr val="1C1D22"/>
                </a:solidFill>
              </a:defRPr>
            </a:pPr>
            <a:r>
              <a:t>Питомец растёт, крупная цель открывает новое занятие</a:t>
            </a:r>
          </a:p>
        </p:txBody>
      </p:sp>
      <p:sp>
        <p:nvSpPr>
          <p:cNvPr id="458" name="Текст 6"/>
          <p:cNvSpPr/>
          <p:nvPr>
            <p:ph type="body" idx="23"/>
          </p:nvPr>
        </p:nvSpPr>
        <p:spPr>
          <a:xfrm>
            <a:off x="6172199" y="3485922"/>
            <a:ext cx="5532122" cy="6001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 marL="0" indent="0">
              <a:spcBef>
                <a:spcPts val="200"/>
              </a:spcBef>
              <a:buSzTx/>
              <a:buFontTx/>
              <a:buNone/>
              <a:defRPr b="1" sz="1200">
                <a:solidFill>
                  <a:srgbClr val="520978"/>
                </a:solidFill>
              </a:defRPr>
            </a:pPr>
            <a:r>
              <a:t>Дома обсуждают рекламу и безопасность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100">
                <a:solidFill>
                  <a:srgbClr val="1C1D22"/>
                </a:solidFill>
              </a:defRPr>
            </a:pPr>
            <a:r>
              <a:t>Задания «Это развод?» и «Никто: / Реклама:»</a:t>
            </a:r>
          </a:p>
        </p:txBody>
      </p:sp>
      <p:sp>
        <p:nvSpPr>
          <p:cNvPr id="459" name="Текст 7"/>
          <p:cNvSpPr/>
          <p:nvPr>
            <p:ph type="body" idx="24"/>
          </p:nvPr>
        </p:nvSpPr>
        <p:spPr>
          <a:xfrm>
            <a:off x="6172199" y="4496592"/>
            <a:ext cx="5532122" cy="6001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 marL="0" indent="0">
              <a:spcBef>
                <a:spcPts val="200"/>
              </a:spcBef>
              <a:buSzTx/>
              <a:buFontTx/>
              <a:buNone/>
              <a:defRPr b="1" sz="1200">
                <a:solidFill>
                  <a:srgbClr val="520978"/>
                </a:solidFill>
              </a:defRPr>
            </a:pPr>
            <a:r>
              <a:t>Прямые советы недопустимы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100">
                <a:solidFill>
                  <a:srgbClr val="1C1D22"/>
                </a:solidFill>
              </a:defRPr>
            </a:pPr>
            <a:r>
              <a:t>Питомец говорит о своих чувствах, любой выбор засчитан, оценок нет</a:t>
            </a:r>
          </a:p>
        </p:txBody>
      </p:sp>
      <p:sp>
        <p:nvSpPr>
          <p:cNvPr id="460" name="Текст 8"/>
          <p:cNvSpPr/>
          <p:nvPr>
            <p:ph type="body" idx="25"/>
          </p:nvPr>
        </p:nvSpPr>
        <p:spPr>
          <a:xfrm>
            <a:off x="6172199" y="5516924"/>
            <a:ext cx="5532122" cy="6001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 marL="0" indent="0">
              <a:spcBef>
                <a:spcPts val="200"/>
              </a:spcBef>
              <a:buSzTx/>
              <a:buFontTx/>
              <a:buNone/>
              <a:defRPr b="1" sz="1200">
                <a:solidFill>
                  <a:srgbClr val="520978"/>
                </a:solidFill>
              </a:defRPr>
            </a:pPr>
            <a:r>
              <a:t>Реклама и платные покупки под запретом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100">
                <a:solidFill>
                  <a:srgbClr val="1C1D22"/>
                </a:solidFill>
              </a:defRPr>
            </a:pPr>
            <a:r>
              <a:t>Ноль рекламы и реальных платежей, установка с разрешения родителя</a:t>
            </a:r>
          </a:p>
        </p:txBody>
      </p:sp>
      <p:sp>
        <p:nvSpPr>
          <p:cNvPr id="461" name="Номер слайда 9"/>
          <p:cNvSpPr txBox="1"/>
          <p:nvPr>
            <p:ph type="sldNum" sz="quarter" idx="4294967295"/>
          </p:nvPr>
        </p:nvSpPr>
        <p:spPr>
          <a:xfrm>
            <a:off x="11818151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Скругленный прямоугольник 3"/>
          <p:cNvSpPr/>
          <p:nvPr/>
        </p:nvSpPr>
        <p:spPr>
          <a:xfrm>
            <a:off x="325170" y="1143000"/>
            <a:ext cx="11541660" cy="5120641"/>
          </a:xfrm>
          <a:prstGeom prst="roundRect">
            <a:avLst>
              <a:gd name="adj" fmla="val 6926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464" name="Номер слайда 20"/>
          <p:cNvSpPr txBox="1"/>
          <p:nvPr>
            <p:ph type="sldNum" sz="quarter" idx="2"/>
          </p:nvPr>
        </p:nvSpPr>
        <p:spPr>
          <a:xfrm>
            <a:off x="11598617" y="6404299"/>
            <a:ext cx="188899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467" name="Rounded Rectangle 1713396615"/>
          <p:cNvGrpSpPr/>
          <p:nvPr/>
        </p:nvGrpSpPr>
        <p:grpSpPr>
          <a:xfrm>
            <a:off x="347472" y="320040"/>
            <a:ext cx="4928321" cy="621792"/>
            <a:chOff x="0" y="0"/>
            <a:chExt cx="4928320" cy="621791"/>
          </a:xfrm>
        </p:grpSpPr>
        <p:sp>
          <p:nvSpPr>
            <p:cNvPr id="465" name="Rounded Rectangle"/>
            <p:cNvSpPr/>
            <p:nvPr/>
          </p:nvSpPr>
          <p:spPr>
            <a:xfrm>
              <a:off x="0" y="0"/>
              <a:ext cx="4919472" cy="621792"/>
            </a:xfrm>
            <a:prstGeom prst="roundRect">
              <a:avLst>
                <a:gd name="adj" fmla="val 1870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66" name="МЕХАНИКА ИГРЫ1: ЦИКЛ РЕШЕНИЯ"/>
            <p:cNvSpPr txBox="1"/>
            <p:nvPr/>
          </p:nvSpPr>
          <p:spPr>
            <a:xfrm>
              <a:off x="198648" y="140207"/>
              <a:ext cx="4729673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МЕХАНИКА ИГРЫ1: ЦИКЛ РЕШЕНИЯ</a:t>
              </a:r>
            </a:p>
          </p:txBody>
        </p:sp>
      </p:grpSp>
      <p:sp>
        <p:nvSpPr>
          <p:cNvPr id="468" name="TextBox 1713396616"/>
          <p:cNvSpPr txBox="1"/>
          <p:nvPr/>
        </p:nvSpPr>
        <p:spPr>
          <a:xfrm>
            <a:off x="658368" y="1344167"/>
            <a:ext cx="108813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600">
                <a:solidFill>
                  <a:srgbClr val="1C1D22"/>
                </a:solidFill>
              </a:defRPr>
            </a:pPr>
            <a:r>
              <a:t>Один круг, </a:t>
            </a:r>
            <a:r>
              <a:rPr>
                <a:solidFill>
                  <a:schemeClr val="accent1"/>
                </a:solidFill>
              </a:rPr>
              <a:t>три вложенных контура</a:t>
            </a:r>
          </a:p>
        </p:txBody>
      </p:sp>
      <p:sp>
        <p:nvSpPr>
          <p:cNvPr id="469" name="TextBox 1713396617"/>
          <p:cNvSpPr txBox="1"/>
          <p:nvPr/>
        </p:nvSpPr>
        <p:spPr>
          <a:xfrm>
            <a:off x="658368" y="1828799"/>
            <a:ext cx="10881360" cy="364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5E5868"/>
                </a:solidFill>
              </a:defRPr>
            </a:lvl1pPr>
          </a:lstStyle>
          <a:p>
            <a:pPr/>
            <a:r>
              <a:t>Минута кормит сессию, сессия кормит неделю. Каждый следующий контур требует планировать чуть дальше, поэтому одна и та же механика растёт вместе с ребёнком.</a:t>
            </a:r>
          </a:p>
        </p:txBody>
      </p:sp>
      <p:sp>
        <p:nvSpPr>
          <p:cNvPr id="470" name="Rounded Rectangle 1713396618"/>
          <p:cNvSpPr/>
          <p:nvPr/>
        </p:nvSpPr>
        <p:spPr>
          <a:xfrm>
            <a:off x="658368" y="2468879"/>
            <a:ext cx="2560321" cy="2148841"/>
          </a:xfrm>
          <a:prstGeom prst="roundRect">
            <a:avLst>
              <a:gd name="adj" fmla="val 9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grpSp>
        <p:nvGrpSpPr>
          <p:cNvPr id="473" name="Rounded Rectangle 1713396619"/>
          <p:cNvGrpSpPr/>
          <p:nvPr/>
        </p:nvGrpSpPr>
        <p:grpSpPr>
          <a:xfrm>
            <a:off x="841247" y="2615183"/>
            <a:ext cx="1051561" cy="310897"/>
            <a:chOff x="0" y="0"/>
            <a:chExt cx="1051560" cy="310895"/>
          </a:xfrm>
        </p:grpSpPr>
        <p:sp>
          <p:nvSpPr>
            <p:cNvPr id="471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hueOff val="1141463"/>
                <a:satOff val="-100000"/>
                <a:lumOff val="803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72" name="45-70 с"/>
            <p:cNvSpPr txBox="1"/>
            <p:nvPr/>
          </p:nvSpPr>
          <p:spPr>
            <a:xfrm>
              <a:off x="72960" y="72898"/>
              <a:ext cx="90564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1C1D22"/>
                  </a:solidFill>
                </a:defRPr>
              </a:lvl1pPr>
            </a:lstStyle>
            <a:p>
              <a:pPr/>
              <a:r>
                <a:t>45-70 с</a:t>
              </a:r>
            </a:p>
          </p:txBody>
        </p:sp>
      </p:grpSp>
      <p:sp>
        <p:nvSpPr>
          <p:cNvPr id="474" name="TextBox 1713396620"/>
          <p:cNvSpPr txBox="1"/>
          <p:nvPr/>
        </p:nvSpPr>
        <p:spPr>
          <a:xfrm>
            <a:off x="841246" y="3063494"/>
            <a:ext cx="219456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Заработал</a:t>
            </a:r>
          </a:p>
        </p:txBody>
      </p:sp>
      <p:sp>
        <p:nvSpPr>
          <p:cNvPr id="475" name="TextBox 1713396621"/>
          <p:cNvSpPr txBox="1"/>
          <p:nvPr/>
        </p:nvSpPr>
        <p:spPr>
          <a:xfrm>
            <a:off x="841246" y="3474720"/>
            <a:ext cx="2194562" cy="931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5999"/>
              </a:lnSpc>
              <a:defRPr sz="12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Смена в мини-игре. Ставка падает после третьей смены подряд, поэтому однообразный повтор не окупается.</a:t>
            </a:r>
          </a:p>
        </p:txBody>
      </p:sp>
      <p:sp>
        <p:nvSpPr>
          <p:cNvPr id="476" name="Rounded Rectangle 1713396622"/>
          <p:cNvSpPr/>
          <p:nvPr/>
        </p:nvSpPr>
        <p:spPr>
          <a:xfrm>
            <a:off x="3431742" y="2468879"/>
            <a:ext cx="2560321" cy="2148841"/>
          </a:xfrm>
          <a:prstGeom prst="roundRect">
            <a:avLst>
              <a:gd name="adj" fmla="val 9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grpSp>
        <p:nvGrpSpPr>
          <p:cNvPr id="479" name="Rounded Rectangle 1713396623"/>
          <p:cNvGrpSpPr/>
          <p:nvPr/>
        </p:nvGrpSpPr>
        <p:grpSpPr>
          <a:xfrm>
            <a:off x="3614623" y="2615183"/>
            <a:ext cx="1051561" cy="310897"/>
            <a:chOff x="0" y="0"/>
            <a:chExt cx="1051560" cy="310895"/>
          </a:xfrm>
        </p:grpSpPr>
        <p:sp>
          <p:nvSpPr>
            <p:cNvPr id="477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hueOff val="1141463"/>
                <a:satOff val="-100000"/>
                <a:lumOff val="803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78" name="20 с"/>
            <p:cNvSpPr txBox="1"/>
            <p:nvPr/>
          </p:nvSpPr>
          <p:spPr>
            <a:xfrm>
              <a:off x="72960" y="72898"/>
              <a:ext cx="90564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1C1D22"/>
                  </a:solidFill>
                </a:defRPr>
              </a:lvl1pPr>
            </a:lstStyle>
            <a:p>
              <a:pPr/>
              <a:r>
                <a:t>20 с</a:t>
              </a:r>
            </a:p>
          </p:txBody>
        </p:sp>
      </p:grpSp>
      <p:sp>
        <p:nvSpPr>
          <p:cNvPr id="480" name="TextBox 1713396624"/>
          <p:cNvSpPr txBox="1"/>
          <p:nvPr/>
        </p:nvSpPr>
        <p:spPr>
          <a:xfrm>
            <a:off x="3614623" y="3063494"/>
            <a:ext cx="21945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1C1D22"/>
                </a:solidFill>
              </a:defRPr>
            </a:lvl1pPr>
          </a:lstStyle>
          <a:p>
            <a:pPr/>
            <a:r>
              <a:t>Решил</a:t>
            </a:r>
          </a:p>
        </p:txBody>
      </p:sp>
      <p:sp>
        <p:nvSpPr>
          <p:cNvPr id="481" name="TextBox 1713396625"/>
          <p:cNvSpPr txBox="1"/>
          <p:nvPr/>
        </p:nvSpPr>
        <p:spPr>
          <a:xfrm>
            <a:off x="3614623" y="3474720"/>
            <a:ext cx="2194561" cy="743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5999"/>
              </a:lnSpc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Цена и последствие видны до нажатия. Отказ от покупки система тоже считает решением.</a:t>
            </a:r>
          </a:p>
        </p:txBody>
      </p:sp>
      <p:sp>
        <p:nvSpPr>
          <p:cNvPr id="482" name="Rounded Rectangle 1713396626"/>
          <p:cNvSpPr/>
          <p:nvPr/>
        </p:nvSpPr>
        <p:spPr>
          <a:xfrm>
            <a:off x="6205118" y="2468879"/>
            <a:ext cx="2560321" cy="2148841"/>
          </a:xfrm>
          <a:prstGeom prst="roundRect">
            <a:avLst>
              <a:gd name="adj" fmla="val 9000"/>
            </a:avLst>
          </a:prstGeom>
          <a:solidFill>
            <a:srgbClr val="520978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grpSp>
        <p:nvGrpSpPr>
          <p:cNvPr id="485" name="Rounded Rectangle 1713396627"/>
          <p:cNvGrpSpPr/>
          <p:nvPr/>
        </p:nvGrpSpPr>
        <p:grpSpPr>
          <a:xfrm>
            <a:off x="6387998" y="2615183"/>
            <a:ext cx="1051561" cy="310897"/>
            <a:chOff x="0" y="0"/>
            <a:chExt cx="1051560" cy="310895"/>
          </a:xfrm>
        </p:grpSpPr>
        <p:sp>
          <p:nvSpPr>
            <p:cNvPr id="483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hueOff val="1141463"/>
                <a:satOff val="-100000"/>
                <a:lumOff val="803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84" name="0,3 с"/>
            <p:cNvSpPr txBox="1"/>
            <p:nvPr/>
          </p:nvSpPr>
          <p:spPr>
            <a:xfrm>
              <a:off x="72960" y="72898"/>
              <a:ext cx="90564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1C1D22"/>
                  </a:solidFill>
                </a:defRPr>
              </a:lvl1pPr>
            </a:lstStyle>
            <a:p>
              <a:pPr/>
              <a:r>
                <a:t>0,3 с</a:t>
              </a:r>
            </a:p>
          </p:txBody>
        </p:sp>
      </p:grpSp>
      <p:sp>
        <p:nvSpPr>
          <p:cNvPr id="486" name="TextBox 1713396628"/>
          <p:cNvSpPr txBox="1"/>
          <p:nvPr/>
        </p:nvSpPr>
        <p:spPr>
          <a:xfrm>
            <a:off x="6387998" y="3063494"/>
            <a:ext cx="21945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Увидел</a:t>
            </a:r>
          </a:p>
        </p:txBody>
      </p:sp>
      <p:sp>
        <p:nvSpPr>
          <p:cNvPr id="487" name="TextBox 1713396629"/>
          <p:cNvSpPr txBox="1"/>
          <p:nvPr/>
        </p:nvSpPr>
        <p:spPr>
          <a:xfrm>
            <a:off x="6387998" y="3474720"/>
            <a:ext cx="2194561" cy="743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5999"/>
              </a:lnSpc>
              <a:defRPr sz="12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Первая реакция мгновенная, полный отклик до 4 секунд. Так ребёнок видит связь причины и следствия.</a:t>
            </a:r>
          </a:p>
        </p:txBody>
      </p:sp>
      <p:sp>
        <p:nvSpPr>
          <p:cNvPr id="488" name="Rounded Rectangle 1713396630"/>
          <p:cNvSpPr/>
          <p:nvPr/>
        </p:nvSpPr>
        <p:spPr>
          <a:xfrm>
            <a:off x="8978493" y="2468879"/>
            <a:ext cx="2560321" cy="2148841"/>
          </a:xfrm>
          <a:prstGeom prst="roundRect">
            <a:avLst>
              <a:gd name="adj" fmla="val 9000"/>
            </a:avLst>
          </a:prstGeom>
          <a:solidFill>
            <a:srgbClr val="310F5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grpSp>
        <p:nvGrpSpPr>
          <p:cNvPr id="491" name="Rounded Rectangle 1713396631"/>
          <p:cNvGrpSpPr/>
          <p:nvPr/>
        </p:nvGrpSpPr>
        <p:grpSpPr>
          <a:xfrm>
            <a:off x="9161373" y="2615183"/>
            <a:ext cx="1051561" cy="310897"/>
            <a:chOff x="0" y="0"/>
            <a:chExt cx="1051560" cy="310895"/>
          </a:xfrm>
        </p:grpSpPr>
        <p:sp>
          <p:nvSpPr>
            <p:cNvPr id="489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hueOff val="1141463"/>
                <a:satOff val="-100000"/>
                <a:lumOff val="803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90" name="конец дня"/>
            <p:cNvSpPr txBox="1"/>
            <p:nvPr/>
          </p:nvSpPr>
          <p:spPr>
            <a:xfrm>
              <a:off x="72960" y="72898"/>
              <a:ext cx="90564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1C1D22"/>
                  </a:solidFill>
                </a:defRPr>
              </a:lvl1pPr>
            </a:lstStyle>
            <a:p>
              <a:pPr/>
              <a:r>
                <a:t>конец дня</a:t>
              </a:r>
            </a:p>
          </p:txBody>
        </p:sp>
      </p:grpSp>
      <p:sp>
        <p:nvSpPr>
          <p:cNvPr id="492" name="TextBox 1713396632"/>
          <p:cNvSpPr txBox="1"/>
          <p:nvPr/>
        </p:nvSpPr>
        <p:spPr>
          <a:xfrm>
            <a:off x="9161373" y="3063494"/>
            <a:ext cx="21945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Открыл</a:t>
            </a:r>
          </a:p>
        </p:txBody>
      </p:sp>
      <p:sp>
        <p:nvSpPr>
          <p:cNvPr id="493" name="TextBox 1713396633"/>
          <p:cNvSpPr txBox="1"/>
          <p:nvPr/>
        </p:nvSpPr>
        <p:spPr>
          <a:xfrm>
            <a:off x="9161373" y="3474720"/>
            <a:ext cx="2194561" cy="743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5999"/>
              </a:lnSpc>
              <a:defRPr sz="12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Предмет, способность или правило. Сложность растёт после подтверждённого освоения.</a:t>
            </a:r>
          </a:p>
        </p:txBody>
      </p:sp>
      <p:sp>
        <p:nvSpPr>
          <p:cNvPr id="494" name="Rounded Rectangle 1713396634"/>
          <p:cNvSpPr/>
          <p:nvPr/>
        </p:nvSpPr>
        <p:spPr>
          <a:xfrm>
            <a:off x="658368" y="4800600"/>
            <a:ext cx="10881360" cy="868681"/>
          </a:xfrm>
          <a:prstGeom prst="roundRect">
            <a:avLst>
              <a:gd name="adj" fmla="val 20000"/>
            </a:avLst>
          </a:prstGeom>
          <a:solidFill>
            <a:srgbClr val="F3EEF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grpSp>
        <p:nvGrpSpPr>
          <p:cNvPr id="497" name="Rounded Rectangle 1713396635"/>
          <p:cNvGrpSpPr/>
          <p:nvPr/>
        </p:nvGrpSpPr>
        <p:grpSpPr>
          <a:xfrm>
            <a:off x="841247" y="4965191"/>
            <a:ext cx="2011680" cy="530353"/>
            <a:chOff x="0" y="0"/>
            <a:chExt cx="2011679" cy="530351"/>
          </a:xfrm>
        </p:grpSpPr>
        <p:sp>
          <p:nvSpPr>
            <p:cNvPr id="495" name="Rounded Rectangle"/>
            <p:cNvSpPr/>
            <p:nvPr/>
          </p:nvSpPr>
          <p:spPr>
            <a:xfrm>
              <a:off x="0" y="0"/>
              <a:ext cx="2011680" cy="530352"/>
            </a:xfrm>
            <a:prstGeom prst="roundRect">
              <a:avLst>
                <a:gd name="adj" fmla="val 25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496" name="минута: 45-70 с"/>
            <p:cNvSpPr txBox="1"/>
            <p:nvPr/>
          </p:nvSpPr>
          <p:spPr>
            <a:xfrm>
              <a:off x="84553" y="176276"/>
              <a:ext cx="1842573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520978"/>
                  </a:solidFill>
                </a:defRPr>
              </a:lvl1pPr>
            </a:lstStyle>
            <a:p>
              <a:pPr/>
              <a:r>
                <a:t>минута: 45-70 с</a:t>
              </a:r>
            </a:p>
          </p:txBody>
        </p:sp>
      </p:grpSp>
      <p:sp>
        <p:nvSpPr>
          <p:cNvPr id="498" name="Right Arrow 1713396636"/>
          <p:cNvSpPr/>
          <p:nvPr/>
        </p:nvSpPr>
        <p:spPr>
          <a:xfrm>
            <a:off x="2962655" y="5120640"/>
            <a:ext cx="329185" cy="21945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209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grpSp>
        <p:nvGrpSpPr>
          <p:cNvPr id="501" name="Rounded Rectangle 1713396637"/>
          <p:cNvGrpSpPr/>
          <p:nvPr/>
        </p:nvGrpSpPr>
        <p:grpSpPr>
          <a:xfrm>
            <a:off x="3401567" y="4965191"/>
            <a:ext cx="2057401" cy="530353"/>
            <a:chOff x="0" y="0"/>
            <a:chExt cx="2057400" cy="530351"/>
          </a:xfrm>
        </p:grpSpPr>
        <p:sp>
          <p:nvSpPr>
            <p:cNvPr id="499" name="Rounded Rectangle"/>
            <p:cNvSpPr/>
            <p:nvPr/>
          </p:nvSpPr>
          <p:spPr>
            <a:xfrm>
              <a:off x="0" y="0"/>
              <a:ext cx="2057400" cy="530352"/>
            </a:xfrm>
            <a:prstGeom prst="roundRect">
              <a:avLst>
                <a:gd name="adj" fmla="val 25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500" name="сессия: 5-12 мин"/>
            <p:cNvSpPr txBox="1"/>
            <p:nvPr/>
          </p:nvSpPr>
          <p:spPr>
            <a:xfrm>
              <a:off x="84553" y="176276"/>
              <a:ext cx="1888294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1C1D22"/>
                  </a:solidFill>
                </a:defRPr>
              </a:lvl1pPr>
            </a:lstStyle>
            <a:p>
              <a:pPr/>
              <a:r>
                <a:t>сессия: 5-12 мин</a:t>
              </a:r>
            </a:p>
          </p:txBody>
        </p:sp>
      </p:grpSp>
      <p:sp>
        <p:nvSpPr>
          <p:cNvPr id="502" name="Right Arrow 1713396638"/>
          <p:cNvSpPr/>
          <p:nvPr/>
        </p:nvSpPr>
        <p:spPr>
          <a:xfrm>
            <a:off x="5568696" y="5120640"/>
            <a:ext cx="329185" cy="21945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209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grpSp>
        <p:nvGrpSpPr>
          <p:cNvPr id="505" name="Rounded Rectangle 1713396639"/>
          <p:cNvGrpSpPr/>
          <p:nvPr/>
        </p:nvGrpSpPr>
        <p:grpSpPr>
          <a:xfrm>
            <a:off x="6007608" y="4965191"/>
            <a:ext cx="2377441" cy="530353"/>
            <a:chOff x="0" y="0"/>
            <a:chExt cx="2377439" cy="530351"/>
          </a:xfrm>
        </p:grpSpPr>
        <p:sp>
          <p:nvSpPr>
            <p:cNvPr id="503" name="Rounded Rectangle"/>
            <p:cNvSpPr/>
            <p:nvPr/>
          </p:nvSpPr>
          <p:spPr>
            <a:xfrm>
              <a:off x="0" y="0"/>
              <a:ext cx="2377440" cy="530352"/>
            </a:xfrm>
            <a:prstGeom prst="roundRect">
              <a:avLst>
                <a:gd name="adj" fmla="val 25000"/>
              </a:avLst>
            </a:prstGeom>
            <a:solidFill>
              <a:srgbClr val="5209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504" name="неделя: бюджет и план"/>
            <p:cNvSpPr txBox="1"/>
            <p:nvPr/>
          </p:nvSpPr>
          <p:spPr>
            <a:xfrm>
              <a:off x="84553" y="176276"/>
              <a:ext cx="2208334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неделя: бюджет и план</a:t>
              </a:r>
            </a:p>
          </p:txBody>
        </p:sp>
      </p:grpSp>
      <p:sp>
        <p:nvSpPr>
          <p:cNvPr id="506" name="TextBox 1713396640"/>
          <p:cNvSpPr txBox="1"/>
          <p:nvPr/>
        </p:nvSpPr>
        <p:spPr>
          <a:xfrm>
            <a:off x="8705088" y="4959350"/>
            <a:ext cx="2651761" cy="55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b="1" sz="1200">
                <a:solidFill>
                  <a:srgbClr val="1C1D22"/>
                </a:solidFill>
              </a:defRPr>
            </a:lvl1pPr>
          </a:lstStyle>
          <a:p>
            <a:pPr/>
            <a:r>
              <a:t>Следующий контур открывается, когда предыдущий становится привычкой</a:t>
            </a:r>
          </a:p>
        </p:txBody>
      </p:sp>
      <p:sp>
        <p:nvSpPr>
          <p:cNvPr id="507" name="TextBox 1713396641"/>
          <p:cNvSpPr txBox="1"/>
          <p:nvPr/>
        </p:nvSpPr>
        <p:spPr>
          <a:xfrm>
            <a:off x="658368" y="5788152"/>
            <a:ext cx="108813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5E5868"/>
                </a:solidFill>
              </a:defRPr>
            </a:pPr>
            <a:r>
              <a:t>Опора: </a:t>
            </a:r>
            <a:r>
              <a:rPr b="0"/>
              <a:t>Джесси Шелл, проверка решений линзами; Раф Костер, веселье как освоение паттернов; Трейси Фуллертон, цели опыта и плейтест с детьми; Кэти Сален и Эрик Циммерман, значимый выбор.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Скругленный прямоугольник 7"/>
          <p:cNvSpPr/>
          <p:nvPr/>
        </p:nvSpPr>
        <p:spPr>
          <a:xfrm>
            <a:off x="4462271" y="2240279"/>
            <a:ext cx="3520441" cy="2286001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510" name="Скругленный прямоугольник 8"/>
          <p:cNvSpPr/>
          <p:nvPr/>
        </p:nvSpPr>
        <p:spPr>
          <a:xfrm>
            <a:off x="8302752" y="2240279"/>
            <a:ext cx="3520441" cy="2286001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511" name="Скругленный прямоугольник 9"/>
          <p:cNvSpPr/>
          <p:nvPr/>
        </p:nvSpPr>
        <p:spPr>
          <a:xfrm>
            <a:off x="621791" y="2240279"/>
            <a:ext cx="3520442" cy="2286001"/>
          </a:xfrm>
          <a:prstGeom prst="roundRect">
            <a:avLst>
              <a:gd name="adj" fmla="val 982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>
            <a:solidFill>
              <a:schemeClr val="accent5"/>
            </a:solidFill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512" name="Номер слайда 20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515" name="Rounded Rectangle 1350784234"/>
          <p:cNvGrpSpPr/>
          <p:nvPr/>
        </p:nvGrpSpPr>
        <p:grpSpPr>
          <a:xfrm>
            <a:off x="347472" y="320040"/>
            <a:ext cx="4741165" cy="621792"/>
            <a:chOff x="0" y="0"/>
            <a:chExt cx="4741164" cy="621791"/>
          </a:xfrm>
        </p:grpSpPr>
        <p:sp>
          <p:nvSpPr>
            <p:cNvPr id="513" name="Rounded Rectangle"/>
            <p:cNvSpPr/>
            <p:nvPr/>
          </p:nvSpPr>
          <p:spPr>
            <a:xfrm>
              <a:off x="0" y="0"/>
              <a:ext cx="4741165" cy="621792"/>
            </a:xfrm>
            <a:prstGeom prst="roundRect">
              <a:avLst>
                <a:gd name="adj" fmla="val 18700"/>
              </a:avLst>
            </a:prstGeom>
            <a:solidFill>
              <a:srgbClr val="5209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514" name="МЕХАНИКА 2: ТРИ МЕШОЧКА"/>
            <p:cNvSpPr txBox="1"/>
            <p:nvPr/>
          </p:nvSpPr>
          <p:spPr>
            <a:xfrm>
              <a:off x="198648" y="140207"/>
              <a:ext cx="3817233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МЕХАНИКА 2: ТРИ МЕШОЧКА</a:t>
              </a:r>
            </a:p>
          </p:txBody>
        </p:sp>
      </p:grpSp>
      <p:sp>
        <p:nvSpPr>
          <p:cNvPr id="516" name="TextBox 1350784235"/>
          <p:cNvSpPr txBox="1"/>
          <p:nvPr/>
        </p:nvSpPr>
        <p:spPr>
          <a:xfrm>
            <a:off x="621791" y="1097280"/>
            <a:ext cx="1115568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800">
                <a:solidFill>
                  <a:srgbClr val="1C1D22"/>
                </a:solidFill>
              </a:defRPr>
            </a:pPr>
            <a:r>
              <a:t>Из каждых 10 дзынек: </a:t>
            </a:r>
            <a:r>
              <a:rPr>
                <a:solidFill>
                  <a:srgbClr val="520978"/>
                </a:solidFill>
              </a:rPr>
              <a:t>5</a:t>
            </a:r>
            <a:r>
              <a:t>, </a:t>
            </a:r>
            <a:r>
              <a:rPr>
                <a:solidFill>
                  <a:schemeClr val="accent1"/>
                </a:solidFill>
              </a:rPr>
              <a:t>3</a:t>
            </a:r>
            <a:r>
              <a:t> и </a:t>
            </a:r>
            <a:r>
              <a:rPr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517" name="TextBox 1350784236"/>
          <p:cNvSpPr txBox="1"/>
          <p:nvPr/>
        </p:nvSpPr>
        <p:spPr>
          <a:xfrm>
            <a:off x="621791" y="1645920"/>
            <a:ext cx="10789922" cy="364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4999"/>
              </a:lnSpc>
              <a:defRPr sz="1200">
                <a:solidFill>
                  <a:srgbClr val="5E5868"/>
                </a:solidFill>
              </a:defRPr>
            </a:pPr>
            <a:r>
              <a:t>Доли подсказаны, решает ребёнок.</a:t>
            </a:r>
          </a:p>
          <a:p>
            <a:pPr>
              <a:lnSpc>
                <a:spcPct val="104999"/>
              </a:lnSpc>
              <a:defRPr sz="1200">
                <a:solidFill>
                  <a:srgbClr val="5E5868"/>
                </a:solidFill>
              </a:defRPr>
            </a:pPr>
            <a:r>
              <a:t>Копилка вознакраждает за терпение: ожидание превращается в число, которое видно завтра.</a:t>
            </a:r>
          </a:p>
        </p:txBody>
      </p:sp>
      <p:sp>
        <p:nvSpPr>
          <p:cNvPr id="518" name="TextBox 1350784237"/>
          <p:cNvSpPr txBox="1"/>
          <p:nvPr/>
        </p:nvSpPr>
        <p:spPr>
          <a:xfrm>
            <a:off x="896111" y="2395727"/>
            <a:ext cx="2971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C1D22"/>
                </a:solidFill>
              </a:defRPr>
            </a:lvl1pPr>
          </a:lstStyle>
          <a:p>
            <a:pPr/>
            <a:r>
              <a:t>Нужное</a:t>
            </a:r>
          </a:p>
        </p:txBody>
      </p:sp>
      <p:sp>
        <p:nvSpPr>
          <p:cNvPr id="519" name="TextBox 1350784238"/>
          <p:cNvSpPr txBox="1"/>
          <p:nvPr/>
        </p:nvSpPr>
        <p:spPr>
          <a:xfrm>
            <a:off x="896111" y="2743199"/>
            <a:ext cx="29718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0">
                <a:solidFill>
                  <a:srgbClr val="520978"/>
                </a:solidFill>
              </a:defRPr>
            </a:lvl1pPr>
          </a:lstStyle>
          <a:p>
            <a:pPr/>
            <a:r>
              <a:t>50%</a:t>
            </a:r>
          </a:p>
        </p:txBody>
      </p:sp>
      <p:sp>
        <p:nvSpPr>
          <p:cNvPr id="520" name="Rounded Rectangle 1350784239"/>
          <p:cNvSpPr/>
          <p:nvPr/>
        </p:nvSpPr>
        <p:spPr>
          <a:xfrm>
            <a:off x="896111" y="3602735"/>
            <a:ext cx="2971801" cy="82297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521" name="TextBox 1350784240"/>
          <p:cNvSpPr txBox="1"/>
          <p:nvPr/>
        </p:nvSpPr>
        <p:spPr>
          <a:xfrm>
            <a:off x="896111" y="3767328"/>
            <a:ext cx="2971801" cy="561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8000"/>
              </a:lnSpc>
              <a:defRPr sz="1200">
                <a:solidFill>
                  <a:srgbClr val="1C1D22"/>
                </a:solidFill>
              </a:defRPr>
            </a:pPr>
            <a:r>
              <a:t>Еда, тепло, чистота.</a:t>
            </a:r>
          </a:p>
          <a:p>
            <a:pPr>
              <a:lnSpc>
                <a:spcPct val="108000"/>
              </a:lnSpc>
              <a:defRPr sz="1200">
                <a:solidFill>
                  <a:srgbClr val="1C1D22"/>
                </a:solidFill>
              </a:defRPr>
            </a:pPr>
            <a:r>
              <a:t>Питомец просит сам, цена этого известна заранее.</a:t>
            </a:r>
          </a:p>
        </p:txBody>
      </p:sp>
      <p:sp>
        <p:nvSpPr>
          <p:cNvPr id="522" name="TextBox 1350784241"/>
          <p:cNvSpPr txBox="1"/>
          <p:nvPr/>
        </p:nvSpPr>
        <p:spPr>
          <a:xfrm>
            <a:off x="4736591" y="2395727"/>
            <a:ext cx="2971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C1D22"/>
                </a:solidFill>
              </a:defRPr>
            </a:lvl1pPr>
          </a:lstStyle>
          <a:p>
            <a:pPr/>
            <a:r>
              <a:t>Хочу</a:t>
            </a:r>
          </a:p>
        </p:txBody>
      </p:sp>
      <p:sp>
        <p:nvSpPr>
          <p:cNvPr id="523" name="TextBox 1350784242"/>
          <p:cNvSpPr txBox="1"/>
          <p:nvPr/>
        </p:nvSpPr>
        <p:spPr>
          <a:xfrm>
            <a:off x="4736591" y="2743199"/>
            <a:ext cx="29718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0">
                <a:solidFill>
                  <a:schemeClr val="accent1"/>
                </a:solidFill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524" name="Rounded Rectangle 1350784243"/>
          <p:cNvSpPr/>
          <p:nvPr/>
        </p:nvSpPr>
        <p:spPr>
          <a:xfrm>
            <a:off x="4736591" y="3602735"/>
            <a:ext cx="2971801" cy="8229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525" name="TextBox 1350784244"/>
          <p:cNvSpPr txBox="1"/>
          <p:nvPr/>
        </p:nvSpPr>
        <p:spPr>
          <a:xfrm>
            <a:off x="4736591" y="3767328"/>
            <a:ext cx="2971801" cy="561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8000"/>
              </a:lnSpc>
              <a:defRPr sz="1200">
                <a:solidFill>
                  <a:srgbClr val="1C1D22"/>
                </a:solidFill>
              </a:defRPr>
            </a:pPr>
            <a:r>
              <a:t>Игрушки и наряды.</a:t>
            </a:r>
          </a:p>
          <a:p>
            <a:pPr>
              <a:lnSpc>
                <a:spcPct val="108000"/>
              </a:lnSpc>
              <a:defRPr sz="1200">
                <a:solidFill>
                  <a:srgbClr val="1C1D22"/>
                </a:solidFill>
              </a:defRPr>
            </a:pPr>
            <a:r>
              <a:t>Радость сразу, а завтра её почти не видно.</a:t>
            </a:r>
          </a:p>
        </p:txBody>
      </p:sp>
      <p:sp>
        <p:nvSpPr>
          <p:cNvPr id="526" name="TextBox 1350784245"/>
          <p:cNvSpPr txBox="1"/>
          <p:nvPr/>
        </p:nvSpPr>
        <p:spPr>
          <a:xfrm>
            <a:off x="8577071" y="2395727"/>
            <a:ext cx="2971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C1D22"/>
                </a:solidFill>
              </a:defRPr>
            </a:lvl1pPr>
          </a:lstStyle>
          <a:p>
            <a:pPr/>
            <a:r>
              <a:t>Копилка</a:t>
            </a:r>
          </a:p>
        </p:txBody>
      </p:sp>
      <p:sp>
        <p:nvSpPr>
          <p:cNvPr id="527" name="TextBox 1350784246"/>
          <p:cNvSpPr txBox="1"/>
          <p:nvPr/>
        </p:nvSpPr>
        <p:spPr>
          <a:xfrm>
            <a:off x="8577071" y="2743199"/>
            <a:ext cx="29718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0">
                <a:solidFill>
                  <a:schemeClr val="accent4"/>
                </a:solidFill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528" name="Rounded Rectangle 1350784247"/>
          <p:cNvSpPr/>
          <p:nvPr/>
        </p:nvSpPr>
        <p:spPr>
          <a:xfrm>
            <a:off x="8577071" y="3602735"/>
            <a:ext cx="2971801" cy="822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529" name="TextBox 1350784248"/>
          <p:cNvSpPr txBox="1"/>
          <p:nvPr/>
        </p:nvSpPr>
        <p:spPr>
          <a:xfrm>
            <a:off x="8577071" y="3767328"/>
            <a:ext cx="29718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Накопления на новые предметы.</a:t>
            </a:r>
          </a:p>
        </p:txBody>
      </p:sp>
      <p:grpSp>
        <p:nvGrpSpPr>
          <p:cNvPr id="532" name="Rounded Rectangle 1350784249"/>
          <p:cNvGrpSpPr/>
          <p:nvPr/>
        </p:nvGrpSpPr>
        <p:grpSpPr>
          <a:xfrm>
            <a:off x="621791" y="4846320"/>
            <a:ext cx="3520442" cy="749809"/>
            <a:chOff x="0" y="0"/>
            <a:chExt cx="3520440" cy="749808"/>
          </a:xfrm>
        </p:grpSpPr>
        <p:sp>
          <p:nvSpPr>
            <p:cNvPr id="530" name="Rounded Rectangle"/>
            <p:cNvSpPr/>
            <p:nvPr/>
          </p:nvSpPr>
          <p:spPr>
            <a:xfrm>
              <a:off x="0" y="0"/>
              <a:ext cx="3520441" cy="749809"/>
            </a:xfrm>
            <a:prstGeom prst="roundRect">
              <a:avLst>
                <a:gd name="adj" fmla="val 18000"/>
              </a:avLst>
            </a:prstGeom>
            <a:solidFill>
              <a:srgbClr val="310F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04999"/>
                </a:lnSpc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531" name="Бонус копилки: +2% от остатка в день, не больше 20 дзынек"/>
            <p:cNvSpPr txBox="1"/>
            <p:nvPr/>
          </p:nvSpPr>
          <p:spPr>
            <a:xfrm>
              <a:off x="231554" y="156083"/>
              <a:ext cx="3057332" cy="437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6576" tIns="36576" rIns="36576" bIns="36576" numCol="1" anchor="ctr">
              <a:spAutoFit/>
            </a:bodyPr>
            <a:lstStyle/>
            <a:p>
              <a:pPr>
                <a:lnSpc>
                  <a:spcPct val="104999"/>
                </a:lnSpc>
                <a:defRPr b="1" sz="1200">
                  <a:solidFill>
                    <a:srgbClr val="FFD6E4"/>
                  </a:solidFill>
                </a:defRPr>
              </a:pPr>
              <a:r>
                <a:t>Бонус копилки: </a:t>
              </a:r>
              <a:r>
                <a:rPr b="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rPr>
                <a:t>+2% от остатка в день, не больше 20 дзынек</a:t>
              </a:r>
            </a:p>
          </p:txBody>
        </p:sp>
      </p:grpSp>
      <p:grpSp>
        <p:nvGrpSpPr>
          <p:cNvPr id="535" name="Rounded Rectangle 1350784250"/>
          <p:cNvGrpSpPr/>
          <p:nvPr/>
        </p:nvGrpSpPr>
        <p:grpSpPr>
          <a:xfrm>
            <a:off x="4462271" y="4846320"/>
            <a:ext cx="3520441" cy="749809"/>
            <a:chOff x="0" y="0"/>
            <a:chExt cx="3520440" cy="749808"/>
          </a:xfrm>
        </p:grpSpPr>
        <p:sp>
          <p:nvSpPr>
            <p:cNvPr id="533" name="Rounded Rectangle"/>
            <p:cNvSpPr/>
            <p:nvPr/>
          </p:nvSpPr>
          <p:spPr>
            <a:xfrm>
              <a:off x="0" y="0"/>
              <a:ext cx="3520441" cy="749809"/>
            </a:xfrm>
            <a:prstGeom prst="roundRect">
              <a:avLst>
                <a:gd name="adj" fmla="val 18000"/>
              </a:avLst>
            </a:prstGeom>
            <a:solidFill>
              <a:srgbClr val="310F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04999"/>
                </a:lnSpc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534" name="Правило трёх дней: дзынька идёт в цель после 72 часов хранения"/>
            <p:cNvSpPr txBox="1"/>
            <p:nvPr/>
          </p:nvSpPr>
          <p:spPr>
            <a:xfrm>
              <a:off x="231554" y="156083"/>
              <a:ext cx="3057332" cy="437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6576" tIns="36576" rIns="36576" bIns="36576" numCol="1" anchor="ctr">
              <a:spAutoFit/>
            </a:bodyPr>
            <a:lstStyle/>
            <a:p>
              <a:pPr>
                <a:lnSpc>
                  <a:spcPct val="104999"/>
                </a:lnSpc>
                <a:defRPr b="1" sz="1200">
                  <a:solidFill>
                    <a:srgbClr val="FFD6E4"/>
                  </a:solidFill>
                </a:defRPr>
              </a:pPr>
              <a:r>
                <a:t>Правило трёх дней: </a:t>
              </a:r>
              <a:r>
                <a:rPr b="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rPr>
                <a:t>дзынька идёт в цель после 72 часов хранения</a:t>
              </a:r>
            </a:p>
          </p:txBody>
        </p:sp>
      </p:grpSp>
      <p:grpSp>
        <p:nvGrpSpPr>
          <p:cNvPr id="538" name="Rounded Rectangle 1350784251"/>
          <p:cNvGrpSpPr/>
          <p:nvPr/>
        </p:nvGrpSpPr>
        <p:grpSpPr>
          <a:xfrm>
            <a:off x="8302752" y="4846320"/>
            <a:ext cx="3520441" cy="749809"/>
            <a:chOff x="0" y="0"/>
            <a:chExt cx="3520440" cy="749808"/>
          </a:xfrm>
        </p:grpSpPr>
        <p:sp>
          <p:nvSpPr>
            <p:cNvPr id="536" name="Rounded Rectangle"/>
            <p:cNvSpPr/>
            <p:nvPr/>
          </p:nvSpPr>
          <p:spPr>
            <a:xfrm>
              <a:off x="0" y="0"/>
              <a:ext cx="3520441" cy="749809"/>
            </a:xfrm>
            <a:prstGeom prst="roundRect">
              <a:avLst>
                <a:gd name="adj" fmla="val 18000"/>
              </a:avLst>
            </a:prstGeom>
            <a:solidFill>
              <a:srgbClr val="310F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04999"/>
                </a:lnSpc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537" name="Свобода: забрать дзыньки из копилки можно в любой момент без штрафа"/>
            <p:cNvSpPr txBox="1"/>
            <p:nvPr/>
          </p:nvSpPr>
          <p:spPr>
            <a:xfrm>
              <a:off x="231554" y="156083"/>
              <a:ext cx="3057332" cy="437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6576" tIns="36576" rIns="36576" bIns="36576" numCol="1" anchor="ctr">
              <a:spAutoFit/>
            </a:bodyPr>
            <a:lstStyle/>
            <a:p>
              <a:pPr>
                <a:lnSpc>
                  <a:spcPct val="104999"/>
                </a:lnSpc>
                <a:defRPr b="1" sz="1200">
                  <a:solidFill>
                    <a:srgbClr val="FFD6E4"/>
                  </a:solidFill>
                </a:defRPr>
              </a:pPr>
              <a:r>
                <a:t>Свобода: </a:t>
              </a:r>
              <a:r>
                <a:rPr b="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rPr>
                <a:t>забрать дзыньки из копилки можно в любой момент без штрафа</a:t>
              </a:r>
            </a:p>
          </p:txBody>
        </p:sp>
      </p:grpSp>
      <p:sp>
        <p:nvSpPr>
          <p:cNvPr id="539" name="TextBox 1350784252"/>
          <p:cNvSpPr txBox="1"/>
          <p:nvPr/>
        </p:nvSpPr>
        <p:spPr>
          <a:xfrm>
            <a:off x="621791" y="5760720"/>
            <a:ext cx="10607042" cy="31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4999"/>
              </a:lnSpc>
              <a:defRPr b="1" sz="1000">
                <a:solidFill>
                  <a:srgbClr val="5E5868"/>
                </a:solidFill>
              </a:defRPr>
            </a:pPr>
            <a:r>
              <a:t>Проверено линзой Endogenous Value Джесси Шелла: </a:t>
            </a:r>
            <a:r>
              <a:rPr b="0"/>
              <a:t>внутриигровые деньги ценны ровно настолько, насколько меняют жизнь питомца. Возможность забрать накопления в любой момент оставляет решение за ребёнком: условие значимого выбора у Кэти Сален и Эрика Циммермана.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Скругленный прямоугольник 11"/>
          <p:cNvGrpSpPr/>
          <p:nvPr/>
        </p:nvGrpSpPr>
        <p:grpSpPr>
          <a:xfrm>
            <a:off x="346075" y="324561"/>
            <a:ext cx="5276089" cy="620920"/>
            <a:chOff x="0" y="0"/>
            <a:chExt cx="5276088" cy="620918"/>
          </a:xfrm>
        </p:grpSpPr>
        <p:sp>
          <p:nvSpPr>
            <p:cNvPr id="541" name="Rounded Rectangle"/>
            <p:cNvSpPr/>
            <p:nvPr/>
          </p:nvSpPr>
          <p:spPr>
            <a:xfrm>
              <a:off x="0" y="0"/>
              <a:ext cx="5276089" cy="620919"/>
            </a:xfrm>
            <a:prstGeom prst="roundRect">
              <a:avLst>
                <a:gd name="adj" fmla="val 18706"/>
              </a:avLst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542" name="МЕХАНИКА 3: ЛЕСТНИЦА ЦЕЛЕЙ"/>
            <p:cNvSpPr txBox="1"/>
            <p:nvPr/>
          </p:nvSpPr>
          <p:spPr>
            <a:xfrm>
              <a:off x="198611" y="139771"/>
              <a:ext cx="4275623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МЕХАНИКА 3: ЛЕСТНИЦА ЦЕЛЕЙ</a:t>
              </a:r>
            </a:p>
          </p:txBody>
        </p:sp>
      </p:grpSp>
      <p:sp>
        <p:nvSpPr>
          <p:cNvPr id="544" name="Номер слайда 12"/>
          <p:cNvSpPr txBox="1"/>
          <p:nvPr>
            <p:ph type="sldNum" sz="quarter" idx="2"/>
          </p:nvPr>
        </p:nvSpPr>
        <p:spPr>
          <a:xfrm>
            <a:off x="11561857" y="6404299"/>
            <a:ext cx="262420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45" name="Прямая соединительная линия 33"/>
          <p:cNvSpPr/>
          <p:nvPr/>
        </p:nvSpPr>
        <p:spPr>
          <a:xfrm>
            <a:off x="2065939" y="4116256"/>
            <a:ext cx="1332548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46" name="Прямая соединительная линия 34"/>
          <p:cNvSpPr/>
          <p:nvPr/>
        </p:nvSpPr>
        <p:spPr>
          <a:xfrm>
            <a:off x="4312137" y="4118171"/>
            <a:ext cx="1332547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47" name="Прямая соединительная линия 35"/>
          <p:cNvSpPr/>
          <p:nvPr/>
        </p:nvSpPr>
        <p:spPr>
          <a:xfrm>
            <a:off x="6558333" y="4118171"/>
            <a:ext cx="1332547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48" name="Прямая соединительная линия 36"/>
          <p:cNvSpPr/>
          <p:nvPr/>
        </p:nvSpPr>
        <p:spPr>
          <a:xfrm>
            <a:off x="8780467" y="4118171"/>
            <a:ext cx="1332546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49" name="Прямая соединительная линия 37"/>
          <p:cNvSpPr/>
          <p:nvPr/>
        </p:nvSpPr>
        <p:spPr>
          <a:xfrm>
            <a:off x="1609113" y="3190793"/>
            <a:ext cx="2" cy="573289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50" name="Прямая соединительная линия 38"/>
          <p:cNvSpPr/>
          <p:nvPr/>
        </p:nvSpPr>
        <p:spPr>
          <a:xfrm>
            <a:off x="3855311" y="4472259"/>
            <a:ext cx="1246" cy="575063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51" name="Прямая соединительная линия 39"/>
          <p:cNvSpPr/>
          <p:nvPr/>
        </p:nvSpPr>
        <p:spPr>
          <a:xfrm>
            <a:off x="6095999" y="3190793"/>
            <a:ext cx="5511" cy="573289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52" name="Прямая соединительная линия 40"/>
          <p:cNvSpPr/>
          <p:nvPr/>
        </p:nvSpPr>
        <p:spPr>
          <a:xfrm flipH="1">
            <a:off x="8343441" y="4472259"/>
            <a:ext cx="4265" cy="575063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53" name="Прямая соединительная линия 41"/>
          <p:cNvSpPr/>
          <p:nvPr/>
        </p:nvSpPr>
        <p:spPr>
          <a:xfrm>
            <a:off x="10593900" y="3190793"/>
            <a:ext cx="2" cy="573289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56" name="Скругленный прямоугольник 42"/>
          <p:cNvGrpSpPr/>
          <p:nvPr/>
        </p:nvGrpSpPr>
        <p:grpSpPr>
          <a:xfrm>
            <a:off x="1191126" y="3764081"/>
            <a:ext cx="874815" cy="708180"/>
            <a:chOff x="0" y="0"/>
            <a:chExt cx="874814" cy="708179"/>
          </a:xfrm>
        </p:grpSpPr>
        <p:sp>
          <p:nvSpPr>
            <p:cNvPr id="554" name="Rounded Rectangle"/>
            <p:cNvSpPr/>
            <p:nvPr/>
          </p:nvSpPr>
          <p:spPr>
            <a:xfrm>
              <a:off x="0" y="0"/>
              <a:ext cx="874815" cy="708180"/>
            </a:xfrm>
            <a:prstGeom prst="roundRect">
              <a:avLst>
                <a:gd name="adj" fmla="val 16667"/>
              </a:avLst>
            </a:prstGeom>
            <a:noFill/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/>
                  </a:solidFill>
                </a:defRPr>
              </a:pPr>
            </a:p>
          </p:txBody>
        </p:sp>
        <p:sp>
          <p:nvSpPr>
            <p:cNvPr id="555" name="1"/>
            <p:cNvSpPr txBox="1"/>
            <p:nvPr/>
          </p:nvSpPr>
          <p:spPr>
            <a:xfrm>
              <a:off x="86639" y="124219"/>
              <a:ext cx="701536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400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559" name="Скругленный прямоугольник 43"/>
          <p:cNvGrpSpPr/>
          <p:nvPr/>
        </p:nvGrpSpPr>
        <p:grpSpPr>
          <a:xfrm>
            <a:off x="3412397" y="3762168"/>
            <a:ext cx="874815" cy="708180"/>
            <a:chOff x="0" y="0"/>
            <a:chExt cx="874814" cy="708179"/>
          </a:xfrm>
        </p:grpSpPr>
        <p:sp>
          <p:nvSpPr>
            <p:cNvPr id="557" name="Rounded Rectangle"/>
            <p:cNvSpPr/>
            <p:nvPr/>
          </p:nvSpPr>
          <p:spPr>
            <a:xfrm>
              <a:off x="0" y="0"/>
              <a:ext cx="874815" cy="708180"/>
            </a:xfrm>
            <a:prstGeom prst="roundRect">
              <a:avLst>
                <a:gd name="adj" fmla="val 16667"/>
              </a:avLst>
            </a:prstGeom>
            <a:noFill/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/>
                  </a:solidFill>
                </a:defRPr>
              </a:pPr>
            </a:p>
          </p:txBody>
        </p:sp>
        <p:sp>
          <p:nvSpPr>
            <p:cNvPr id="558" name="2"/>
            <p:cNvSpPr txBox="1"/>
            <p:nvPr/>
          </p:nvSpPr>
          <p:spPr>
            <a:xfrm>
              <a:off x="86639" y="124219"/>
              <a:ext cx="701536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400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562" name="Скругленный прямоугольник 44"/>
          <p:cNvGrpSpPr/>
          <p:nvPr/>
        </p:nvGrpSpPr>
        <p:grpSpPr>
          <a:xfrm>
            <a:off x="5658594" y="3764081"/>
            <a:ext cx="874815" cy="708180"/>
            <a:chOff x="0" y="0"/>
            <a:chExt cx="874814" cy="708179"/>
          </a:xfrm>
        </p:grpSpPr>
        <p:sp>
          <p:nvSpPr>
            <p:cNvPr id="560" name="Rounded Rectangle"/>
            <p:cNvSpPr/>
            <p:nvPr/>
          </p:nvSpPr>
          <p:spPr>
            <a:xfrm>
              <a:off x="0" y="0"/>
              <a:ext cx="874815" cy="708180"/>
            </a:xfrm>
            <a:prstGeom prst="roundRect">
              <a:avLst>
                <a:gd name="adj" fmla="val 16667"/>
              </a:avLst>
            </a:prstGeom>
            <a:noFill/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/>
                  </a:solidFill>
                </a:defRPr>
              </a:pPr>
            </a:p>
          </p:txBody>
        </p:sp>
        <p:sp>
          <p:nvSpPr>
            <p:cNvPr id="561" name="3"/>
            <p:cNvSpPr txBox="1"/>
            <p:nvPr/>
          </p:nvSpPr>
          <p:spPr>
            <a:xfrm>
              <a:off x="86639" y="124219"/>
              <a:ext cx="701536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400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565" name="Скругленный прямоугольник 52"/>
          <p:cNvGrpSpPr/>
          <p:nvPr/>
        </p:nvGrpSpPr>
        <p:grpSpPr>
          <a:xfrm>
            <a:off x="7889751" y="3762166"/>
            <a:ext cx="874815" cy="708180"/>
            <a:chOff x="0" y="0"/>
            <a:chExt cx="874814" cy="708179"/>
          </a:xfrm>
        </p:grpSpPr>
        <p:sp>
          <p:nvSpPr>
            <p:cNvPr id="563" name="Rounded Rectangle"/>
            <p:cNvSpPr/>
            <p:nvPr/>
          </p:nvSpPr>
          <p:spPr>
            <a:xfrm>
              <a:off x="0" y="0"/>
              <a:ext cx="874815" cy="708180"/>
            </a:xfrm>
            <a:prstGeom prst="roundRect">
              <a:avLst>
                <a:gd name="adj" fmla="val 16667"/>
              </a:avLst>
            </a:prstGeom>
            <a:noFill/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/>
                  </a:solidFill>
                </a:defRPr>
              </a:pPr>
            </a:p>
          </p:txBody>
        </p:sp>
        <p:sp>
          <p:nvSpPr>
            <p:cNvPr id="564" name="4"/>
            <p:cNvSpPr txBox="1"/>
            <p:nvPr/>
          </p:nvSpPr>
          <p:spPr>
            <a:xfrm>
              <a:off x="86639" y="124219"/>
              <a:ext cx="701536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400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568" name="Скругленный прямоугольник 53"/>
          <p:cNvGrpSpPr/>
          <p:nvPr/>
        </p:nvGrpSpPr>
        <p:grpSpPr>
          <a:xfrm>
            <a:off x="10113010" y="3764081"/>
            <a:ext cx="874815" cy="708180"/>
            <a:chOff x="0" y="0"/>
            <a:chExt cx="874814" cy="708179"/>
          </a:xfrm>
        </p:grpSpPr>
        <p:sp>
          <p:nvSpPr>
            <p:cNvPr id="566" name="Rounded Rectangle"/>
            <p:cNvSpPr/>
            <p:nvPr/>
          </p:nvSpPr>
          <p:spPr>
            <a:xfrm>
              <a:off x="0" y="0"/>
              <a:ext cx="874815" cy="708180"/>
            </a:xfrm>
            <a:prstGeom prst="roundRect">
              <a:avLst>
                <a:gd name="adj" fmla="val 16667"/>
              </a:avLst>
            </a:prstGeom>
            <a:noFill/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/>
                  </a:solidFill>
                </a:defRPr>
              </a:pPr>
            </a:p>
          </p:txBody>
        </p:sp>
        <p:sp>
          <p:nvSpPr>
            <p:cNvPr id="567" name="5"/>
            <p:cNvSpPr txBox="1"/>
            <p:nvPr/>
          </p:nvSpPr>
          <p:spPr>
            <a:xfrm>
              <a:off x="86639" y="124219"/>
              <a:ext cx="701536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400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569" name="Скругленный прямоугольник 13"/>
          <p:cNvSpPr/>
          <p:nvPr/>
        </p:nvSpPr>
        <p:spPr>
          <a:xfrm>
            <a:off x="329184" y="1572767"/>
            <a:ext cx="2606040" cy="1609345"/>
          </a:xfrm>
          <a:prstGeom prst="roundRect">
            <a:avLst>
              <a:gd name="adj" fmla="val 10884"/>
            </a:avLst>
          </a:prstGeom>
          <a:ln w="12700"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 b="1" sz="2400">
                <a:solidFill>
                  <a:schemeClr val="accent1"/>
                </a:solidFill>
              </a:defRPr>
            </a:pPr>
          </a:p>
        </p:txBody>
      </p:sp>
      <p:sp>
        <p:nvSpPr>
          <p:cNvPr id="570" name="Скругленный прямоугольник 15"/>
          <p:cNvSpPr/>
          <p:nvPr/>
        </p:nvSpPr>
        <p:spPr>
          <a:xfrm>
            <a:off x="4791455" y="1572767"/>
            <a:ext cx="2606041" cy="1609345"/>
          </a:xfrm>
          <a:prstGeom prst="roundRect">
            <a:avLst>
              <a:gd name="adj" fmla="val 10884"/>
            </a:avLst>
          </a:prstGeom>
          <a:ln w="12700"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 b="1" sz="2400">
                <a:solidFill>
                  <a:schemeClr val="accent1"/>
                </a:solidFill>
              </a:defRPr>
            </a:pPr>
          </a:p>
        </p:txBody>
      </p:sp>
      <p:sp>
        <p:nvSpPr>
          <p:cNvPr id="571" name="Скругленный прямоугольник 16"/>
          <p:cNvSpPr/>
          <p:nvPr/>
        </p:nvSpPr>
        <p:spPr>
          <a:xfrm>
            <a:off x="9253728" y="1572767"/>
            <a:ext cx="2606041" cy="1609345"/>
          </a:xfrm>
          <a:prstGeom prst="roundRect">
            <a:avLst>
              <a:gd name="adj" fmla="val 10884"/>
            </a:avLst>
          </a:prstGeom>
          <a:ln w="12700"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 b="1" sz="2400">
                <a:solidFill>
                  <a:schemeClr val="accent1"/>
                </a:solidFill>
              </a:defRPr>
            </a:pPr>
          </a:p>
        </p:txBody>
      </p:sp>
      <p:sp>
        <p:nvSpPr>
          <p:cNvPr id="572" name="Скругленный прямоугольник 17"/>
          <p:cNvSpPr/>
          <p:nvPr/>
        </p:nvSpPr>
        <p:spPr>
          <a:xfrm>
            <a:off x="2471877" y="5047488"/>
            <a:ext cx="2836199" cy="1280161"/>
          </a:xfrm>
          <a:prstGeom prst="roundRect">
            <a:avLst>
              <a:gd name="adj" fmla="val 10884"/>
            </a:avLst>
          </a:prstGeom>
          <a:ln w="12700"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 b="1" sz="2400">
                <a:solidFill>
                  <a:schemeClr val="accent1"/>
                </a:solidFill>
              </a:defRPr>
            </a:pPr>
          </a:p>
        </p:txBody>
      </p:sp>
      <p:sp>
        <p:nvSpPr>
          <p:cNvPr id="573" name="Скругленный прямоугольник 18"/>
          <p:cNvSpPr/>
          <p:nvPr/>
        </p:nvSpPr>
        <p:spPr>
          <a:xfrm>
            <a:off x="6948707" y="5047488"/>
            <a:ext cx="2836198" cy="1280161"/>
          </a:xfrm>
          <a:prstGeom prst="roundRect">
            <a:avLst>
              <a:gd name="adj" fmla="val 10884"/>
            </a:avLst>
          </a:prstGeom>
          <a:ln w="12700"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 b="1" sz="2400">
                <a:solidFill>
                  <a:schemeClr val="accent1"/>
                </a:solidFill>
              </a:defRPr>
            </a:pPr>
          </a:p>
        </p:txBody>
      </p:sp>
      <p:sp>
        <p:nvSpPr>
          <p:cNvPr id="574" name="TextBox 1927752520"/>
          <p:cNvSpPr txBox="1"/>
          <p:nvPr/>
        </p:nvSpPr>
        <p:spPr>
          <a:xfrm>
            <a:off x="365759" y="1033271"/>
            <a:ext cx="11430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520978"/>
                </a:solidFill>
              </a:defRPr>
            </a:lvl1pPr>
          </a:lstStyle>
          <a:p>
            <a:pPr/>
            <a:r>
              <a:t>Внешний вид стоит дёшево, новые возможности стоят дорого.</a:t>
            </a:r>
          </a:p>
        </p:txBody>
      </p:sp>
      <p:sp>
        <p:nvSpPr>
          <p:cNvPr id="575" name="TextBox 1927752521"/>
          <p:cNvSpPr txBox="1"/>
          <p:nvPr/>
        </p:nvSpPr>
        <p:spPr>
          <a:xfrm>
            <a:off x="493776" y="1691639"/>
            <a:ext cx="2276857" cy="96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b="1" sz="1500">
                <a:solidFill>
                  <a:schemeClr val="accent1"/>
                </a:solidFill>
              </a:defRPr>
            </a:pPr>
            <a:r>
              <a:t>15-80 дз.</a:t>
            </a:r>
          </a:p>
          <a:p>
            <a:pPr>
              <a:spcBef>
                <a:spcPts val="300"/>
              </a:spcBef>
              <a:defRPr b="1" sz="1200">
                <a:solidFill>
                  <a:srgbClr val="520978"/>
                </a:solidFill>
              </a:defRPr>
            </a:pPr>
            <a:r>
              <a:t>Внешний вид</a:t>
            </a:r>
          </a:p>
          <a:p>
            <a:pPr>
              <a:lnSpc>
                <a:spcPct val="103000"/>
              </a:lnSpc>
              <a:defRPr sz="1100">
                <a:solidFill>
                  <a:srgbClr val="1C1D22"/>
                </a:solidFill>
              </a:defRPr>
            </a:pPr>
            <a:r>
              <a:t>Окрас, бантик, плед, наклейки. Из мешочка «Хочу» можно покупать каждый день.</a:t>
            </a:r>
          </a:p>
        </p:txBody>
      </p:sp>
      <p:sp>
        <p:nvSpPr>
          <p:cNvPr id="576" name="TextBox 1927752522"/>
          <p:cNvSpPr txBox="1"/>
          <p:nvPr/>
        </p:nvSpPr>
        <p:spPr>
          <a:xfrm>
            <a:off x="2636470" y="5166359"/>
            <a:ext cx="2507014" cy="792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b="1" sz="1500">
                <a:solidFill>
                  <a:schemeClr val="accent1"/>
                </a:solidFill>
              </a:defRPr>
            </a:pPr>
            <a:r>
              <a:t>250 дз.</a:t>
            </a:r>
          </a:p>
          <a:p>
            <a:pPr>
              <a:spcBef>
                <a:spcPts val="300"/>
              </a:spcBef>
              <a:defRPr b="1" sz="1200">
                <a:solidFill>
                  <a:srgbClr val="520978"/>
                </a:solidFill>
              </a:defRPr>
            </a:pPr>
            <a:r>
              <a:t>Огород на окне</a:t>
            </a:r>
          </a:p>
          <a:p>
            <a:pPr>
              <a:lnSpc>
                <a:spcPct val="103000"/>
              </a:lnSpc>
              <a:defRPr sz="1100">
                <a:solidFill>
                  <a:srgbClr val="1C1D22"/>
                </a:solidFill>
              </a:defRPr>
            </a:pPr>
            <a:r>
              <a:t>Семена всходят за 2 дня, еда обходится на 12 дз. в день дешевле.</a:t>
            </a:r>
          </a:p>
        </p:txBody>
      </p:sp>
      <p:sp>
        <p:nvSpPr>
          <p:cNvPr id="577" name="TextBox 1927752523"/>
          <p:cNvSpPr txBox="1"/>
          <p:nvPr/>
        </p:nvSpPr>
        <p:spPr>
          <a:xfrm>
            <a:off x="4956047" y="1691639"/>
            <a:ext cx="2276857" cy="96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b="1" sz="1500">
                <a:solidFill>
                  <a:schemeClr val="accent1"/>
                </a:solidFill>
              </a:defRPr>
            </a:pPr>
            <a:r>
              <a:t>600 дз.</a:t>
            </a:r>
          </a:p>
          <a:p>
            <a:pPr>
              <a:spcBef>
                <a:spcPts val="300"/>
              </a:spcBef>
              <a:defRPr b="1" sz="1200">
                <a:solidFill>
                  <a:srgbClr val="520978"/>
                </a:solidFill>
              </a:defRPr>
            </a:pPr>
            <a:r>
              <a:t>Коробка с инструментами</a:t>
            </a:r>
          </a:p>
          <a:p>
            <a:pPr>
              <a:lnSpc>
                <a:spcPct val="103000"/>
              </a:lnSpc>
              <a:defRPr sz="1100">
                <a:solidFill>
                  <a:srgbClr val="1C1D22"/>
                </a:solidFill>
              </a:defRPr>
            </a:pPr>
            <a:r>
              <a:t>Появляется выбор: починить вещь за 20 дз. или купить новую за 90 дз.</a:t>
            </a:r>
          </a:p>
        </p:txBody>
      </p:sp>
      <p:sp>
        <p:nvSpPr>
          <p:cNvPr id="578" name="TextBox 1927752524"/>
          <p:cNvSpPr txBox="1"/>
          <p:nvPr/>
        </p:nvSpPr>
        <p:spPr>
          <a:xfrm>
            <a:off x="7113299" y="5166359"/>
            <a:ext cx="2507014" cy="792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b="1" sz="1500">
                <a:solidFill>
                  <a:schemeClr val="accent1"/>
                </a:solidFill>
              </a:defRPr>
            </a:pPr>
            <a:r>
              <a:t>900 дз.</a:t>
            </a:r>
          </a:p>
          <a:p>
            <a:pPr>
              <a:spcBef>
                <a:spcPts val="300"/>
              </a:spcBef>
              <a:defRPr b="1" sz="1200">
                <a:solidFill>
                  <a:srgbClr val="520978"/>
                </a:solidFill>
              </a:defRPr>
            </a:pPr>
            <a:r>
              <a:t>Окно во двор</a:t>
            </a:r>
          </a:p>
          <a:p>
            <a:pPr>
              <a:lnSpc>
                <a:spcPct val="103000"/>
              </a:lnSpc>
              <a:defRPr sz="1100">
                <a:solidFill>
                  <a:srgbClr val="1C1D22"/>
                </a:solidFill>
              </a:defRPr>
            </a:pPr>
            <a:r>
              <a:t>Приходят гости и торговец Шорох с тележкой: обмен и торг.</a:t>
            </a:r>
          </a:p>
        </p:txBody>
      </p:sp>
      <p:sp>
        <p:nvSpPr>
          <p:cNvPr id="579" name="TextBox 1927752525"/>
          <p:cNvSpPr txBox="1"/>
          <p:nvPr/>
        </p:nvSpPr>
        <p:spPr>
          <a:xfrm>
            <a:off x="9418318" y="1691639"/>
            <a:ext cx="2276857" cy="96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b="1" sz="1500">
                <a:solidFill>
                  <a:schemeClr val="accent1"/>
                </a:solidFill>
              </a:defRPr>
            </a:pPr>
            <a:r>
              <a:t>1600 дз.</a:t>
            </a:r>
          </a:p>
          <a:p>
            <a:pPr>
              <a:spcBef>
                <a:spcPts val="300"/>
              </a:spcBef>
              <a:defRPr b="1" sz="1200">
                <a:solidFill>
                  <a:srgbClr val="520978"/>
                </a:solidFill>
              </a:defRPr>
            </a:pPr>
            <a:r>
              <a:t>Финал</a:t>
            </a:r>
          </a:p>
          <a:p>
            <a:pPr>
              <a:lnSpc>
                <a:spcPct val="103000"/>
              </a:lnSpc>
              <a:defRPr sz="1100">
                <a:solidFill>
                  <a:srgbClr val="1C1D22"/>
                </a:solidFill>
              </a:defRPr>
            </a:pPr>
            <a:r>
              <a:t>В комнату переезжает второй найдёныш. 5 частей по 320 дз., порядок веток выбирает ребёнок.</a:t>
            </a:r>
          </a:p>
        </p:txBody>
      </p:sp>
      <p:sp>
        <p:nvSpPr>
          <p:cNvPr id="580" name="TextBox 1927752526"/>
          <p:cNvSpPr txBox="1"/>
          <p:nvPr/>
        </p:nvSpPr>
        <p:spPr>
          <a:xfrm>
            <a:off x="365759" y="5120640"/>
            <a:ext cx="1965962" cy="511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100">
                <a:solidFill>
                  <a:srgbClr val="5E5868"/>
                </a:solidFill>
              </a:defRPr>
            </a:lvl1pPr>
          </a:lstStyle>
          <a:p>
            <a:pPr/>
            <a:r>
              <a:t>Радости от ХОЧУ  приходят сразу, возможности питомца остаются прежними.</a:t>
            </a:r>
          </a:p>
        </p:txBody>
      </p:sp>
      <p:sp>
        <p:nvSpPr>
          <p:cNvPr id="581" name="TextBox 1927752527"/>
          <p:cNvSpPr txBox="1"/>
          <p:nvPr/>
        </p:nvSpPr>
        <p:spPr>
          <a:xfrm>
            <a:off x="10058400" y="5120640"/>
            <a:ext cx="1828800" cy="6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100">
                <a:solidFill>
                  <a:srgbClr val="5E5868"/>
                </a:solidFill>
              </a:defRPr>
            </a:lvl1pPr>
          </a:lstStyle>
          <a:p>
            <a:pPr/>
            <a:r>
              <a:t>По Рафу Костеру, интерес держится, пока открывается новый паттерн.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Скругленный прямоугольник 22"/>
          <p:cNvGrpSpPr/>
          <p:nvPr/>
        </p:nvGrpSpPr>
        <p:grpSpPr>
          <a:xfrm>
            <a:off x="346075" y="324561"/>
            <a:ext cx="6280133" cy="620920"/>
            <a:chOff x="0" y="0"/>
            <a:chExt cx="6280132" cy="620918"/>
          </a:xfrm>
        </p:grpSpPr>
        <p:sp>
          <p:nvSpPr>
            <p:cNvPr id="583" name="Rounded Rectangle"/>
            <p:cNvSpPr/>
            <p:nvPr/>
          </p:nvSpPr>
          <p:spPr>
            <a:xfrm>
              <a:off x="0" y="0"/>
              <a:ext cx="6280133" cy="620919"/>
            </a:xfrm>
            <a:prstGeom prst="roundRect">
              <a:avLst>
                <a:gd name="adj" fmla="val 1870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584" name="СОЗДАНО С УЧЕТОМ ТЕОРИИ ГЕЙМДИЗАЙНА"/>
            <p:cNvSpPr txBox="1"/>
            <p:nvPr/>
          </p:nvSpPr>
          <p:spPr>
            <a:xfrm>
              <a:off x="198610" y="139771"/>
              <a:ext cx="5936918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СОЗДАНО С УЧЕТОМ ТЕОРИИ ГЕЙМДИЗАЙНА</a:t>
              </a:r>
            </a:p>
          </p:txBody>
        </p:sp>
      </p:grpSp>
      <p:sp>
        <p:nvSpPr>
          <p:cNvPr id="586" name="Номер слайда 20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87" name="Текст 1"/>
          <p:cNvSpPr txBox="1"/>
          <p:nvPr>
            <p:ph type="body" sz="quarter" idx="1"/>
          </p:nvPr>
        </p:nvSpPr>
        <p:spPr>
          <a:xfrm>
            <a:off x="1325880" y="1481327"/>
            <a:ext cx="4754880" cy="365761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 sz="1400">
                <a:solidFill>
                  <a:srgbClr val="520978"/>
                </a:solidFill>
              </a:defRPr>
            </a:lvl1pPr>
          </a:lstStyle>
          <a:p>
            <a:pPr/>
            <a:r>
              <a:t>Джесси Шелл, «Искусство геймдизайна»</a:t>
            </a:r>
          </a:p>
        </p:txBody>
      </p:sp>
      <p:sp>
        <p:nvSpPr>
          <p:cNvPr id="588" name="Текст 2"/>
          <p:cNvSpPr/>
          <p:nvPr>
            <p:ph type="body" idx="21"/>
          </p:nvPr>
        </p:nvSpPr>
        <p:spPr>
          <a:xfrm>
            <a:off x="1325880" y="1892807"/>
            <a:ext cx="4754880" cy="10515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marL="0" indent="0">
              <a:lnSpc>
                <a:spcPct val="108000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Каждое решение проверено линзами: Essential Experience, Endogenous Value, Flow, Surprise, Curiosity, Emotion, Transformation.</a:t>
            </a:r>
          </a:p>
        </p:txBody>
      </p:sp>
      <p:sp>
        <p:nvSpPr>
          <p:cNvPr id="589" name="Текст 3"/>
          <p:cNvSpPr/>
          <p:nvPr>
            <p:ph type="body" idx="22"/>
          </p:nvPr>
        </p:nvSpPr>
        <p:spPr>
          <a:xfrm>
            <a:off x="1325880" y="3172967"/>
            <a:ext cx="4754880" cy="3657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spcBef>
                <a:spcPts val="0"/>
              </a:spcBef>
              <a:defRPr sz="1400">
                <a:solidFill>
                  <a:srgbClr val="520978"/>
                </a:solidFill>
              </a:defRPr>
            </a:lvl1pPr>
          </a:lstStyle>
          <a:p>
            <a:pPr/>
            <a:r>
              <a:t>Трейси Фуллертон, «Game Design Workshop»</a:t>
            </a:r>
          </a:p>
        </p:txBody>
      </p:sp>
      <p:sp>
        <p:nvSpPr>
          <p:cNvPr id="590" name="Текст 4"/>
          <p:cNvSpPr/>
          <p:nvPr>
            <p:ph type="body" idx="23"/>
          </p:nvPr>
        </p:nvSpPr>
        <p:spPr>
          <a:xfrm>
            <a:off x="1325880" y="3584447"/>
            <a:ext cx="4754880" cy="10515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marL="0" indent="0">
              <a:lnSpc>
                <a:spcPct val="108000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Цели опыта игрока: «я забочусь о ком-то настоящем», «я решаю и вижу результат». Плейтест с детьми запланирован на каждом этапе.</a:t>
            </a:r>
          </a:p>
        </p:txBody>
      </p:sp>
      <p:sp>
        <p:nvSpPr>
          <p:cNvPr id="591" name="Текст 5"/>
          <p:cNvSpPr/>
          <p:nvPr>
            <p:ph type="body" idx="24"/>
          </p:nvPr>
        </p:nvSpPr>
        <p:spPr>
          <a:xfrm>
            <a:off x="1325880" y="4864608"/>
            <a:ext cx="4754880" cy="3657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spcBef>
                <a:spcPts val="0"/>
              </a:spcBef>
              <a:defRPr sz="1400">
                <a:solidFill>
                  <a:srgbClr val="520978"/>
                </a:solidFill>
              </a:defRPr>
            </a:lvl1pPr>
          </a:lstStyle>
          <a:p>
            <a:pPr/>
            <a:r>
              <a:t>Этика игры</a:t>
            </a:r>
          </a:p>
        </p:txBody>
      </p:sp>
      <p:sp>
        <p:nvSpPr>
          <p:cNvPr id="592" name="Текст 6"/>
          <p:cNvSpPr/>
          <p:nvPr>
            <p:ph type="body" idx="25"/>
          </p:nvPr>
        </p:nvSpPr>
        <p:spPr>
          <a:xfrm>
            <a:off x="1325880" y="5276088"/>
            <a:ext cx="4754880" cy="10515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marL="0" indent="0">
              <a:lnSpc>
                <a:spcPct val="108000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Питомец не погибает и не уходит. Нет долгов, штрафов, отрицательного баланса, давления сериями дней и сравнения с другими детьми.</a:t>
            </a:r>
          </a:p>
        </p:txBody>
      </p:sp>
      <p:sp>
        <p:nvSpPr>
          <p:cNvPr id="593" name="Текст 7"/>
          <p:cNvSpPr/>
          <p:nvPr>
            <p:ph type="body" idx="26"/>
          </p:nvPr>
        </p:nvSpPr>
        <p:spPr>
          <a:xfrm>
            <a:off x="7132319" y="1481327"/>
            <a:ext cx="4754881" cy="3657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spcBef>
                <a:spcPts val="0"/>
              </a:spcBef>
              <a:defRPr sz="1400">
                <a:solidFill>
                  <a:srgbClr val="520978"/>
                </a:solidFill>
              </a:defRPr>
            </a:lvl1pPr>
          </a:lstStyle>
          <a:p>
            <a:pPr/>
            <a:r>
              <a:t>Раф Костер, «Теория развлечений»</a:t>
            </a:r>
          </a:p>
        </p:txBody>
      </p:sp>
      <p:sp>
        <p:nvSpPr>
          <p:cNvPr id="594" name="Текст 8"/>
          <p:cNvSpPr/>
          <p:nvPr>
            <p:ph type="body" idx="27"/>
          </p:nvPr>
        </p:nvSpPr>
        <p:spPr>
          <a:xfrm>
            <a:off x="7132319" y="1892807"/>
            <a:ext cx="4754881" cy="10515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marL="0" indent="0">
              <a:lnSpc>
                <a:spcPct val="108000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Веселье возникает, когда игрок осваивает новый паттерн в безопасной среде. Интерес держится, пока открывается новое занятие.</a:t>
            </a:r>
          </a:p>
        </p:txBody>
      </p:sp>
      <p:sp>
        <p:nvSpPr>
          <p:cNvPr id="595" name="Текст 9"/>
          <p:cNvSpPr/>
          <p:nvPr>
            <p:ph type="body" idx="28"/>
          </p:nvPr>
        </p:nvSpPr>
        <p:spPr>
          <a:xfrm>
            <a:off x="7132319" y="3172967"/>
            <a:ext cx="4754881" cy="3657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spcBef>
                <a:spcPts val="0"/>
              </a:spcBef>
              <a:defRPr sz="1400">
                <a:solidFill>
                  <a:srgbClr val="520978"/>
                </a:solidFill>
              </a:defRPr>
            </a:lvl1pPr>
          </a:lstStyle>
          <a:p>
            <a:pPr/>
            <a:r>
              <a:t>Кэти Сален и Эрик Циммерман, «Rules of Play»</a:t>
            </a:r>
          </a:p>
        </p:txBody>
      </p:sp>
      <p:sp>
        <p:nvSpPr>
          <p:cNvPr id="596" name="Текст 10"/>
          <p:cNvSpPr/>
          <p:nvPr>
            <p:ph type="body" idx="29"/>
          </p:nvPr>
        </p:nvSpPr>
        <p:spPr>
          <a:xfrm>
            <a:off x="7132319" y="3584447"/>
            <a:ext cx="4754881" cy="10515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marL="0" indent="0">
              <a:lnSpc>
                <a:spcPct val="108000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Значимый выбор: цена видна до решения, у решения есть последствие, и игра показывает его в ту же сессию.</a:t>
            </a:r>
          </a:p>
        </p:txBody>
      </p:sp>
      <p:sp>
        <p:nvSpPr>
          <p:cNvPr id="597" name="Текст 11"/>
          <p:cNvSpPr/>
          <p:nvPr>
            <p:ph type="body" idx="30"/>
          </p:nvPr>
        </p:nvSpPr>
        <p:spPr>
          <a:xfrm>
            <a:off x="7132319" y="4864608"/>
            <a:ext cx="4754881" cy="3657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spcBef>
                <a:spcPts val="0"/>
              </a:spcBef>
              <a:defRPr sz="1400">
                <a:solidFill>
                  <a:srgbClr val="520978"/>
                </a:solidFill>
              </a:defRPr>
            </a:lvl1pPr>
          </a:lstStyle>
          <a:p>
            <a:pPr/>
            <a:r>
              <a:t>Финансовая программа</a:t>
            </a:r>
          </a:p>
        </p:txBody>
      </p:sp>
      <p:sp>
        <p:nvSpPr>
          <p:cNvPr id="598" name="Текст 12"/>
          <p:cNvSpPr/>
          <p:nvPr>
            <p:ph type="body" idx="31"/>
          </p:nvPr>
        </p:nvSpPr>
        <p:spPr>
          <a:xfrm>
            <a:off x="7132319" y="5276088"/>
            <a:ext cx="4754881" cy="10515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marL="0" indent="0">
              <a:lnSpc>
                <a:spcPct val="108000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16 компетенций Единой рамки компетенций по финансовой грамотности привязаны к механикам и заданиям, отдельно для 6-8 и 9-12 лет.</a:t>
            </a:r>
          </a:p>
        </p:txBody>
      </p:sp>
      <p:sp>
        <p:nvSpPr>
          <p:cNvPr id="599" name="Текст 14"/>
          <p:cNvSpPr/>
          <p:nvPr>
            <p:ph type="body" idx="32"/>
          </p:nvPr>
        </p:nvSpPr>
        <p:spPr>
          <a:xfrm>
            <a:off x="548639" y="1444752"/>
            <a:ext cx="731522" cy="457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578754">
              <a:spcBef>
                <a:spcPts val="0"/>
              </a:spcBef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00" name="Текст 15"/>
          <p:cNvSpPr/>
          <p:nvPr>
            <p:ph type="body" idx="33"/>
          </p:nvPr>
        </p:nvSpPr>
        <p:spPr>
          <a:xfrm>
            <a:off x="548639" y="3136392"/>
            <a:ext cx="731522" cy="457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578754">
              <a:spcBef>
                <a:spcPts val="0"/>
              </a:spcBef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01" name="Текст 16"/>
          <p:cNvSpPr/>
          <p:nvPr>
            <p:ph type="body" idx="34"/>
          </p:nvPr>
        </p:nvSpPr>
        <p:spPr>
          <a:xfrm>
            <a:off x="548639" y="4828032"/>
            <a:ext cx="731522" cy="457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578754">
              <a:spcBef>
                <a:spcPts val="0"/>
              </a:spcBef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02" name="Текст 17"/>
          <p:cNvSpPr/>
          <p:nvPr>
            <p:ph type="body" idx="35"/>
          </p:nvPr>
        </p:nvSpPr>
        <p:spPr>
          <a:xfrm>
            <a:off x="6355079" y="1444752"/>
            <a:ext cx="731521" cy="457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578754">
              <a:spcBef>
                <a:spcPts val="0"/>
              </a:spcBef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03" name="Текст 18"/>
          <p:cNvSpPr/>
          <p:nvPr>
            <p:ph type="body" idx="36"/>
          </p:nvPr>
        </p:nvSpPr>
        <p:spPr>
          <a:xfrm>
            <a:off x="6355079" y="3136392"/>
            <a:ext cx="731521" cy="457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578754">
              <a:spcBef>
                <a:spcPts val="0"/>
              </a:spcBef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04" name="Текст 19"/>
          <p:cNvSpPr/>
          <p:nvPr>
            <p:ph type="body" idx="37"/>
          </p:nvPr>
        </p:nvSpPr>
        <p:spPr>
          <a:xfrm>
            <a:off x="6355079" y="4828032"/>
            <a:ext cx="731521" cy="457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578754">
              <a:spcBef>
                <a:spcPts val="0"/>
              </a:spcBef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Скругленный прямоугольник 11"/>
          <p:cNvSpPr/>
          <p:nvPr/>
        </p:nvSpPr>
        <p:spPr>
          <a:xfrm>
            <a:off x="401056" y="5074920"/>
            <a:ext cx="2739251" cy="1170433"/>
          </a:xfrm>
          <a:prstGeom prst="roundRect">
            <a:avLst>
              <a:gd name="adj" fmla="val 515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607" name="Скругленный прямоугольник 13"/>
          <p:cNvSpPr/>
          <p:nvPr/>
        </p:nvSpPr>
        <p:spPr>
          <a:xfrm>
            <a:off x="3302625" y="5074920"/>
            <a:ext cx="2739250" cy="1170433"/>
          </a:xfrm>
          <a:prstGeom prst="roundRect">
            <a:avLst>
              <a:gd name="adj" fmla="val 515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608" name="Скругленный прямоугольник 14"/>
          <p:cNvSpPr/>
          <p:nvPr/>
        </p:nvSpPr>
        <p:spPr>
          <a:xfrm>
            <a:off x="6204193" y="5074920"/>
            <a:ext cx="2739250" cy="1170433"/>
          </a:xfrm>
          <a:prstGeom prst="roundRect">
            <a:avLst>
              <a:gd name="adj" fmla="val 515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609" name="Скругленный прямоугольник 15"/>
          <p:cNvSpPr/>
          <p:nvPr/>
        </p:nvSpPr>
        <p:spPr>
          <a:xfrm>
            <a:off x="9105761" y="5074920"/>
            <a:ext cx="2739250" cy="1170433"/>
          </a:xfrm>
          <a:prstGeom prst="roundRect">
            <a:avLst>
              <a:gd name="adj" fmla="val 5151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grpSp>
        <p:nvGrpSpPr>
          <p:cNvPr id="612" name="Скругленный прямоугольник 9"/>
          <p:cNvGrpSpPr/>
          <p:nvPr/>
        </p:nvGrpSpPr>
        <p:grpSpPr>
          <a:xfrm>
            <a:off x="346074" y="324561"/>
            <a:ext cx="4253965" cy="620920"/>
            <a:chOff x="0" y="0"/>
            <a:chExt cx="4253963" cy="620918"/>
          </a:xfrm>
        </p:grpSpPr>
        <p:sp>
          <p:nvSpPr>
            <p:cNvPr id="610" name="Rounded Rectangle"/>
            <p:cNvSpPr/>
            <p:nvPr/>
          </p:nvSpPr>
          <p:spPr>
            <a:xfrm>
              <a:off x="0" y="0"/>
              <a:ext cx="4253964" cy="620919"/>
            </a:xfrm>
            <a:prstGeom prst="roundRect">
              <a:avLst>
                <a:gd name="adj" fmla="val 1870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11" name="КАРТИНЫ ЖИЗНИ ДЗЫНЯ"/>
            <p:cNvSpPr txBox="1"/>
            <p:nvPr/>
          </p:nvSpPr>
          <p:spPr>
            <a:xfrm>
              <a:off x="198611" y="139771"/>
              <a:ext cx="3429535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КАРТИНЫ ЖИЗНИ ДЗЫНЯ</a:t>
              </a:r>
            </a:p>
          </p:txBody>
        </p:sp>
      </p:grpSp>
      <p:sp>
        <p:nvSpPr>
          <p:cNvPr id="613" name="Номер слайда 10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4" name="Текст 5"/>
          <p:cNvSpPr txBox="1"/>
          <p:nvPr>
            <p:ph type="body" sz="quarter" idx="1"/>
          </p:nvPr>
        </p:nvSpPr>
        <p:spPr>
          <a:xfrm>
            <a:off x="401056" y="5074920"/>
            <a:ext cx="2739251" cy="1170433"/>
          </a:xfrm>
          <a:prstGeom prst="rect">
            <a:avLst/>
          </a:prstGeom>
        </p:spPr>
        <p:txBody>
          <a:bodyPr lIns="54864" tIns="54864" rIns="54864" bIns="54864" anchor="ctr"/>
          <a:lstStyle/>
          <a:p>
            <a:pPr marL="0" indent="0">
              <a:spcBef>
                <a:spcPts val="300"/>
              </a:spcBef>
              <a:buSzTx/>
              <a:buNone/>
              <a:defRPr b="1" sz="1200">
                <a:solidFill>
                  <a:srgbClr val="520978"/>
                </a:solidFill>
              </a:defRPr>
            </a:pPr>
            <a:r>
              <a:t>Задания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buSzTx/>
              <a:buNone/>
              <a:defRPr sz="1100">
                <a:solidFill>
                  <a:srgbClr val="1C1D22"/>
                </a:solidFill>
              </a:defRPr>
            </a:pPr>
            <a:r>
              <a:t>Сюжет недели и задания по темам: бюджет, копилка, покупки. За каждое начисляются дзыньки.</a:t>
            </a:r>
          </a:p>
        </p:txBody>
      </p:sp>
      <p:sp>
        <p:nvSpPr>
          <p:cNvPr id="615" name="Текст 6"/>
          <p:cNvSpPr/>
          <p:nvPr>
            <p:ph type="body" idx="25"/>
          </p:nvPr>
        </p:nvSpPr>
        <p:spPr>
          <a:xfrm>
            <a:off x="3302625" y="5074920"/>
            <a:ext cx="2739250" cy="11704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/>
          <a:lstStyle/>
          <a:p>
            <a:pPr marL="0" indent="0">
              <a:spcBef>
                <a:spcPts val="300"/>
              </a:spcBef>
              <a:buSzTx/>
              <a:buNone/>
              <a:defRPr b="1" sz="1200">
                <a:solidFill>
                  <a:srgbClr val="520978"/>
                </a:solidFill>
              </a:defRPr>
            </a:pPr>
            <a:r>
              <a:t>План недели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buSzTx/>
              <a:buNone/>
              <a:defRPr sz="1100">
                <a:solidFill>
                  <a:srgbClr val="1C1D22"/>
                </a:solidFill>
              </a:defRPr>
            </a:pPr>
            <a:r>
              <a:t>Доход раскладывается по мешочкам «Нужное», «Хочу», «Копилка». Питомец предлагает доли, решает ребёнок.</a:t>
            </a:r>
          </a:p>
        </p:txBody>
      </p:sp>
      <p:sp>
        <p:nvSpPr>
          <p:cNvPr id="616" name="Текст 7"/>
          <p:cNvSpPr/>
          <p:nvPr>
            <p:ph type="body" idx="26"/>
          </p:nvPr>
        </p:nvSpPr>
        <p:spPr>
          <a:xfrm>
            <a:off x="6204192" y="5074920"/>
            <a:ext cx="2739251" cy="11704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/>
          <a:lstStyle/>
          <a:p>
            <a:pPr marL="0" indent="0">
              <a:spcBef>
                <a:spcPts val="300"/>
              </a:spcBef>
              <a:buSzTx/>
              <a:buNone/>
              <a:defRPr b="1" sz="1200">
                <a:solidFill>
                  <a:srgbClr val="520978"/>
                </a:solidFill>
              </a:defRPr>
            </a:pPr>
            <a:r>
              <a:t>Копилка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buSzTx/>
              <a:buNone/>
              <a:defRPr sz="1100">
                <a:solidFill>
                  <a:srgbClr val="1C1D22"/>
                </a:solidFill>
              </a:defRPr>
            </a:pPr>
            <a:r>
              <a:t>Цель, накоплено, осталось и срок при текущем темпе. Снять можно в любой момент.</a:t>
            </a:r>
          </a:p>
        </p:txBody>
      </p:sp>
      <p:sp>
        <p:nvSpPr>
          <p:cNvPr id="617" name="Текст 8"/>
          <p:cNvSpPr/>
          <p:nvPr>
            <p:ph type="body" idx="27"/>
          </p:nvPr>
        </p:nvSpPr>
        <p:spPr>
          <a:xfrm>
            <a:off x="9105761" y="5074920"/>
            <a:ext cx="2739250" cy="11704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/>
          <a:lstStyle/>
          <a:p>
            <a:pPr marL="0" indent="0">
              <a:spcBef>
                <a:spcPts val="300"/>
              </a:spcBef>
              <a:buSzTx/>
              <a:buNone/>
              <a:defRPr b="1" sz="1200">
                <a:solidFill>
                  <a:srgbClr val="520978"/>
                </a:solidFill>
              </a:defRPr>
            </a:pPr>
            <a:r>
              <a:t>Задача на планирование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buSzTx/>
              <a:buNone/>
              <a:defRPr sz="1100">
                <a:solidFill>
                  <a:srgbClr val="1C1D22"/>
                </a:solidFill>
              </a:defRPr>
            </a:pPr>
            <a:r>
              <a:t>Сколько откладывать в неделю, чтобы успеть к сроку? Любой ответ ведёт к разбору.</a:t>
            </a:r>
          </a:p>
        </p:txBody>
      </p:sp>
      <p:grpSp>
        <p:nvGrpSpPr>
          <p:cNvPr id="620" name="Screenshot 2026-09-29 at 22.23.16.png"/>
          <p:cNvGrpSpPr/>
          <p:nvPr/>
        </p:nvGrpSpPr>
        <p:grpSpPr>
          <a:xfrm>
            <a:off x="7420139" y="1234100"/>
            <a:ext cx="2120254" cy="3732673"/>
            <a:chOff x="0" y="0"/>
            <a:chExt cx="2120252" cy="3732671"/>
          </a:xfrm>
        </p:grpSpPr>
        <p:pic>
          <p:nvPicPr>
            <p:cNvPr id="619" name="Screenshot 2026-09-29 at 22.23.16.png" descr="Screenshot 2026-09-29 at 22.23.16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0800" y="63500"/>
              <a:ext cx="2018653" cy="360567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618" name="Screenshot 2026-09-29 at 22.23.16.png" descr="Screenshot 2026-09-29 at 22.23.16.pn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120253" cy="3732672"/>
            </a:xfrm>
            <a:prstGeom prst="rect">
              <a:avLst/>
            </a:prstGeom>
            <a:effectLst/>
          </p:spPr>
        </p:pic>
      </p:grpSp>
      <p:grpSp>
        <p:nvGrpSpPr>
          <p:cNvPr id="623" name="Screenshot 2026-09-29 at 22.23.09.png"/>
          <p:cNvGrpSpPr/>
          <p:nvPr/>
        </p:nvGrpSpPr>
        <p:grpSpPr>
          <a:xfrm>
            <a:off x="5035873" y="1234100"/>
            <a:ext cx="2120254" cy="3732673"/>
            <a:chOff x="0" y="0"/>
            <a:chExt cx="2120252" cy="3732671"/>
          </a:xfrm>
        </p:grpSpPr>
        <p:pic>
          <p:nvPicPr>
            <p:cNvPr id="622" name="Screenshot 2026-09-29 at 22.23.09.png" descr="Screenshot 2026-09-29 at 22.23.09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0800" y="63499"/>
              <a:ext cx="2018653" cy="3605673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621" name="Screenshot 2026-09-29 at 22.23.09.png" descr="Screenshot 2026-09-29 at 22.23.09.pn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-1"/>
              <a:ext cx="2120253" cy="3732673"/>
            </a:xfrm>
            <a:prstGeom prst="rect">
              <a:avLst/>
            </a:prstGeom>
            <a:effectLst/>
          </p:spPr>
        </p:pic>
      </p:grpSp>
      <p:grpSp>
        <p:nvGrpSpPr>
          <p:cNvPr id="626" name="Screenshot 2026-09-29 at 22.23.06.png"/>
          <p:cNvGrpSpPr/>
          <p:nvPr/>
        </p:nvGrpSpPr>
        <p:grpSpPr>
          <a:xfrm>
            <a:off x="353356" y="1234100"/>
            <a:ext cx="2120254" cy="3732673"/>
            <a:chOff x="0" y="0"/>
            <a:chExt cx="2120252" cy="3732671"/>
          </a:xfrm>
        </p:grpSpPr>
        <p:pic>
          <p:nvPicPr>
            <p:cNvPr id="625" name="Screenshot 2026-09-29 at 22.23.06.png" descr="Screenshot 2026-09-29 at 22.23.06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50800" y="63500"/>
              <a:ext cx="2018653" cy="360567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624" name="Screenshot 2026-09-29 at 22.23.06.png" descr="Screenshot 2026-09-29 at 22.23.06.pn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120253" cy="3732672"/>
            </a:xfrm>
            <a:prstGeom prst="rect">
              <a:avLst/>
            </a:prstGeom>
            <a:effectLst/>
          </p:spPr>
        </p:pic>
      </p:grpSp>
      <p:grpSp>
        <p:nvGrpSpPr>
          <p:cNvPr id="629" name="Screenshot 2026-09-29 at 22.23.02.png"/>
          <p:cNvGrpSpPr/>
          <p:nvPr/>
        </p:nvGrpSpPr>
        <p:grpSpPr>
          <a:xfrm>
            <a:off x="9804405" y="1234101"/>
            <a:ext cx="2120254" cy="3732672"/>
            <a:chOff x="0" y="0"/>
            <a:chExt cx="2120252" cy="3732670"/>
          </a:xfrm>
        </p:grpSpPr>
        <p:pic>
          <p:nvPicPr>
            <p:cNvPr id="628" name="Screenshot 2026-09-29 at 22.23.02.png" descr="Screenshot 2026-09-29 at 22.23.02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50800" y="63500"/>
              <a:ext cx="2018653" cy="360567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627" name="Screenshot 2026-09-29 at 22.23.02.png" descr="Screenshot 2026-09-29 at 22.23.02.pn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120253" cy="3732671"/>
            </a:xfrm>
            <a:prstGeom prst="rect">
              <a:avLst/>
            </a:prstGeom>
            <a:effectLst/>
          </p:spPr>
        </p:pic>
      </p:grpSp>
      <p:grpSp>
        <p:nvGrpSpPr>
          <p:cNvPr id="632" name="Screenshot 2026-09-29 at 22.22.53.png"/>
          <p:cNvGrpSpPr/>
          <p:nvPr/>
        </p:nvGrpSpPr>
        <p:grpSpPr>
          <a:xfrm>
            <a:off x="2694614" y="1234100"/>
            <a:ext cx="2120254" cy="3732673"/>
            <a:chOff x="0" y="0"/>
            <a:chExt cx="2120252" cy="3732671"/>
          </a:xfrm>
        </p:grpSpPr>
        <p:pic>
          <p:nvPicPr>
            <p:cNvPr id="631" name="Screenshot 2026-09-29 at 22.22.53.png" descr="Screenshot 2026-09-29 at 22.22.53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50800" y="63500"/>
              <a:ext cx="2018653" cy="360567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630" name="Screenshot 2026-09-29 at 22.22.53.png" descr="Screenshot 2026-09-29 at 22.22.53.pn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120253" cy="3732672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Номер слайда 20"/>
          <p:cNvSpPr txBox="1"/>
          <p:nvPr>
            <p:ph type="sldNum" sz="quarter" idx="4294967295"/>
          </p:nvPr>
        </p:nvSpPr>
        <p:spPr>
          <a:xfrm>
            <a:off x="11584047" y="6404292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637" name="Rounded Rectangle 1417478359"/>
          <p:cNvGrpSpPr/>
          <p:nvPr/>
        </p:nvGrpSpPr>
        <p:grpSpPr>
          <a:xfrm>
            <a:off x="347472" y="320040"/>
            <a:ext cx="4562856" cy="621792"/>
            <a:chOff x="0" y="0"/>
            <a:chExt cx="4562855" cy="621791"/>
          </a:xfrm>
        </p:grpSpPr>
        <p:sp>
          <p:nvSpPr>
            <p:cNvPr id="635" name="Rounded Rectangle"/>
            <p:cNvSpPr/>
            <p:nvPr/>
          </p:nvSpPr>
          <p:spPr>
            <a:xfrm>
              <a:off x="0" y="0"/>
              <a:ext cx="4562856" cy="621792"/>
            </a:xfrm>
            <a:prstGeom prst="roundRect">
              <a:avLst>
                <a:gd name="adj" fmla="val 18700"/>
              </a:avLst>
            </a:prstGeom>
            <a:solidFill>
              <a:srgbClr val="5209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36" name="АРХИТЕКТУРА ПРИЛОЖЕНИЯ"/>
            <p:cNvSpPr txBox="1"/>
            <p:nvPr/>
          </p:nvSpPr>
          <p:spPr>
            <a:xfrm>
              <a:off x="198647" y="140207"/>
              <a:ext cx="3902562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АРХИТЕКТУРА ПРИЛОЖЕНИЯ</a:t>
              </a:r>
            </a:p>
          </p:txBody>
        </p:sp>
      </p:grpSp>
      <p:sp>
        <p:nvSpPr>
          <p:cNvPr id="638" name="Rounded Rectangle 1417478360"/>
          <p:cNvSpPr/>
          <p:nvPr/>
        </p:nvSpPr>
        <p:spPr>
          <a:xfrm>
            <a:off x="411480" y="1188719"/>
            <a:ext cx="5257801" cy="3977640"/>
          </a:xfrm>
          <a:prstGeom prst="roundRect">
            <a:avLst>
              <a:gd name="adj" fmla="val 6000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5875">
            <a:solidFill>
              <a:srgbClr val="520978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639" name="TextBox 1417478361"/>
          <p:cNvSpPr txBox="1"/>
          <p:nvPr/>
        </p:nvSpPr>
        <p:spPr>
          <a:xfrm>
            <a:off x="640080" y="1371600"/>
            <a:ext cx="4800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520978"/>
                </a:solidFill>
              </a:defRPr>
            </a:pPr>
            <a:r>
              <a:t>Android-приложение</a:t>
            </a:r>
            <a:r>
              <a:rPr b="0" sz="1100">
                <a:solidFill>
                  <a:srgbClr val="5E5868"/>
                </a:solidFill>
              </a:rPr>
              <a:t>   Kotlin · Jetpack Compose</a:t>
            </a:r>
          </a:p>
        </p:txBody>
      </p:sp>
      <p:grpSp>
        <p:nvGrpSpPr>
          <p:cNvPr id="642" name="Rounded Rectangle 1417478362"/>
          <p:cNvGrpSpPr/>
          <p:nvPr/>
        </p:nvGrpSpPr>
        <p:grpSpPr>
          <a:xfrm>
            <a:off x="640080" y="1810511"/>
            <a:ext cx="4800601" cy="713233"/>
            <a:chOff x="0" y="0"/>
            <a:chExt cx="4800600" cy="713231"/>
          </a:xfrm>
        </p:grpSpPr>
        <p:sp>
          <p:nvSpPr>
            <p:cNvPr id="640" name="Rounded Rectangle"/>
            <p:cNvSpPr/>
            <p:nvPr/>
          </p:nvSpPr>
          <p:spPr>
            <a:xfrm>
              <a:off x="0" y="0"/>
              <a:ext cx="4800600" cy="713232"/>
            </a:xfrm>
            <a:prstGeom prst="roundRect">
              <a:avLst>
                <a:gd name="adj" fmla="val 14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41" name="feature…"/>
            <p:cNvSpPr txBox="1"/>
            <p:nvPr/>
          </p:nvSpPr>
          <p:spPr>
            <a:xfrm>
              <a:off x="184693" y="157733"/>
              <a:ext cx="4431214" cy="39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520978"/>
                  </a:solidFill>
                </a:defRPr>
              </a:pPr>
              <a:r>
                <a:t>feature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defRPr sz="1000">
                  <a:solidFill>
                    <a:srgbClr val="520978"/>
                  </a:solidFill>
                </a:defRPr>
              </a:pPr>
              <a:r>
                <a:t>Экраны: главная, задания, план недели, магазин, копилка, словарик</a:t>
              </a:r>
            </a:p>
          </p:txBody>
        </p:sp>
      </p:grpSp>
      <p:grpSp>
        <p:nvGrpSpPr>
          <p:cNvPr id="645" name="Rounded Rectangle 1417478363"/>
          <p:cNvGrpSpPr/>
          <p:nvPr/>
        </p:nvGrpSpPr>
        <p:grpSpPr>
          <a:xfrm>
            <a:off x="640080" y="2615183"/>
            <a:ext cx="4800601" cy="713233"/>
            <a:chOff x="0" y="0"/>
            <a:chExt cx="4800600" cy="713231"/>
          </a:xfrm>
        </p:grpSpPr>
        <p:sp>
          <p:nvSpPr>
            <p:cNvPr id="643" name="Rounded Rectangle"/>
            <p:cNvSpPr/>
            <p:nvPr/>
          </p:nvSpPr>
          <p:spPr>
            <a:xfrm>
              <a:off x="0" y="0"/>
              <a:ext cx="4800600" cy="713232"/>
            </a:xfrm>
            <a:prstGeom prst="roundRect">
              <a:avLst>
                <a:gd name="adj" fmla="val 14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44" name="domain…"/>
            <p:cNvSpPr txBox="1"/>
            <p:nvPr/>
          </p:nvSpPr>
          <p:spPr>
            <a:xfrm>
              <a:off x="184693" y="157733"/>
              <a:ext cx="4431214" cy="39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1C1D22"/>
                  </a:solidFill>
                </a:defRPr>
              </a:pPr>
              <a:r>
                <a:t>domain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defRPr sz="1000">
                  <a:solidFill>
                    <a:srgbClr val="1C1D22"/>
                  </a:solidFill>
                </a:defRPr>
              </a:pPr>
              <a:r>
                <a:t>Правила: бюджет недели, цели, бонус копилки, начисления</a:t>
              </a:r>
            </a:p>
          </p:txBody>
        </p:sp>
      </p:grpSp>
      <p:grpSp>
        <p:nvGrpSpPr>
          <p:cNvPr id="648" name="Rounded Rectangle 1417478364"/>
          <p:cNvGrpSpPr/>
          <p:nvPr/>
        </p:nvGrpSpPr>
        <p:grpSpPr>
          <a:xfrm>
            <a:off x="640080" y="3419855"/>
            <a:ext cx="4800601" cy="713233"/>
            <a:chOff x="0" y="0"/>
            <a:chExt cx="4800600" cy="713231"/>
          </a:xfrm>
        </p:grpSpPr>
        <p:sp>
          <p:nvSpPr>
            <p:cNvPr id="646" name="Rounded Rectangle"/>
            <p:cNvSpPr/>
            <p:nvPr/>
          </p:nvSpPr>
          <p:spPr>
            <a:xfrm>
              <a:off x="0" y="0"/>
              <a:ext cx="4800600" cy="713232"/>
            </a:xfrm>
            <a:prstGeom prst="roundRect">
              <a:avLst>
                <a:gd name="adj" fmla="val 14000"/>
              </a:avLst>
            </a:prstGeom>
            <a:solidFill>
              <a:srgbClr val="5209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47" name="data…"/>
            <p:cNvSpPr txBox="1"/>
            <p:nvPr/>
          </p:nvSpPr>
          <p:spPr>
            <a:xfrm>
              <a:off x="184693" y="157733"/>
              <a:ext cx="4431214" cy="39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data</a:t>
              </a:r>
            </a:p>
            <a:p>
              <a:pPr>
                <a:defRPr sz="1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Room, очередь событий, кэш контента, монотонное время</a:t>
              </a:r>
            </a:p>
          </p:txBody>
        </p:sp>
      </p:grpSp>
      <p:grpSp>
        <p:nvGrpSpPr>
          <p:cNvPr id="651" name="Rounded Rectangle 1417478365"/>
          <p:cNvGrpSpPr/>
          <p:nvPr/>
        </p:nvGrpSpPr>
        <p:grpSpPr>
          <a:xfrm>
            <a:off x="640080" y="4224528"/>
            <a:ext cx="4800601" cy="713233"/>
            <a:chOff x="0" y="0"/>
            <a:chExt cx="4800600" cy="713231"/>
          </a:xfrm>
        </p:grpSpPr>
        <p:sp>
          <p:nvSpPr>
            <p:cNvPr id="649" name="Rounded Rectangle"/>
            <p:cNvSpPr/>
            <p:nvPr/>
          </p:nvSpPr>
          <p:spPr>
            <a:xfrm>
              <a:off x="0" y="0"/>
              <a:ext cx="4800600" cy="713232"/>
            </a:xfrm>
            <a:prstGeom prst="roundRect">
              <a:avLst>
                <a:gd name="adj" fmla="val 14000"/>
              </a:avLst>
            </a:prstGeom>
            <a:solidFill>
              <a:srgbClr val="310F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50" name="core…"/>
            <p:cNvSpPr txBox="1"/>
            <p:nvPr/>
          </p:nvSpPr>
          <p:spPr>
            <a:xfrm>
              <a:off x="184693" y="157733"/>
              <a:ext cx="4431214" cy="39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core</a:t>
              </a:r>
            </a:p>
            <a:p>
              <a:pPr>
                <a:defRPr sz="1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Дизайн-система, DI, аналитика без персональных данных</a:t>
              </a:r>
            </a:p>
          </p:txBody>
        </p:sp>
      </p:grpSp>
      <p:sp>
        <p:nvSpPr>
          <p:cNvPr id="652" name="Rounded Rectangle 1417478366"/>
          <p:cNvSpPr/>
          <p:nvPr/>
        </p:nvSpPr>
        <p:spPr>
          <a:xfrm>
            <a:off x="6537959" y="1188719"/>
            <a:ext cx="5257801" cy="3977640"/>
          </a:xfrm>
          <a:prstGeom prst="roundRect">
            <a:avLst>
              <a:gd name="adj" fmla="val 6000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5875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653" name="TextBox 1417478367"/>
          <p:cNvSpPr txBox="1"/>
          <p:nvPr/>
        </p:nvSpPr>
        <p:spPr>
          <a:xfrm>
            <a:off x="6766559" y="1371600"/>
            <a:ext cx="4800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chemeClr val="accent1"/>
                </a:solidFill>
              </a:defRPr>
            </a:pPr>
            <a:r>
              <a:t>Сервер</a:t>
            </a:r>
            <a:r>
              <a:rPr b="0" sz="1100">
                <a:solidFill>
                  <a:srgbClr val="5E5868"/>
                </a:solidFill>
              </a:rPr>
              <a:t>   REST API · OpenAPI · Docker</a:t>
            </a:r>
          </a:p>
        </p:txBody>
      </p:sp>
      <p:grpSp>
        <p:nvGrpSpPr>
          <p:cNvPr id="656" name="Rounded Rectangle 1417478368"/>
          <p:cNvGrpSpPr/>
          <p:nvPr/>
        </p:nvGrpSpPr>
        <p:grpSpPr>
          <a:xfrm>
            <a:off x="6766559" y="1810511"/>
            <a:ext cx="4800601" cy="713233"/>
            <a:chOff x="0" y="0"/>
            <a:chExt cx="4800600" cy="713231"/>
          </a:xfrm>
        </p:grpSpPr>
        <p:sp>
          <p:nvSpPr>
            <p:cNvPr id="654" name="Rounded Rectangle"/>
            <p:cNvSpPr/>
            <p:nvPr/>
          </p:nvSpPr>
          <p:spPr>
            <a:xfrm>
              <a:off x="0" y="0"/>
              <a:ext cx="4800600" cy="713232"/>
            </a:xfrm>
            <a:prstGeom prst="roundRect">
              <a:avLst>
                <a:gd name="adj" fmla="val 14000"/>
              </a:avLst>
            </a:prstGeom>
            <a:solidFill>
              <a:srgbClr val="F3EE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55" name="Профиль…"/>
            <p:cNvSpPr txBox="1"/>
            <p:nvPr/>
          </p:nvSpPr>
          <p:spPr>
            <a:xfrm>
              <a:off x="184693" y="157733"/>
              <a:ext cx="4431214" cy="39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520978"/>
                  </a:solidFill>
                </a:defRPr>
              </a:pPr>
              <a:r>
                <a:t>Профиль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defRPr sz="1000">
                  <a:solidFill>
                    <a:srgbClr val="1C1D22"/>
                  </a:solidFill>
                </a:defRPr>
              </a:pPr>
              <a:r>
                <a:t>анонимный вход, refresh-токен, перенос профиля по коду</a:t>
              </a:r>
            </a:p>
          </p:txBody>
        </p:sp>
      </p:grpSp>
      <p:grpSp>
        <p:nvGrpSpPr>
          <p:cNvPr id="659" name="Rounded Rectangle 1417478369"/>
          <p:cNvGrpSpPr/>
          <p:nvPr/>
        </p:nvGrpSpPr>
        <p:grpSpPr>
          <a:xfrm>
            <a:off x="6766559" y="2615183"/>
            <a:ext cx="4800601" cy="713233"/>
            <a:chOff x="0" y="0"/>
            <a:chExt cx="4800600" cy="713231"/>
          </a:xfrm>
        </p:grpSpPr>
        <p:sp>
          <p:nvSpPr>
            <p:cNvPr id="657" name="Rounded Rectangle"/>
            <p:cNvSpPr/>
            <p:nvPr/>
          </p:nvSpPr>
          <p:spPr>
            <a:xfrm>
              <a:off x="0" y="0"/>
              <a:ext cx="4800600" cy="713232"/>
            </a:xfrm>
            <a:prstGeom prst="roundRect">
              <a:avLst>
                <a:gd name="adj" fmla="val 14000"/>
              </a:avLst>
            </a:prstGeom>
            <a:solidFill>
              <a:srgbClr val="F3EE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58" name="Кошелёк…"/>
            <p:cNvSpPr txBox="1"/>
            <p:nvPr/>
          </p:nvSpPr>
          <p:spPr>
            <a:xfrm>
              <a:off x="184693" y="157733"/>
              <a:ext cx="4431214" cy="39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520978"/>
                  </a:solidFill>
                </a:defRPr>
              </a:pPr>
              <a:r>
                <a:t>Кошелёк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defRPr sz="1000">
                  <a:solidFill>
                    <a:srgbClr val="1C1D22"/>
                  </a:solidFill>
                </a:defRPr>
              </a:pPr>
              <a:r>
                <a:t>идемпотентный журнал транзакций, баланс не уходит в минус</a:t>
              </a:r>
            </a:p>
          </p:txBody>
        </p:sp>
      </p:grpSp>
      <p:grpSp>
        <p:nvGrpSpPr>
          <p:cNvPr id="662" name="Rounded Rectangle 1417478370"/>
          <p:cNvGrpSpPr/>
          <p:nvPr/>
        </p:nvGrpSpPr>
        <p:grpSpPr>
          <a:xfrm>
            <a:off x="6766559" y="3419855"/>
            <a:ext cx="4800601" cy="713233"/>
            <a:chOff x="0" y="0"/>
            <a:chExt cx="4800600" cy="713231"/>
          </a:xfrm>
        </p:grpSpPr>
        <p:sp>
          <p:nvSpPr>
            <p:cNvPr id="660" name="Rounded Rectangle"/>
            <p:cNvSpPr/>
            <p:nvPr/>
          </p:nvSpPr>
          <p:spPr>
            <a:xfrm>
              <a:off x="0" y="0"/>
              <a:ext cx="4800600" cy="713232"/>
            </a:xfrm>
            <a:prstGeom prst="roundRect">
              <a:avLst>
                <a:gd name="adj" fmla="val 14000"/>
              </a:avLst>
            </a:prstGeom>
            <a:solidFill>
              <a:srgbClr val="F3EE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61" name="Задания, магазин, прогресс…"/>
            <p:cNvSpPr txBox="1"/>
            <p:nvPr/>
          </p:nvSpPr>
          <p:spPr>
            <a:xfrm>
              <a:off x="184693" y="157733"/>
              <a:ext cx="4431214" cy="39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520978"/>
                  </a:solidFill>
                </a:defRPr>
              </a:pPr>
              <a:r>
                <a:t>Задания, магазин, прогресс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defRPr sz="1000">
                  <a:solidFill>
                    <a:srgbClr val="1C1D22"/>
                  </a:solidFill>
                </a:defRPr>
              </a:pPr>
              <a:r>
                <a:t>начисления и стадии считаются на сервере</a:t>
              </a:r>
            </a:p>
          </p:txBody>
        </p:sp>
      </p:grpSp>
      <p:grpSp>
        <p:nvGrpSpPr>
          <p:cNvPr id="665" name="Rounded Rectangle 1417478371"/>
          <p:cNvGrpSpPr/>
          <p:nvPr/>
        </p:nvGrpSpPr>
        <p:grpSpPr>
          <a:xfrm>
            <a:off x="6766559" y="4224528"/>
            <a:ext cx="4800601" cy="713233"/>
            <a:chOff x="0" y="0"/>
            <a:chExt cx="4800600" cy="713231"/>
          </a:xfrm>
        </p:grpSpPr>
        <p:sp>
          <p:nvSpPr>
            <p:cNvPr id="663" name="Rounded Rectangle"/>
            <p:cNvSpPr/>
            <p:nvPr/>
          </p:nvSpPr>
          <p:spPr>
            <a:xfrm>
              <a:off x="0" y="0"/>
              <a:ext cx="4800600" cy="713232"/>
            </a:xfrm>
            <a:prstGeom prst="roundRect">
              <a:avLst>
                <a:gd name="adj" fmla="val 14000"/>
              </a:avLst>
            </a:prstGeom>
            <a:solidFill>
              <a:srgbClr val="F3EE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64" name="Remote config…"/>
            <p:cNvSpPr txBox="1"/>
            <p:nvPr/>
          </p:nvSpPr>
          <p:spPr>
            <a:xfrm>
              <a:off x="184693" y="157733"/>
              <a:ext cx="4431214" cy="39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32" tIns="27432" rIns="27432" bIns="27432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520978"/>
                  </a:solidFill>
                </a:defRPr>
              </a:pPr>
              <a:r>
                <a:t>Remote config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defRPr sz="1000">
                  <a:solidFill>
                    <a:srgbClr val="1C1D22"/>
                  </a:solidFill>
                </a:defRPr>
              </a:pPr>
              <a:r>
                <a:t>баланс экономики и фиче-флаги без выпуска новой версии</a:t>
              </a:r>
            </a:p>
          </p:txBody>
        </p:sp>
      </p:grpSp>
      <p:sp>
        <p:nvSpPr>
          <p:cNvPr id="666" name="Left-Right Arrow 1417478372"/>
          <p:cNvSpPr/>
          <p:nvPr/>
        </p:nvSpPr>
        <p:spPr>
          <a:xfrm>
            <a:off x="5833871" y="2852927"/>
            <a:ext cx="539497" cy="32918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5209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667" name="TextBox 1417478373"/>
          <p:cNvSpPr txBox="1"/>
          <p:nvPr/>
        </p:nvSpPr>
        <p:spPr>
          <a:xfrm>
            <a:off x="5650991" y="2425699"/>
            <a:ext cx="9144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algn="ctr">
              <a:defRPr b="1" sz="1100">
                <a:solidFill>
                  <a:srgbClr val="520978"/>
                </a:solidFill>
              </a:defRPr>
            </a:pPr>
            <a:r>
              <a:t>API</a:t>
            </a:r>
          </a:p>
          <a:p>
            <a:pPr algn="ctr">
              <a:defRPr b="1" sz="1000">
                <a:solidFill>
                  <a:srgbClr val="520978"/>
                </a:solidFill>
              </a:defRPr>
            </a:pPr>
            <a:r>
              <a:t>OpenAPI</a:t>
            </a:r>
          </a:p>
        </p:txBody>
      </p:sp>
      <p:sp>
        <p:nvSpPr>
          <p:cNvPr id="668" name="TextBox 1417478374"/>
          <p:cNvSpPr txBox="1"/>
          <p:nvPr/>
        </p:nvSpPr>
        <p:spPr>
          <a:xfrm>
            <a:off x="5650991" y="3310128"/>
            <a:ext cx="914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000">
                <a:solidFill>
                  <a:srgbClr val="5E5868"/>
                </a:solidFill>
              </a:defRPr>
            </a:pPr>
            <a:r>
              <a:t>очередь</a:t>
            </a:r>
          </a:p>
          <a:p>
            <a:pPr algn="ctr">
              <a:defRPr sz="1000">
                <a:solidFill>
                  <a:srgbClr val="5E5868"/>
                </a:solidFill>
              </a:defRPr>
            </a:pPr>
            <a:r>
              <a:t>событий</a:t>
            </a:r>
          </a:p>
        </p:txBody>
      </p:sp>
      <p:grpSp>
        <p:nvGrpSpPr>
          <p:cNvPr id="671" name="Rounded Rectangle 1417478375"/>
          <p:cNvGrpSpPr/>
          <p:nvPr/>
        </p:nvGrpSpPr>
        <p:grpSpPr>
          <a:xfrm>
            <a:off x="411480" y="5349240"/>
            <a:ext cx="3611880" cy="868681"/>
            <a:chOff x="0" y="0"/>
            <a:chExt cx="3611879" cy="868680"/>
          </a:xfrm>
        </p:grpSpPr>
        <p:sp>
          <p:nvSpPr>
            <p:cNvPr id="669" name="Rounded Rectangle"/>
            <p:cNvSpPr/>
            <p:nvPr/>
          </p:nvSpPr>
          <p:spPr>
            <a:xfrm>
              <a:off x="0" y="0"/>
              <a:ext cx="3611880" cy="868681"/>
            </a:xfrm>
            <a:prstGeom prst="roundRect">
              <a:avLst>
                <a:gd name="adj" fmla="val 16000"/>
              </a:avLst>
            </a:prstGeom>
            <a:solidFill>
              <a:srgbClr val="310F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03000"/>
                </a:lnSpc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70" name="RuStore…"/>
            <p:cNvSpPr txBox="1"/>
            <p:nvPr/>
          </p:nvSpPr>
          <p:spPr>
            <a:xfrm>
              <a:off x="205299" y="147827"/>
              <a:ext cx="3201281" cy="5730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6576" tIns="36576" rIns="36576" bIns="36576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FFD6E4"/>
                  </a:solidFill>
                </a:defRPr>
              </a:pPr>
              <a:r>
                <a:t>RuStore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lnSpc>
                  <a:spcPct val="103000"/>
                </a:lnSpc>
                <a:defRPr sz="1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публикация, push через RuStore SDK, сборка без сервисов Google</a:t>
              </a:r>
            </a:p>
          </p:txBody>
        </p:sp>
      </p:grpSp>
      <p:grpSp>
        <p:nvGrpSpPr>
          <p:cNvPr id="674" name="Rounded Rectangle 1417478376"/>
          <p:cNvGrpSpPr/>
          <p:nvPr/>
        </p:nvGrpSpPr>
        <p:grpSpPr>
          <a:xfrm>
            <a:off x="4297679" y="5349240"/>
            <a:ext cx="3611881" cy="868681"/>
            <a:chOff x="0" y="0"/>
            <a:chExt cx="3611879" cy="868680"/>
          </a:xfrm>
        </p:grpSpPr>
        <p:sp>
          <p:nvSpPr>
            <p:cNvPr id="672" name="Rounded Rectangle"/>
            <p:cNvSpPr/>
            <p:nvPr/>
          </p:nvSpPr>
          <p:spPr>
            <a:xfrm>
              <a:off x="0" y="0"/>
              <a:ext cx="3611880" cy="868681"/>
            </a:xfrm>
            <a:prstGeom prst="roundRect">
              <a:avLst>
                <a:gd name="adj" fmla="val 16000"/>
              </a:avLst>
            </a:prstGeom>
            <a:solidFill>
              <a:srgbClr val="310F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03000"/>
                </a:lnSpc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73" name="Родительский раздел…"/>
            <p:cNvSpPr txBox="1"/>
            <p:nvPr/>
          </p:nvSpPr>
          <p:spPr>
            <a:xfrm>
              <a:off x="205299" y="147827"/>
              <a:ext cx="3201281" cy="5730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6576" tIns="36576" rIns="36576" bIns="36576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FFD6E4"/>
                  </a:solidFill>
                </a:defRPr>
              </a:pPr>
              <a:r>
                <a:t>Родительский раздел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lnSpc>
                  <a:spcPct val="103000"/>
                </a:lnSpc>
                <a:defRPr sz="1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PIN из 4 цифр хранится локально как хеш, сводка считается на устройстве</a:t>
              </a:r>
            </a:p>
          </p:txBody>
        </p:sp>
      </p:grpSp>
      <p:grpSp>
        <p:nvGrpSpPr>
          <p:cNvPr id="677" name="Rounded Rectangle 1417478377"/>
          <p:cNvGrpSpPr/>
          <p:nvPr/>
        </p:nvGrpSpPr>
        <p:grpSpPr>
          <a:xfrm>
            <a:off x="8183878" y="5349240"/>
            <a:ext cx="3611880" cy="868681"/>
            <a:chOff x="0" y="0"/>
            <a:chExt cx="3611879" cy="868680"/>
          </a:xfrm>
        </p:grpSpPr>
        <p:sp>
          <p:nvSpPr>
            <p:cNvPr id="675" name="Rounded Rectangle"/>
            <p:cNvSpPr/>
            <p:nvPr/>
          </p:nvSpPr>
          <p:spPr>
            <a:xfrm>
              <a:off x="0" y="0"/>
              <a:ext cx="3611880" cy="868681"/>
            </a:xfrm>
            <a:prstGeom prst="roundRect">
              <a:avLst>
                <a:gd name="adj" fmla="val 16000"/>
              </a:avLst>
            </a:prstGeom>
            <a:solidFill>
              <a:srgbClr val="310F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03000"/>
                </a:lnSpc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76" name="Данные…"/>
            <p:cNvSpPr txBox="1"/>
            <p:nvPr/>
          </p:nvSpPr>
          <p:spPr>
            <a:xfrm>
              <a:off x="205299" y="147827"/>
              <a:ext cx="3201281" cy="5730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6576" tIns="36576" rIns="36576" bIns="36576" numCol="1" anchor="ctr">
              <a:spAutoFit/>
            </a:bodyPr>
            <a:lstStyle/>
            <a:p>
              <a:pPr>
                <a:spcBef>
                  <a:spcPts val="100"/>
                </a:spcBef>
                <a:defRPr b="1" sz="1200">
                  <a:solidFill>
                    <a:srgbClr val="FFD6E4"/>
                  </a:solidFill>
                </a:defRPr>
              </a:pPr>
              <a:r>
                <a:t>Данные</a:t>
              </a:r>
              <a:endPara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endParaRPr>
            </a:p>
            <a:p>
              <a:pPr>
                <a:lnSpc>
                  <a:spcPct val="103000"/>
                </a:lnSpc>
                <a:defRPr sz="1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  <a:r>
                <a:t>БД в российском дата-центре, бэкапы, мониторинг и алерты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Текст 7"/>
          <p:cNvSpPr txBox="1"/>
          <p:nvPr>
            <p:ph type="body" sz="quarter" idx="1"/>
          </p:nvPr>
        </p:nvSpPr>
        <p:spPr>
          <a:xfrm>
            <a:off x="521133" y="1859616"/>
            <a:ext cx="2834640" cy="712588"/>
          </a:xfrm>
          <a:prstGeom prst="rect">
            <a:avLst/>
          </a:prstGeom>
        </p:spPr>
        <p:txBody>
          <a:bodyPr anchor="ctr"/>
          <a:lstStyle>
            <a:lvl1pPr algn="l">
              <a:spcBef>
                <a:spcPts val="0"/>
              </a:spcBef>
              <a:defRPr b="1" sz="1600">
                <a:solidFill>
                  <a:srgbClr val="520978"/>
                </a:solidFill>
              </a:defRPr>
            </a:lvl1pPr>
          </a:lstStyle>
          <a:p>
            <a:pPr/>
            <a:r>
              <a:t>Клиент</a:t>
            </a:r>
          </a:p>
        </p:txBody>
      </p:sp>
      <p:sp>
        <p:nvSpPr>
          <p:cNvPr id="680" name="Текст 8"/>
          <p:cNvSpPr/>
          <p:nvPr>
            <p:ph type="body" idx="22"/>
          </p:nvPr>
        </p:nvSpPr>
        <p:spPr>
          <a:xfrm>
            <a:off x="521133" y="2716626"/>
            <a:ext cx="2834640" cy="71258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>
            <a:lvl1pPr marL="0" indent="0">
              <a:spcBef>
                <a:spcPts val="0"/>
              </a:spcBef>
              <a:buSzTx/>
              <a:buFontTx/>
              <a:buNone/>
              <a:defRPr b="1" sz="1600">
                <a:solidFill>
                  <a:srgbClr val="520978"/>
                </a:solidFill>
              </a:defRPr>
            </a:lvl1pPr>
          </a:lstStyle>
          <a:p>
            <a:pPr/>
            <a:r>
              <a:t>Офлайн и данные</a:t>
            </a:r>
          </a:p>
        </p:txBody>
      </p:sp>
      <p:sp>
        <p:nvSpPr>
          <p:cNvPr id="681" name="Текст 9"/>
          <p:cNvSpPr/>
          <p:nvPr>
            <p:ph type="body" idx="23"/>
          </p:nvPr>
        </p:nvSpPr>
        <p:spPr>
          <a:xfrm>
            <a:off x="521133" y="3573636"/>
            <a:ext cx="2834640" cy="7125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>
            <a:lvl1pPr marL="0" indent="0">
              <a:spcBef>
                <a:spcPts val="0"/>
              </a:spcBef>
              <a:buSzTx/>
              <a:buFontTx/>
              <a:buNone/>
              <a:defRPr b="1" sz="1600">
                <a:solidFill>
                  <a:srgbClr val="520978"/>
                </a:solidFill>
              </a:defRPr>
            </a:lvl1pPr>
          </a:lstStyle>
          <a:p>
            <a:pPr/>
            <a:r>
              <a:t>Сервер</a:t>
            </a:r>
          </a:p>
        </p:txBody>
      </p:sp>
      <p:sp>
        <p:nvSpPr>
          <p:cNvPr id="682" name="Текст 10"/>
          <p:cNvSpPr/>
          <p:nvPr>
            <p:ph type="body" idx="24"/>
          </p:nvPr>
        </p:nvSpPr>
        <p:spPr>
          <a:xfrm>
            <a:off x="521133" y="4430645"/>
            <a:ext cx="2834640" cy="7125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>
            <a:lvl1pPr marL="0" indent="0">
              <a:spcBef>
                <a:spcPts val="0"/>
              </a:spcBef>
              <a:buSzTx/>
              <a:buFontTx/>
              <a:buNone/>
              <a:defRPr b="1" sz="1600">
                <a:solidFill>
                  <a:srgbClr val="520978"/>
                </a:solidFill>
              </a:defRPr>
            </a:lvl1pPr>
          </a:lstStyle>
          <a:p>
            <a:pPr/>
            <a:r>
              <a:t>Безопасность</a:t>
            </a:r>
          </a:p>
        </p:txBody>
      </p:sp>
      <p:sp>
        <p:nvSpPr>
          <p:cNvPr id="683" name="Текст 11"/>
          <p:cNvSpPr/>
          <p:nvPr>
            <p:ph type="body" idx="25"/>
          </p:nvPr>
        </p:nvSpPr>
        <p:spPr>
          <a:xfrm>
            <a:off x="521133" y="5287655"/>
            <a:ext cx="2834640" cy="7125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>
            <a:lvl1pPr marL="0" indent="0">
              <a:spcBef>
                <a:spcPts val="0"/>
              </a:spcBef>
              <a:buSzTx/>
              <a:buFontTx/>
              <a:buNone/>
              <a:defRPr b="1" sz="1600">
                <a:solidFill>
                  <a:srgbClr val="520978"/>
                </a:solidFill>
              </a:defRPr>
            </a:lvl1pPr>
          </a:lstStyle>
          <a:p>
            <a:pPr/>
            <a:r>
              <a:t>Выпуск и качество</a:t>
            </a:r>
          </a:p>
        </p:txBody>
      </p:sp>
      <p:sp>
        <p:nvSpPr>
          <p:cNvPr id="684" name="Номер слайда 20"/>
          <p:cNvSpPr txBox="1"/>
          <p:nvPr>
            <p:ph type="sldNum" sz="quarter" idx="4294967295"/>
          </p:nvPr>
        </p:nvSpPr>
        <p:spPr>
          <a:xfrm>
            <a:off x="11584047" y="6404292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685" name="Прямая соединительная линия 1"/>
          <p:cNvSpPr/>
          <p:nvPr/>
        </p:nvSpPr>
        <p:spPr>
          <a:xfrm>
            <a:off x="521133" y="1769252"/>
            <a:ext cx="11335906" cy="1"/>
          </a:xfrm>
          <a:prstGeom prst="line">
            <a:avLst/>
          </a:prstGeom>
          <a:ln w="1270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86" name="Прямая соединительная линия 3"/>
          <p:cNvSpPr/>
          <p:nvPr/>
        </p:nvSpPr>
        <p:spPr>
          <a:xfrm>
            <a:off x="521133" y="2630127"/>
            <a:ext cx="11335906" cy="1"/>
          </a:xfrm>
          <a:prstGeom prst="line">
            <a:avLst/>
          </a:prstGeom>
          <a:ln w="1270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87" name="Прямая соединительная линия 12"/>
          <p:cNvSpPr/>
          <p:nvPr/>
        </p:nvSpPr>
        <p:spPr>
          <a:xfrm>
            <a:off x="521133" y="3507456"/>
            <a:ext cx="11335906" cy="1"/>
          </a:xfrm>
          <a:prstGeom prst="line">
            <a:avLst/>
          </a:prstGeom>
          <a:ln w="1270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88" name="Прямая соединительная линия 13"/>
          <p:cNvSpPr/>
          <p:nvPr/>
        </p:nvSpPr>
        <p:spPr>
          <a:xfrm>
            <a:off x="521133" y="4347717"/>
            <a:ext cx="11335906" cy="1"/>
          </a:xfrm>
          <a:prstGeom prst="line">
            <a:avLst/>
          </a:prstGeom>
          <a:ln w="1270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89" name="Прямая соединительная линия 14"/>
          <p:cNvSpPr/>
          <p:nvPr/>
        </p:nvSpPr>
        <p:spPr>
          <a:xfrm>
            <a:off x="521133" y="5212689"/>
            <a:ext cx="11335906" cy="1"/>
          </a:xfrm>
          <a:prstGeom prst="line">
            <a:avLst/>
          </a:prstGeom>
          <a:ln w="1270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90" name="Прямая соединительная линия 14"/>
          <p:cNvSpPr/>
          <p:nvPr/>
        </p:nvSpPr>
        <p:spPr>
          <a:xfrm>
            <a:off x="521133" y="6063081"/>
            <a:ext cx="11335906" cy="1"/>
          </a:xfrm>
          <a:prstGeom prst="line">
            <a:avLst/>
          </a:prstGeom>
          <a:ln w="1270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693" name="Rounded Rectangle 2006469650"/>
          <p:cNvGrpSpPr/>
          <p:nvPr/>
        </p:nvGrpSpPr>
        <p:grpSpPr>
          <a:xfrm>
            <a:off x="347472" y="320040"/>
            <a:ext cx="2423161" cy="621792"/>
            <a:chOff x="0" y="0"/>
            <a:chExt cx="2423160" cy="621791"/>
          </a:xfrm>
        </p:grpSpPr>
        <p:sp>
          <p:nvSpPr>
            <p:cNvPr id="691" name="Rounded Rectangle"/>
            <p:cNvSpPr/>
            <p:nvPr/>
          </p:nvSpPr>
          <p:spPr>
            <a:xfrm>
              <a:off x="0" y="0"/>
              <a:ext cx="2423161" cy="621792"/>
            </a:xfrm>
            <a:prstGeom prst="roundRect">
              <a:avLst>
                <a:gd name="adj" fmla="val 18700"/>
              </a:avLst>
            </a:prstGeom>
            <a:solidFill>
              <a:srgbClr val="5209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92" name="ТЕХНОЛОГИИ"/>
            <p:cNvSpPr txBox="1"/>
            <p:nvPr/>
          </p:nvSpPr>
          <p:spPr>
            <a:xfrm>
              <a:off x="198647" y="140207"/>
              <a:ext cx="1818844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ТЕХНОЛОГИИ</a:t>
              </a:r>
            </a:p>
          </p:txBody>
        </p:sp>
      </p:grpSp>
      <p:grpSp>
        <p:nvGrpSpPr>
          <p:cNvPr id="696" name="Rounded Rectangle 2006469651"/>
          <p:cNvGrpSpPr/>
          <p:nvPr/>
        </p:nvGrpSpPr>
        <p:grpSpPr>
          <a:xfrm>
            <a:off x="3520440" y="1823041"/>
            <a:ext cx="850393" cy="310897"/>
            <a:chOff x="0" y="0"/>
            <a:chExt cx="850391" cy="310895"/>
          </a:xfrm>
        </p:grpSpPr>
        <p:sp>
          <p:nvSpPr>
            <p:cNvPr id="694" name="Rounded Rectangle"/>
            <p:cNvSpPr/>
            <p:nvPr/>
          </p:nvSpPr>
          <p:spPr>
            <a:xfrm>
              <a:off x="0" y="0"/>
              <a:ext cx="850392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95" name="Kotlin"/>
            <p:cNvSpPr txBox="1"/>
            <p:nvPr/>
          </p:nvSpPr>
          <p:spPr>
            <a:xfrm>
              <a:off x="82104" y="72898"/>
              <a:ext cx="686184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Kotlin</a:t>
              </a:r>
            </a:p>
          </p:txBody>
        </p:sp>
      </p:grpSp>
      <p:grpSp>
        <p:nvGrpSpPr>
          <p:cNvPr id="699" name="Rounded Rectangle 2006469652"/>
          <p:cNvGrpSpPr/>
          <p:nvPr/>
        </p:nvGrpSpPr>
        <p:grpSpPr>
          <a:xfrm>
            <a:off x="4480559" y="1823041"/>
            <a:ext cx="1595629" cy="310897"/>
            <a:chOff x="0" y="0"/>
            <a:chExt cx="1595627" cy="310895"/>
          </a:xfrm>
        </p:grpSpPr>
        <p:sp>
          <p:nvSpPr>
            <p:cNvPr id="697" name="Rounded Rectangle"/>
            <p:cNvSpPr/>
            <p:nvPr/>
          </p:nvSpPr>
          <p:spPr>
            <a:xfrm>
              <a:off x="0" y="0"/>
              <a:ext cx="1595628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698" name="Jetpack Compose"/>
            <p:cNvSpPr txBox="1"/>
            <p:nvPr/>
          </p:nvSpPr>
          <p:spPr>
            <a:xfrm>
              <a:off x="82105" y="72898"/>
              <a:ext cx="1431418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Jetpack Compose</a:t>
              </a:r>
            </a:p>
          </p:txBody>
        </p:sp>
      </p:grpSp>
      <p:grpSp>
        <p:nvGrpSpPr>
          <p:cNvPr id="702" name="Rounded Rectangle 2006469653"/>
          <p:cNvGrpSpPr/>
          <p:nvPr/>
        </p:nvGrpSpPr>
        <p:grpSpPr>
          <a:xfrm>
            <a:off x="6185915" y="1823041"/>
            <a:ext cx="502921" cy="310897"/>
            <a:chOff x="0" y="0"/>
            <a:chExt cx="502919" cy="310895"/>
          </a:xfrm>
        </p:grpSpPr>
        <p:sp>
          <p:nvSpPr>
            <p:cNvPr id="700" name="Rounded Rectangle"/>
            <p:cNvSpPr/>
            <p:nvPr/>
          </p:nvSpPr>
          <p:spPr>
            <a:xfrm>
              <a:off x="0" y="0"/>
              <a:ext cx="502920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01" name="DI"/>
            <p:cNvSpPr txBox="1"/>
            <p:nvPr/>
          </p:nvSpPr>
          <p:spPr>
            <a:xfrm>
              <a:off x="82104" y="72898"/>
              <a:ext cx="33871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DI</a:t>
              </a:r>
            </a:p>
          </p:txBody>
        </p:sp>
      </p:grpSp>
      <p:grpSp>
        <p:nvGrpSpPr>
          <p:cNvPr id="705" name="Rounded Rectangle 2006469654"/>
          <p:cNvGrpSpPr/>
          <p:nvPr/>
        </p:nvGrpSpPr>
        <p:grpSpPr>
          <a:xfrm>
            <a:off x="6798564" y="1823041"/>
            <a:ext cx="1074420" cy="310897"/>
            <a:chOff x="0" y="0"/>
            <a:chExt cx="1074419" cy="310895"/>
          </a:xfrm>
        </p:grpSpPr>
        <p:sp>
          <p:nvSpPr>
            <p:cNvPr id="703" name="Rounded Rectangle"/>
            <p:cNvSpPr/>
            <p:nvPr/>
          </p:nvSpPr>
          <p:spPr>
            <a:xfrm>
              <a:off x="0" y="0"/>
              <a:ext cx="1074420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04" name="minSdk 24"/>
            <p:cNvSpPr txBox="1"/>
            <p:nvPr/>
          </p:nvSpPr>
          <p:spPr>
            <a:xfrm>
              <a:off x="82104" y="72898"/>
              <a:ext cx="91021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minSdk 24</a:t>
              </a:r>
            </a:p>
          </p:txBody>
        </p:sp>
      </p:grpSp>
      <p:sp>
        <p:nvSpPr>
          <p:cNvPr id="706" name="TextBox 2006469655"/>
          <p:cNvSpPr txBox="1"/>
          <p:nvPr/>
        </p:nvSpPr>
        <p:spPr>
          <a:xfrm>
            <a:off x="3520440" y="2207088"/>
            <a:ext cx="8321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Модули core, data, domain, feature. Android 7.0 и новее, плавная работа на недорогих устройствах</a:t>
            </a:r>
          </a:p>
        </p:txBody>
      </p:sp>
      <p:grpSp>
        <p:nvGrpSpPr>
          <p:cNvPr id="709" name="Rounded Rectangle 2006469656"/>
          <p:cNvGrpSpPr/>
          <p:nvPr/>
        </p:nvGrpSpPr>
        <p:grpSpPr>
          <a:xfrm>
            <a:off x="3520440" y="2680050"/>
            <a:ext cx="676657" cy="310897"/>
            <a:chOff x="0" y="0"/>
            <a:chExt cx="676655" cy="310895"/>
          </a:xfrm>
        </p:grpSpPr>
        <p:sp>
          <p:nvSpPr>
            <p:cNvPr id="707" name="Rounded Rectangle"/>
            <p:cNvSpPr/>
            <p:nvPr/>
          </p:nvSpPr>
          <p:spPr>
            <a:xfrm>
              <a:off x="0" y="0"/>
              <a:ext cx="676656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08" name="Room"/>
            <p:cNvSpPr txBox="1"/>
            <p:nvPr/>
          </p:nvSpPr>
          <p:spPr>
            <a:xfrm>
              <a:off x="82104" y="72898"/>
              <a:ext cx="512448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Room</a:t>
              </a:r>
            </a:p>
          </p:txBody>
        </p:sp>
      </p:grpSp>
      <p:grpSp>
        <p:nvGrpSpPr>
          <p:cNvPr id="712" name="Rounded Rectangle 2006469657"/>
          <p:cNvGrpSpPr/>
          <p:nvPr/>
        </p:nvGrpSpPr>
        <p:grpSpPr>
          <a:xfrm>
            <a:off x="4306823" y="2680050"/>
            <a:ext cx="1595629" cy="310897"/>
            <a:chOff x="0" y="0"/>
            <a:chExt cx="1595627" cy="310895"/>
          </a:xfrm>
        </p:grpSpPr>
        <p:sp>
          <p:nvSpPr>
            <p:cNvPr id="710" name="Rounded Rectangle"/>
            <p:cNvSpPr/>
            <p:nvPr/>
          </p:nvSpPr>
          <p:spPr>
            <a:xfrm>
              <a:off x="0" y="0"/>
              <a:ext cx="1595628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11" name="Очередь событий"/>
            <p:cNvSpPr txBox="1"/>
            <p:nvPr/>
          </p:nvSpPr>
          <p:spPr>
            <a:xfrm>
              <a:off x="82105" y="72898"/>
              <a:ext cx="1431418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Очередь событий</a:t>
              </a:r>
            </a:p>
          </p:txBody>
        </p:sp>
      </p:grpSp>
      <p:grpSp>
        <p:nvGrpSpPr>
          <p:cNvPr id="715" name="Rounded Rectangle 2006469658"/>
          <p:cNvGrpSpPr/>
          <p:nvPr/>
        </p:nvGrpSpPr>
        <p:grpSpPr>
          <a:xfrm>
            <a:off x="6012179" y="2680050"/>
            <a:ext cx="1682496" cy="310897"/>
            <a:chOff x="0" y="0"/>
            <a:chExt cx="1682494" cy="310895"/>
          </a:xfrm>
        </p:grpSpPr>
        <p:sp>
          <p:nvSpPr>
            <p:cNvPr id="713" name="Rounded Rectangle"/>
            <p:cNvSpPr/>
            <p:nvPr/>
          </p:nvSpPr>
          <p:spPr>
            <a:xfrm>
              <a:off x="0" y="0"/>
              <a:ext cx="1682495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14" name="Монотонное время"/>
            <p:cNvSpPr txBox="1"/>
            <p:nvPr/>
          </p:nvSpPr>
          <p:spPr>
            <a:xfrm>
              <a:off x="82104" y="72898"/>
              <a:ext cx="151828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Монотонное время</a:t>
              </a:r>
            </a:p>
          </p:txBody>
        </p:sp>
      </p:grpSp>
      <p:sp>
        <p:nvSpPr>
          <p:cNvPr id="716" name="TextBox 2006469659"/>
          <p:cNvSpPr txBox="1"/>
          <p:nvPr/>
        </p:nvSpPr>
        <p:spPr>
          <a:xfrm>
            <a:off x="3520440" y="3064099"/>
            <a:ext cx="8321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Игра без сети до 14 дней, синхронизация с разрешением конфликтов, перевод часов не даёт бонусов</a:t>
            </a:r>
          </a:p>
        </p:txBody>
      </p:sp>
      <p:grpSp>
        <p:nvGrpSpPr>
          <p:cNvPr id="719" name="Rounded Rectangle 2006469660"/>
          <p:cNvGrpSpPr/>
          <p:nvPr/>
        </p:nvGrpSpPr>
        <p:grpSpPr>
          <a:xfrm>
            <a:off x="3520440" y="3537060"/>
            <a:ext cx="987553" cy="310897"/>
            <a:chOff x="0" y="0"/>
            <a:chExt cx="987552" cy="310895"/>
          </a:xfrm>
        </p:grpSpPr>
        <p:sp>
          <p:nvSpPr>
            <p:cNvPr id="717" name="Rounded Rectangle"/>
            <p:cNvSpPr/>
            <p:nvPr/>
          </p:nvSpPr>
          <p:spPr>
            <a:xfrm>
              <a:off x="0" y="0"/>
              <a:ext cx="987553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18" name="REST API"/>
            <p:cNvSpPr txBox="1"/>
            <p:nvPr/>
          </p:nvSpPr>
          <p:spPr>
            <a:xfrm>
              <a:off x="82104" y="72898"/>
              <a:ext cx="823344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REST API</a:t>
              </a:r>
            </a:p>
          </p:txBody>
        </p:sp>
      </p:grpSp>
      <p:grpSp>
        <p:nvGrpSpPr>
          <p:cNvPr id="722" name="Rounded Rectangle 2006469661"/>
          <p:cNvGrpSpPr/>
          <p:nvPr/>
        </p:nvGrpSpPr>
        <p:grpSpPr>
          <a:xfrm>
            <a:off x="4617720" y="3537060"/>
            <a:ext cx="937260" cy="310897"/>
            <a:chOff x="0" y="0"/>
            <a:chExt cx="937258" cy="310895"/>
          </a:xfrm>
        </p:grpSpPr>
        <p:sp>
          <p:nvSpPr>
            <p:cNvPr id="720" name="Rounded Rectangle"/>
            <p:cNvSpPr/>
            <p:nvPr/>
          </p:nvSpPr>
          <p:spPr>
            <a:xfrm>
              <a:off x="0" y="0"/>
              <a:ext cx="937259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21" name="OpenAPI"/>
            <p:cNvSpPr txBox="1"/>
            <p:nvPr/>
          </p:nvSpPr>
          <p:spPr>
            <a:xfrm>
              <a:off x="82105" y="72898"/>
              <a:ext cx="773049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OpenAPI</a:t>
              </a:r>
            </a:p>
          </p:txBody>
        </p:sp>
      </p:grpSp>
      <p:grpSp>
        <p:nvGrpSpPr>
          <p:cNvPr id="725" name="Rounded Rectangle 2006469662"/>
          <p:cNvGrpSpPr/>
          <p:nvPr/>
        </p:nvGrpSpPr>
        <p:grpSpPr>
          <a:xfrm>
            <a:off x="5664708" y="3537060"/>
            <a:ext cx="850393" cy="310897"/>
            <a:chOff x="0" y="0"/>
            <a:chExt cx="850391" cy="310895"/>
          </a:xfrm>
        </p:grpSpPr>
        <p:sp>
          <p:nvSpPr>
            <p:cNvPr id="723" name="Rounded Rectangle"/>
            <p:cNvSpPr/>
            <p:nvPr/>
          </p:nvSpPr>
          <p:spPr>
            <a:xfrm>
              <a:off x="0" y="0"/>
              <a:ext cx="850392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24" name="Docker"/>
            <p:cNvSpPr txBox="1"/>
            <p:nvPr/>
          </p:nvSpPr>
          <p:spPr>
            <a:xfrm>
              <a:off x="82104" y="72898"/>
              <a:ext cx="686184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Docker</a:t>
              </a:r>
            </a:p>
          </p:txBody>
        </p:sp>
      </p:grpSp>
      <p:grpSp>
        <p:nvGrpSpPr>
          <p:cNvPr id="728" name="Rounded Rectangle 2006469663"/>
          <p:cNvGrpSpPr/>
          <p:nvPr/>
        </p:nvGrpSpPr>
        <p:grpSpPr>
          <a:xfrm>
            <a:off x="6624828" y="3537060"/>
            <a:ext cx="1421893" cy="310897"/>
            <a:chOff x="0" y="0"/>
            <a:chExt cx="1421891" cy="310895"/>
          </a:xfrm>
        </p:grpSpPr>
        <p:sp>
          <p:nvSpPr>
            <p:cNvPr id="726" name="Rounded Rectangle"/>
            <p:cNvSpPr/>
            <p:nvPr/>
          </p:nvSpPr>
          <p:spPr>
            <a:xfrm>
              <a:off x="0" y="0"/>
              <a:ext cx="1421892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27" name="Remote config"/>
            <p:cNvSpPr txBox="1"/>
            <p:nvPr/>
          </p:nvSpPr>
          <p:spPr>
            <a:xfrm>
              <a:off x="82105" y="72898"/>
              <a:ext cx="1257682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Remote config</a:t>
              </a:r>
            </a:p>
          </p:txBody>
        </p:sp>
      </p:grpSp>
      <p:sp>
        <p:nvSpPr>
          <p:cNvPr id="729" name="TextBox 2006469664"/>
          <p:cNvSpPr txBox="1"/>
          <p:nvPr/>
        </p:nvSpPr>
        <p:spPr>
          <a:xfrm>
            <a:off x="3520440" y="3921107"/>
            <a:ext cx="8321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Анонимный вход и refresh-токены, идемпотентный журнал транзакций, начисления считает сервер</a:t>
            </a:r>
          </a:p>
        </p:txBody>
      </p:sp>
      <p:grpSp>
        <p:nvGrpSpPr>
          <p:cNvPr id="732" name="Rounded Rectangle 2006469665"/>
          <p:cNvGrpSpPr/>
          <p:nvPr/>
        </p:nvGrpSpPr>
        <p:grpSpPr>
          <a:xfrm>
            <a:off x="3520440" y="4394069"/>
            <a:ext cx="502921" cy="310896"/>
            <a:chOff x="0" y="0"/>
            <a:chExt cx="502919" cy="310895"/>
          </a:xfrm>
        </p:grpSpPr>
        <p:sp>
          <p:nvSpPr>
            <p:cNvPr id="730" name="Rounded Rectangle"/>
            <p:cNvSpPr/>
            <p:nvPr/>
          </p:nvSpPr>
          <p:spPr>
            <a:xfrm>
              <a:off x="0" y="0"/>
              <a:ext cx="502920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31" name="R8"/>
            <p:cNvSpPr txBox="1"/>
            <p:nvPr/>
          </p:nvSpPr>
          <p:spPr>
            <a:xfrm>
              <a:off x="82104" y="72898"/>
              <a:ext cx="33871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R8</a:t>
              </a:r>
            </a:p>
          </p:txBody>
        </p:sp>
      </p:grpSp>
      <p:grpSp>
        <p:nvGrpSpPr>
          <p:cNvPr id="735" name="Rounded Rectangle 2006469666"/>
          <p:cNvGrpSpPr/>
          <p:nvPr/>
        </p:nvGrpSpPr>
        <p:grpSpPr>
          <a:xfrm>
            <a:off x="4133088" y="4394069"/>
            <a:ext cx="1472185" cy="310896"/>
            <a:chOff x="0" y="0"/>
            <a:chExt cx="1472183" cy="310895"/>
          </a:xfrm>
        </p:grpSpPr>
        <p:sp>
          <p:nvSpPr>
            <p:cNvPr id="733" name="Rounded Rectangle"/>
            <p:cNvSpPr/>
            <p:nvPr/>
          </p:nvSpPr>
          <p:spPr>
            <a:xfrm>
              <a:off x="0" y="0"/>
              <a:ext cx="1472184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34" name="OWASP MASVS L1"/>
            <p:cNvSpPr txBox="1"/>
            <p:nvPr/>
          </p:nvSpPr>
          <p:spPr>
            <a:xfrm>
              <a:off x="82104" y="72898"/>
              <a:ext cx="130797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OWASP MASVS L1</a:t>
              </a:r>
            </a:p>
          </p:txBody>
        </p:sp>
      </p:grpSp>
      <p:grpSp>
        <p:nvGrpSpPr>
          <p:cNvPr id="738" name="Rounded Rectangle 2006469667"/>
          <p:cNvGrpSpPr/>
          <p:nvPr/>
        </p:nvGrpSpPr>
        <p:grpSpPr>
          <a:xfrm>
            <a:off x="5715000" y="4394069"/>
            <a:ext cx="850392" cy="310896"/>
            <a:chOff x="0" y="0"/>
            <a:chExt cx="850391" cy="310895"/>
          </a:xfrm>
        </p:grpSpPr>
        <p:sp>
          <p:nvSpPr>
            <p:cNvPr id="736" name="Rounded Rectangle"/>
            <p:cNvSpPr/>
            <p:nvPr/>
          </p:nvSpPr>
          <p:spPr>
            <a:xfrm>
              <a:off x="0" y="0"/>
              <a:ext cx="850392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37" name="152-ФЗ"/>
            <p:cNvSpPr txBox="1"/>
            <p:nvPr/>
          </p:nvSpPr>
          <p:spPr>
            <a:xfrm>
              <a:off x="82104" y="72898"/>
              <a:ext cx="686184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152-ФЗ</a:t>
              </a:r>
            </a:p>
          </p:txBody>
        </p:sp>
      </p:grpSp>
      <p:sp>
        <p:nvSpPr>
          <p:cNvPr id="739" name="TextBox 2006469668"/>
          <p:cNvSpPr txBox="1"/>
          <p:nvPr/>
        </p:nvSpPr>
        <p:spPr>
          <a:xfrm>
            <a:off x="3520440" y="4778116"/>
            <a:ext cx="8321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Профиль без телефона, почты и геолокации, хранение в России, проверка SDK на рекламу</a:t>
            </a:r>
          </a:p>
        </p:txBody>
      </p:sp>
      <p:grpSp>
        <p:nvGrpSpPr>
          <p:cNvPr id="742" name="Rounded Rectangle 2006469669"/>
          <p:cNvGrpSpPr/>
          <p:nvPr/>
        </p:nvGrpSpPr>
        <p:grpSpPr>
          <a:xfrm>
            <a:off x="3520440" y="5251079"/>
            <a:ext cx="1248156" cy="310897"/>
            <a:chOff x="0" y="0"/>
            <a:chExt cx="1248155" cy="310895"/>
          </a:xfrm>
        </p:grpSpPr>
        <p:sp>
          <p:nvSpPr>
            <p:cNvPr id="740" name="Rounded Rectangle"/>
            <p:cNvSpPr/>
            <p:nvPr/>
          </p:nvSpPr>
          <p:spPr>
            <a:xfrm>
              <a:off x="0" y="0"/>
              <a:ext cx="1248156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41" name="RuStore SDK"/>
            <p:cNvSpPr txBox="1"/>
            <p:nvPr/>
          </p:nvSpPr>
          <p:spPr>
            <a:xfrm>
              <a:off x="82104" y="72898"/>
              <a:ext cx="1083947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RuStore SDK</a:t>
              </a:r>
            </a:p>
          </p:txBody>
        </p:sp>
      </p:grpSp>
      <p:grpSp>
        <p:nvGrpSpPr>
          <p:cNvPr id="745" name="Rounded Rectangle 2006469670"/>
          <p:cNvGrpSpPr/>
          <p:nvPr/>
        </p:nvGrpSpPr>
        <p:grpSpPr>
          <a:xfrm>
            <a:off x="4878323" y="5251079"/>
            <a:ext cx="502921" cy="310897"/>
            <a:chOff x="0" y="0"/>
            <a:chExt cx="502919" cy="310895"/>
          </a:xfrm>
        </p:grpSpPr>
        <p:sp>
          <p:nvSpPr>
            <p:cNvPr id="743" name="Rounded Rectangle"/>
            <p:cNvSpPr/>
            <p:nvPr/>
          </p:nvSpPr>
          <p:spPr>
            <a:xfrm>
              <a:off x="0" y="0"/>
              <a:ext cx="502920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44" name="CI"/>
            <p:cNvSpPr txBox="1"/>
            <p:nvPr/>
          </p:nvSpPr>
          <p:spPr>
            <a:xfrm>
              <a:off x="82104" y="72898"/>
              <a:ext cx="33871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CI</a:t>
              </a:r>
            </a:p>
          </p:txBody>
        </p:sp>
      </p:grpSp>
      <p:grpSp>
        <p:nvGrpSpPr>
          <p:cNvPr id="748" name="Rounded Rectangle 2006469671"/>
          <p:cNvGrpSpPr/>
          <p:nvPr/>
        </p:nvGrpSpPr>
        <p:grpSpPr>
          <a:xfrm>
            <a:off x="5490971" y="5251079"/>
            <a:ext cx="1746505" cy="310897"/>
            <a:chOff x="0" y="0"/>
            <a:chExt cx="1746504" cy="310895"/>
          </a:xfrm>
        </p:grpSpPr>
        <p:sp>
          <p:nvSpPr>
            <p:cNvPr id="746" name="Rounded Rectangle"/>
            <p:cNvSpPr/>
            <p:nvPr/>
          </p:nvSpPr>
          <p:spPr>
            <a:xfrm>
              <a:off x="0" y="0"/>
              <a:ext cx="1746505" cy="310896"/>
            </a:xfrm>
            <a:prstGeom prst="roundRect">
              <a:avLst>
                <a:gd name="adj" fmla="val 50000"/>
              </a:avLst>
            </a:prstGeom>
            <a:solidFill>
              <a:srgbClr val="FFD6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47" name="dev / stage / prod"/>
            <p:cNvSpPr txBox="1"/>
            <p:nvPr/>
          </p:nvSpPr>
          <p:spPr>
            <a:xfrm>
              <a:off x="82104" y="72898"/>
              <a:ext cx="1582296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520978"/>
                  </a:solidFill>
                </a:defRPr>
              </a:lvl1pPr>
            </a:lstStyle>
            <a:p>
              <a:pPr/>
              <a:r>
                <a:t>dev / stage / prod</a:t>
              </a:r>
            </a:p>
          </p:txBody>
        </p:sp>
      </p:grpSp>
      <p:sp>
        <p:nvSpPr>
          <p:cNvPr id="749" name="TextBox 2006469672"/>
          <p:cNvSpPr txBox="1"/>
          <p:nvPr/>
        </p:nvSpPr>
        <p:spPr>
          <a:xfrm>
            <a:off x="3520440" y="5635126"/>
            <a:ext cx="8321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Сборка без сервисов Google, линт и тесты на каждый pull request, мониторинг и бэкапы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Скругленный прямоугольник 13"/>
          <p:cNvSpPr/>
          <p:nvPr/>
        </p:nvSpPr>
        <p:spPr>
          <a:xfrm>
            <a:off x="6286500" y="4562855"/>
            <a:ext cx="5570538" cy="1417321"/>
          </a:xfrm>
          <a:prstGeom prst="roundRect">
            <a:avLst>
              <a:gd name="adj" fmla="val 8775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752" name="Скругленный прямоугольник 11"/>
          <p:cNvSpPr/>
          <p:nvPr/>
        </p:nvSpPr>
        <p:spPr>
          <a:xfrm>
            <a:off x="6286500" y="2898648"/>
            <a:ext cx="5570538" cy="1417321"/>
          </a:xfrm>
          <a:prstGeom prst="roundRect">
            <a:avLst>
              <a:gd name="adj" fmla="val 8775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sp>
        <p:nvSpPr>
          <p:cNvPr id="753" name="Скругленный прямоугольник 10"/>
          <p:cNvSpPr/>
          <p:nvPr/>
        </p:nvSpPr>
        <p:spPr>
          <a:xfrm>
            <a:off x="6286500" y="1234439"/>
            <a:ext cx="5570538" cy="1417321"/>
          </a:xfrm>
          <a:prstGeom prst="roundRect">
            <a:avLst>
              <a:gd name="adj" fmla="val 8775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/>
            </a:pPr>
          </a:p>
        </p:txBody>
      </p:sp>
      <p:grpSp>
        <p:nvGrpSpPr>
          <p:cNvPr id="756" name="Скругленный прямоугольник 1"/>
          <p:cNvGrpSpPr/>
          <p:nvPr/>
        </p:nvGrpSpPr>
        <p:grpSpPr>
          <a:xfrm>
            <a:off x="346075" y="324561"/>
            <a:ext cx="3493009" cy="620920"/>
            <a:chOff x="0" y="0"/>
            <a:chExt cx="3493008" cy="620918"/>
          </a:xfrm>
        </p:grpSpPr>
        <p:sp>
          <p:nvSpPr>
            <p:cNvPr id="754" name="Rounded Rectangle"/>
            <p:cNvSpPr/>
            <p:nvPr/>
          </p:nvSpPr>
          <p:spPr>
            <a:xfrm>
              <a:off x="0" y="0"/>
              <a:ext cx="3493009" cy="620919"/>
            </a:xfrm>
            <a:prstGeom prst="roundRect">
              <a:avLst>
                <a:gd name="adj" fmla="val 1870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55" name="ДОВЕРИЕ РОДИТЕЛЯ"/>
            <p:cNvSpPr txBox="1"/>
            <p:nvPr/>
          </p:nvSpPr>
          <p:spPr>
            <a:xfrm>
              <a:off x="198610" y="139771"/>
              <a:ext cx="2809047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ДОВЕРИЕ РОДИТЕЛЯ</a:t>
              </a:r>
            </a:p>
          </p:txBody>
        </p:sp>
      </p:grpSp>
      <p:sp>
        <p:nvSpPr>
          <p:cNvPr id="757" name="Номер слайда 8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58" name="Текст 2"/>
          <p:cNvSpPr txBox="1"/>
          <p:nvPr>
            <p:ph type="body" sz="quarter" idx="1"/>
          </p:nvPr>
        </p:nvSpPr>
        <p:spPr>
          <a:xfrm>
            <a:off x="6591637" y="1417319"/>
            <a:ext cx="4790315" cy="384049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500">
                <a:solidFill>
                  <a:srgbClr val="520978"/>
                </a:solidFill>
              </a:defRPr>
            </a:lvl1pPr>
          </a:lstStyle>
          <a:p>
            <a:pPr/>
            <a:r>
              <a:t>Родительский раздел по PIN</a:t>
            </a:r>
          </a:p>
        </p:txBody>
      </p:sp>
      <p:sp>
        <p:nvSpPr>
          <p:cNvPr id="759" name="Текст 3"/>
          <p:cNvSpPr/>
          <p:nvPr>
            <p:ph type="body" idx="21"/>
          </p:nvPr>
        </p:nvSpPr>
        <p:spPr>
          <a:xfrm>
            <a:off x="6591637" y="1837944"/>
            <a:ext cx="4790315" cy="7315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lnSpc>
                <a:spcPct val="104999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Родитель задаёт PIN из 4 цифр при первом запуске. Сброс прогресса и настройки только после ввода PIN.</a:t>
            </a:r>
          </a:p>
        </p:txBody>
      </p:sp>
      <p:sp>
        <p:nvSpPr>
          <p:cNvPr id="760" name="Текст 4"/>
          <p:cNvSpPr/>
          <p:nvPr>
            <p:ph type="body" idx="22"/>
          </p:nvPr>
        </p:nvSpPr>
        <p:spPr>
          <a:xfrm>
            <a:off x="6591637" y="3081527"/>
            <a:ext cx="4790315" cy="38404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b="1" sz="1500">
                <a:solidFill>
                  <a:srgbClr val="520978"/>
                </a:solidFill>
              </a:defRPr>
            </a:lvl1pPr>
          </a:lstStyle>
          <a:p>
            <a:pPr/>
            <a:r>
              <a:t>Данные ребёнка под защитой</a:t>
            </a:r>
          </a:p>
        </p:txBody>
      </p:sp>
      <p:sp>
        <p:nvSpPr>
          <p:cNvPr id="761" name="Текст 5"/>
          <p:cNvSpPr/>
          <p:nvPr>
            <p:ph type="body" idx="23"/>
          </p:nvPr>
        </p:nvSpPr>
        <p:spPr>
          <a:xfrm>
            <a:off x="6591637" y="3502152"/>
            <a:ext cx="4790315" cy="7315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lnSpc>
                <a:spcPct val="104999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Анонимный профиль без телефона, почты и геолокации. Данные хранятся в России.</a:t>
            </a:r>
          </a:p>
        </p:txBody>
      </p:sp>
      <p:sp>
        <p:nvSpPr>
          <p:cNvPr id="762" name="Текст 6"/>
          <p:cNvSpPr/>
          <p:nvPr>
            <p:ph type="body" idx="24"/>
          </p:nvPr>
        </p:nvSpPr>
        <p:spPr>
          <a:xfrm>
            <a:off x="6591637" y="4745735"/>
            <a:ext cx="4790315" cy="38404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b="1" sz="1500">
                <a:solidFill>
                  <a:srgbClr val="520978"/>
                </a:solidFill>
              </a:defRPr>
            </a:lvl1pPr>
          </a:lstStyle>
          <a:p>
            <a:pPr/>
            <a:r>
              <a:t>Повод для разговора в семье</a:t>
            </a:r>
          </a:p>
        </p:txBody>
      </p:sp>
      <p:sp>
        <p:nvSpPr>
          <p:cNvPr id="763" name="Текст 7"/>
          <p:cNvSpPr/>
          <p:nvPr>
            <p:ph type="body" idx="25"/>
          </p:nvPr>
        </p:nvSpPr>
        <p:spPr>
          <a:xfrm>
            <a:off x="6591637" y="5166359"/>
            <a:ext cx="4790315" cy="7315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lnSpc>
                <a:spcPct val="104999"/>
              </a:lnSpc>
              <a:spcBef>
                <a:spcPts val="0"/>
              </a:spcBef>
              <a:buSzTx/>
              <a:buNone/>
              <a:defRPr sz="1200">
                <a:solidFill>
                  <a:srgbClr val="1C1D22"/>
                </a:solidFill>
              </a:defRPr>
            </a:lvl1pPr>
          </a:lstStyle>
          <a:p>
            <a:pPr/>
            <a:r>
              <a:t>Недельная сводка показывает решения ребёнка без оценок и сравнения с другими детьми.</a:t>
            </a:r>
          </a:p>
        </p:txBody>
      </p:sp>
      <p:sp>
        <p:nvSpPr>
          <p:cNvPr id="764" name="TextBox 1536201212"/>
          <p:cNvSpPr txBox="1"/>
          <p:nvPr/>
        </p:nvSpPr>
        <p:spPr>
          <a:xfrm>
            <a:off x="548640" y="1333499"/>
            <a:ext cx="1188720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chemeClr val="accent1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65" name="TextBox 1536201213"/>
          <p:cNvSpPr txBox="1"/>
          <p:nvPr/>
        </p:nvSpPr>
        <p:spPr>
          <a:xfrm>
            <a:off x="1783079" y="1803399"/>
            <a:ext cx="41148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b="1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рекламы и рекламных SDK</a:t>
            </a:r>
          </a:p>
        </p:txBody>
      </p:sp>
      <p:sp>
        <p:nvSpPr>
          <p:cNvPr id="766" name="TextBox 1536201214"/>
          <p:cNvSpPr txBox="1"/>
          <p:nvPr/>
        </p:nvSpPr>
        <p:spPr>
          <a:xfrm>
            <a:off x="548640" y="2997708"/>
            <a:ext cx="1188720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chemeClr val="accent1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67" name="TextBox 1536201215"/>
          <p:cNvSpPr txBox="1"/>
          <p:nvPr/>
        </p:nvSpPr>
        <p:spPr>
          <a:xfrm>
            <a:off x="1783079" y="3467608"/>
            <a:ext cx="41148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b="1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покупок за реальные деньги</a:t>
            </a:r>
          </a:p>
        </p:txBody>
      </p:sp>
      <p:sp>
        <p:nvSpPr>
          <p:cNvPr id="768" name="TextBox 1536201216"/>
          <p:cNvSpPr txBox="1"/>
          <p:nvPr/>
        </p:nvSpPr>
        <p:spPr>
          <a:xfrm>
            <a:off x="548640" y="4661915"/>
            <a:ext cx="1188720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chemeClr val="accent1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69" name="TextBox 1536201217"/>
          <p:cNvSpPr txBox="1"/>
          <p:nvPr/>
        </p:nvSpPr>
        <p:spPr>
          <a:xfrm>
            <a:off x="1783079" y="4985130"/>
            <a:ext cx="4114801" cy="57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b="1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нет прямых советов: питомец говорит только о своих чувствах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Прямоугольник 29"/>
          <p:cNvSpPr/>
          <p:nvPr/>
        </p:nvSpPr>
        <p:spPr>
          <a:xfrm>
            <a:off x="-1" y="0"/>
            <a:ext cx="6456365" cy="6858000"/>
          </a:xfrm>
          <a:prstGeom prst="rect">
            <a:avLst/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sp>
        <p:nvSpPr>
          <p:cNvPr id="772" name="Номер слайда 20"/>
          <p:cNvSpPr txBox="1"/>
          <p:nvPr>
            <p:ph type="sldNum" sz="quarter" idx="2"/>
          </p:nvPr>
        </p:nvSpPr>
        <p:spPr>
          <a:xfrm>
            <a:off x="11556239" y="6404299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75" name="Rounded Rectangle 1337174043"/>
          <p:cNvGrpSpPr/>
          <p:nvPr/>
        </p:nvGrpSpPr>
        <p:grpSpPr>
          <a:xfrm>
            <a:off x="347472" y="320040"/>
            <a:ext cx="3136391" cy="621792"/>
            <a:chOff x="0" y="0"/>
            <a:chExt cx="3136390" cy="621791"/>
          </a:xfrm>
        </p:grpSpPr>
        <p:sp>
          <p:nvSpPr>
            <p:cNvPr id="773" name="Rounded Rectangle"/>
            <p:cNvSpPr/>
            <p:nvPr/>
          </p:nvSpPr>
          <p:spPr>
            <a:xfrm>
              <a:off x="0" y="0"/>
              <a:ext cx="3136391" cy="621792"/>
            </a:xfrm>
            <a:prstGeom prst="roundRect">
              <a:avLst>
                <a:gd name="adj" fmla="val 18700"/>
              </a:avLst>
            </a:prstGeom>
            <a:solidFill>
              <a:srgbClr val="5209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74" name="ПЛАНЫ РАЗВИТИЯ"/>
            <p:cNvSpPr txBox="1"/>
            <p:nvPr/>
          </p:nvSpPr>
          <p:spPr>
            <a:xfrm>
              <a:off x="198647" y="140207"/>
              <a:ext cx="2506554" cy="3413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>
                <a:defRPr b="1" sz="2000"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lvl1pPr>
            </a:lstStyle>
            <a:p>
              <a:pPr/>
              <a:r>
                <a:t>ПЛАНЫ РАЗВИТИЯ</a:t>
              </a:r>
            </a:p>
          </p:txBody>
        </p:sp>
      </p:grpSp>
      <p:grpSp>
        <p:nvGrpSpPr>
          <p:cNvPr id="778" name="Rounded Rectangle 1337174044"/>
          <p:cNvGrpSpPr/>
          <p:nvPr/>
        </p:nvGrpSpPr>
        <p:grpSpPr>
          <a:xfrm>
            <a:off x="502919" y="1280160"/>
            <a:ext cx="658369" cy="566929"/>
            <a:chOff x="0" y="0"/>
            <a:chExt cx="658368" cy="566927"/>
          </a:xfrm>
        </p:grpSpPr>
        <p:sp>
          <p:nvSpPr>
            <p:cNvPr id="776" name="Rounded Rectangle"/>
            <p:cNvSpPr/>
            <p:nvPr/>
          </p:nvSpPr>
          <p:spPr>
            <a:xfrm>
              <a:off x="0" y="0"/>
              <a:ext cx="658369" cy="566928"/>
            </a:xfrm>
            <a:prstGeom prst="roundRect">
              <a:avLst>
                <a:gd name="adj" fmla="val 20000"/>
              </a:avLst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77" name="1"/>
            <p:cNvSpPr txBox="1"/>
            <p:nvPr/>
          </p:nvSpPr>
          <p:spPr>
            <a:xfrm>
              <a:off x="41147" y="143763"/>
              <a:ext cx="576074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779" name="TextBox 1337174045"/>
          <p:cNvSpPr txBox="1"/>
          <p:nvPr/>
        </p:nvSpPr>
        <p:spPr>
          <a:xfrm>
            <a:off x="1371600" y="1234439"/>
            <a:ext cx="4754880" cy="632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b="1" sz="1500">
                <a:solidFill>
                  <a:srgbClr val="520978"/>
                </a:solidFill>
              </a:defRPr>
            </a:pPr>
            <a:r>
              <a:t>Плейтест с детьми</a:t>
            </a:r>
          </a:p>
          <a:p>
            <a:pPr>
              <a:lnSpc>
                <a:spcPct val="105999"/>
              </a:lnSpc>
              <a:defRPr sz="1200">
                <a:solidFill>
                  <a:srgbClr val="1C1D22"/>
                </a:solidFill>
              </a:defRPr>
            </a:pPr>
            <a:r>
              <a:t>Вертикальный срез на 3 дня (16 детей, дневник родителя), затем закрытая бета на 14 дней (40 детей, 10 интервью).</a:t>
            </a:r>
          </a:p>
        </p:txBody>
      </p:sp>
      <p:grpSp>
        <p:nvGrpSpPr>
          <p:cNvPr id="782" name="Rounded Rectangle 1337174046"/>
          <p:cNvGrpSpPr/>
          <p:nvPr/>
        </p:nvGrpSpPr>
        <p:grpSpPr>
          <a:xfrm>
            <a:off x="502919" y="2560320"/>
            <a:ext cx="658369" cy="566929"/>
            <a:chOff x="0" y="0"/>
            <a:chExt cx="658368" cy="566927"/>
          </a:xfrm>
        </p:grpSpPr>
        <p:sp>
          <p:nvSpPr>
            <p:cNvPr id="780" name="Rounded Rectangle"/>
            <p:cNvSpPr/>
            <p:nvPr/>
          </p:nvSpPr>
          <p:spPr>
            <a:xfrm>
              <a:off x="0" y="0"/>
              <a:ext cx="658369" cy="566928"/>
            </a:xfrm>
            <a:prstGeom prst="roundRect">
              <a:avLst>
                <a:gd name="adj" fmla="val 20000"/>
              </a:avLst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81" name="2"/>
            <p:cNvSpPr txBox="1"/>
            <p:nvPr/>
          </p:nvSpPr>
          <p:spPr>
            <a:xfrm>
              <a:off x="41147" y="143763"/>
              <a:ext cx="576074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783" name="TextBox 1337174047"/>
          <p:cNvSpPr txBox="1"/>
          <p:nvPr/>
        </p:nvSpPr>
        <p:spPr>
          <a:xfrm>
            <a:off x="1371600" y="2514600"/>
            <a:ext cx="4754880" cy="632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b="1" sz="1500">
                <a:solidFill>
                  <a:srgbClr val="520978"/>
                </a:solidFill>
              </a:defRPr>
            </a:pPr>
            <a:r>
              <a:t>Исследование эффекта</a:t>
            </a:r>
          </a:p>
          <a:p>
            <a:pPr>
              <a:lnSpc>
                <a:spcPct val="105999"/>
              </a:lnSpc>
              <a:defRPr sz="1200">
                <a:solidFill>
                  <a:srgbClr val="1C1D22"/>
                </a:solidFill>
              </a:defRPr>
            </a:pPr>
            <a:r>
              <a:t>120 дней наблюдения за 60 семьями: удержание и обучающий эффект по Единой рамке компетенций.</a:t>
            </a:r>
          </a:p>
        </p:txBody>
      </p:sp>
      <p:grpSp>
        <p:nvGrpSpPr>
          <p:cNvPr id="786" name="Rounded Rectangle 1337174048"/>
          <p:cNvGrpSpPr/>
          <p:nvPr/>
        </p:nvGrpSpPr>
        <p:grpSpPr>
          <a:xfrm>
            <a:off x="502919" y="3840479"/>
            <a:ext cx="658369" cy="566929"/>
            <a:chOff x="0" y="0"/>
            <a:chExt cx="658368" cy="566927"/>
          </a:xfrm>
        </p:grpSpPr>
        <p:sp>
          <p:nvSpPr>
            <p:cNvPr id="784" name="Rounded Rectangle"/>
            <p:cNvSpPr/>
            <p:nvPr/>
          </p:nvSpPr>
          <p:spPr>
            <a:xfrm>
              <a:off x="0" y="0"/>
              <a:ext cx="658369" cy="566928"/>
            </a:xfrm>
            <a:prstGeom prst="roundRect">
              <a:avLst>
                <a:gd name="adj" fmla="val 20000"/>
              </a:avLst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85" name="3"/>
            <p:cNvSpPr txBox="1"/>
            <p:nvPr/>
          </p:nvSpPr>
          <p:spPr>
            <a:xfrm>
              <a:off x="41147" y="143763"/>
              <a:ext cx="576074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787" name="TextBox 1337174049"/>
          <p:cNvSpPr txBox="1"/>
          <p:nvPr/>
        </p:nvSpPr>
        <p:spPr>
          <a:xfrm>
            <a:off x="1371600" y="3794759"/>
            <a:ext cx="4754880" cy="632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b="1" sz="1500">
                <a:solidFill>
                  <a:srgbClr val="520978"/>
                </a:solidFill>
              </a:defRPr>
            </a:pPr>
            <a:r>
              <a:t>Релиз в RuStore</a:t>
            </a:r>
          </a:p>
          <a:p>
            <a:pPr>
              <a:lnSpc>
                <a:spcPct val="105999"/>
              </a:lnSpc>
              <a:defRPr sz="1200">
                <a:solidFill>
                  <a:srgbClr val="1C1D22"/>
                </a:solidFill>
              </a:defRPr>
            </a:pPr>
            <a:r>
              <a:t>MVP за 5 спринтов: 85 из 95 задач бэклога, 465 из 531 story points.</a:t>
            </a:r>
          </a:p>
        </p:txBody>
      </p:sp>
      <p:grpSp>
        <p:nvGrpSpPr>
          <p:cNvPr id="790" name="Rounded Rectangle 1337174050"/>
          <p:cNvGrpSpPr/>
          <p:nvPr/>
        </p:nvGrpSpPr>
        <p:grpSpPr>
          <a:xfrm>
            <a:off x="502919" y="5120640"/>
            <a:ext cx="658369" cy="566929"/>
            <a:chOff x="0" y="0"/>
            <a:chExt cx="658368" cy="566927"/>
          </a:xfrm>
        </p:grpSpPr>
        <p:sp>
          <p:nvSpPr>
            <p:cNvPr id="788" name="Rounded Rectangle"/>
            <p:cNvSpPr/>
            <p:nvPr/>
          </p:nvSpPr>
          <p:spPr>
            <a:xfrm>
              <a:off x="0" y="0"/>
              <a:ext cx="658369" cy="566928"/>
            </a:xfrm>
            <a:prstGeom prst="roundRect">
              <a:avLst>
                <a:gd name="adj" fmla="val 20000"/>
              </a:avLst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2">
                      <a:hueOff val="1141463"/>
                      <a:satOff val="-100000"/>
                      <a:lumOff val="8039"/>
                    </a:schemeClr>
                  </a:solidFill>
                </a:defRPr>
              </a:pPr>
            </a:p>
          </p:txBody>
        </p:sp>
        <p:sp>
          <p:nvSpPr>
            <p:cNvPr id="789" name="4"/>
            <p:cNvSpPr txBox="1"/>
            <p:nvPr/>
          </p:nvSpPr>
          <p:spPr>
            <a:xfrm>
              <a:off x="41147" y="143763"/>
              <a:ext cx="576074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791" name="TextBox 1337174051"/>
          <p:cNvSpPr txBox="1"/>
          <p:nvPr/>
        </p:nvSpPr>
        <p:spPr>
          <a:xfrm>
            <a:off x="1371600" y="5074920"/>
            <a:ext cx="4754880" cy="632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b="1" sz="1500">
                <a:solidFill>
                  <a:srgbClr val="520978"/>
                </a:solidFill>
              </a:defRPr>
            </a:pPr>
            <a:r>
              <a:t>Развитие</a:t>
            </a:r>
          </a:p>
          <a:p>
            <a:pPr>
              <a:lnSpc>
                <a:spcPct val="105999"/>
              </a:lnSpc>
              <a:defRPr sz="1200">
                <a:solidFill>
                  <a:srgbClr val="1C1D22"/>
                </a:solidFill>
              </a:defRPr>
            </a:pPr>
            <a:r>
              <a:t>Версия для подростков 14-17 лет, сезонные события, задания от родителя, админ-панель контента.</a:t>
            </a:r>
          </a:p>
        </p:txBody>
      </p:sp>
      <p:sp>
        <p:nvSpPr>
          <p:cNvPr id="792" name="Rounded Rectangle 1337174052"/>
          <p:cNvSpPr/>
          <p:nvPr/>
        </p:nvSpPr>
        <p:spPr>
          <a:xfrm>
            <a:off x="6812280" y="1234439"/>
            <a:ext cx="4892041" cy="4754881"/>
          </a:xfrm>
          <a:prstGeom prst="roundRect">
            <a:avLst>
              <a:gd name="adj" fmla="val 8000"/>
            </a:avLst>
          </a:prstGeom>
          <a:solidFill>
            <a:srgbClr val="310F53">
              <a:alpha val="5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793" name="TextBox 1337174053"/>
          <p:cNvSpPr txBox="1"/>
          <p:nvPr/>
        </p:nvSpPr>
        <p:spPr>
          <a:xfrm>
            <a:off x="7178040" y="1277620"/>
            <a:ext cx="4389121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54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94" name="TextBox 1337174054"/>
          <p:cNvSpPr txBox="1"/>
          <p:nvPr/>
        </p:nvSpPr>
        <p:spPr>
          <a:xfrm>
            <a:off x="7196328" y="2103120"/>
            <a:ext cx="43891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спринтов на MVP</a:t>
            </a:r>
          </a:p>
        </p:txBody>
      </p:sp>
      <p:sp>
        <p:nvSpPr>
          <p:cNvPr id="795" name="TextBox 1337174055"/>
          <p:cNvSpPr txBox="1"/>
          <p:nvPr/>
        </p:nvSpPr>
        <p:spPr>
          <a:xfrm>
            <a:off x="7178040" y="2786379"/>
            <a:ext cx="4389121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54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85</a:t>
            </a:r>
          </a:p>
        </p:txBody>
      </p:sp>
      <p:sp>
        <p:nvSpPr>
          <p:cNvPr id="796" name="TextBox 1337174056"/>
          <p:cNvSpPr txBox="1"/>
          <p:nvPr/>
        </p:nvSpPr>
        <p:spPr>
          <a:xfrm>
            <a:off x="7196328" y="3611879"/>
            <a:ext cx="43891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задач в MVP из 95 в бэклоге</a:t>
            </a:r>
          </a:p>
        </p:txBody>
      </p:sp>
      <p:sp>
        <p:nvSpPr>
          <p:cNvPr id="797" name="TextBox 1337174057"/>
          <p:cNvSpPr txBox="1"/>
          <p:nvPr/>
        </p:nvSpPr>
        <p:spPr>
          <a:xfrm>
            <a:off x="7178040" y="4295140"/>
            <a:ext cx="4389121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54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120</a:t>
            </a:r>
          </a:p>
        </p:txBody>
      </p:sp>
      <p:sp>
        <p:nvSpPr>
          <p:cNvPr id="798" name="TextBox 1337174058"/>
          <p:cNvSpPr txBox="1"/>
          <p:nvPr/>
        </p:nvSpPr>
        <p:spPr>
          <a:xfrm>
            <a:off x="7196328" y="5120640"/>
            <a:ext cx="43891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дней наблюдения за семьями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Заголовок 2"/>
          <p:cNvSpPr txBox="1"/>
          <p:nvPr>
            <p:ph type="title"/>
          </p:nvPr>
        </p:nvSpPr>
        <p:spPr>
          <a:xfrm>
            <a:off x="566927" y="3017520"/>
            <a:ext cx="7315201" cy="914401"/>
          </a:xfrm>
          <a:prstGeom prst="rect">
            <a:avLst/>
          </a:prstGeom>
        </p:spPr>
        <p:txBody>
          <a:bodyPr lIns="0" tIns="0" rIns="0" bIns="0"/>
          <a:lstStyle>
            <a:lvl1pPr indent="0">
              <a:defRPr sz="3600"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СПАСИБО ЗА ВНИМАНИЕ!</a:t>
            </a:r>
          </a:p>
        </p:txBody>
      </p:sp>
      <p:sp>
        <p:nvSpPr>
          <p:cNvPr id="801" name="Rounded Rectangle 2133177251"/>
          <p:cNvSpPr/>
          <p:nvPr/>
        </p:nvSpPr>
        <p:spPr>
          <a:xfrm>
            <a:off x="301752" y="329184"/>
            <a:ext cx="5193792" cy="1078992"/>
          </a:xfrm>
          <a:prstGeom prst="roundRect">
            <a:avLst>
              <a:gd name="adj" fmla="val 18000"/>
            </a:avLst>
          </a:prstGeom>
          <a:solidFill>
            <a:schemeClr val="accent2">
              <a:hueOff val="1141463"/>
              <a:satOff val="-100000"/>
              <a:lumOff val="8039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pPr>
          </a:p>
        </p:txBody>
      </p:sp>
      <p:sp>
        <p:nvSpPr>
          <p:cNvPr id="802" name="Текст 4"/>
          <p:cNvSpPr txBox="1"/>
          <p:nvPr>
            <p:ph type="body" sz="quarter" idx="1"/>
          </p:nvPr>
        </p:nvSpPr>
        <p:spPr>
          <a:xfrm>
            <a:off x="566927" y="4069079"/>
            <a:ext cx="7315201" cy="548641"/>
          </a:xfrm>
          <a:prstGeom prst="rect">
            <a:avLst/>
          </a:prstGeom>
        </p:spPr>
        <p:txBody>
          <a:bodyPr lIns="0" tIns="0" rIns="0" bIns="0" anchor="ctr"/>
          <a:lstStyle>
            <a:lvl1pPr indent="0">
              <a:spcBef>
                <a:spcPts val="0"/>
              </a:spcBef>
              <a:defRPr>
                <a:solidFill>
                  <a:schemeClr val="accent2">
                    <a:hueOff val="1141463"/>
                    <a:satOff val="-100000"/>
                    <a:lumOff val="8039"/>
                  </a:schemeClr>
                </a:solidFill>
              </a:defRPr>
            </a:lvl1pPr>
          </a:lstStyle>
          <a:p>
            <a:pPr/>
            <a:r>
              <a:t>FinPet  •  SupernovaStar •  Борисовская Алёна @krautkraft</a:t>
            </a:r>
          </a:p>
        </p:txBody>
      </p:sp>
      <p:sp>
        <p:nvSpPr>
          <p:cNvPr id="803" name="Скругленный прямоугольник 1"/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ln>
            <a:solidFill>
              <a:schemeClr val="accent2"/>
            </a:solidFill>
          </a:ln>
        </p:spPr>
        <p:txBody>
          <a:bodyPr lIns="45719" rIns="45719"/>
          <a:lstStyle/>
          <a:p>
            <a:pPr algn="ctr">
              <a:defRPr b="1">
                <a:solidFill>
                  <a:schemeClr val="accent2"/>
                </a:solidFill>
              </a:defRPr>
            </a:pPr>
          </a:p>
        </p:txBody>
      </p:sp>
      <p:pic>
        <p:nvPicPr>
          <p:cNvPr id="804" name="Picture 2133177252" descr="Picture 21331772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7790" y="475487"/>
            <a:ext cx="1801716" cy="7863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Для Академия инноваторов 16_9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0000FF"/>
      </a:hlink>
      <a:folHlink>
        <a:srgbClr val="FF00FF"/>
      </a:folHlink>
    </a:clrScheme>
    <a:fontScheme name="Для Академия инноваторов 16_9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Для Академия инноваторов 16_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hueOff val="1141463"/>
            <a:satOff val="-100000"/>
            <a:lumOff val="8039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21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21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Для Академия инноваторов 16_9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0000FF"/>
      </a:hlink>
      <a:folHlink>
        <a:srgbClr val="FF00FF"/>
      </a:folHlink>
    </a:clrScheme>
    <a:fontScheme name="Для Академия инноваторов 16_9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Для Академия инноваторов 16_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hueOff val="1141463"/>
            <a:satOff val="-100000"/>
            <a:lumOff val="8039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21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21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